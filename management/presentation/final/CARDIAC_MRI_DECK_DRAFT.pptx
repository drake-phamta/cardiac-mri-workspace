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46039661-FDF6-54D1-AF9F-36A7B4A93805}">
          <p14:sldIdLst>
            <p14:sldId id="256"/>
            <p14:sldId id="257"/>
          </p14:sldIdLst>
        </p14:section>
        <p14:section name="Sản phẩm" id="{8085826B-4D6D-54D3-A222-34266B9AC0D7}">
          <p14:sldIdLst>
            <p14:sldId id="258"/>
            <p14:sldId id="259"/>
          </p14:sldIdLst>
        </p14:section>
        <p14:section name="Dữ liệu và phương pháp" id="{42764147-7B7D-51DF-A28F-6B9CE6D5A9AE}">
          <p14:sldIdLst>
            <p14:sldId id="260"/>
            <p14:sldId id="261"/>
          </p14:sldIdLst>
        </p14:section>
        <p14:section name="Kết quả (Học máy)" id="{17BD76E8-065B-5C02-BCFB-3CC64D3FA944}">
          <p14:sldIdLst>
            <p14:sldId id="262"/>
            <p14:sldId id="263"/>
            <p14:sldId id="264"/>
            <p14:sldId id="265"/>
            <p14:sldId id="266"/>
          </p14:sldIdLst>
        </p14:section>
        <p14:section name="Góc nhìn Xử lý ảnh" id="{8FE871FA-C1F2-5435-9B0E-1299615F7173}">
          <p14:sldIdLst>
            <p14:sldId id="267"/>
            <p14:sldId id="268"/>
            <p14:sldId id="269"/>
            <p14:sldId id="270"/>
          </p14:sldIdLst>
        </p14:section>
        <p14:section name="Góc nhìn Khoa học dữ liệu" id="{1E5A3994-5F1F-5216-BE4C-FFCF51CF7365}">
          <p14:sldIdLst>
            <p14:sldId id="271"/>
            <p14:sldId id="272"/>
          </p14:sldIdLst>
        </p14:section>
        <p14:section name="Góc nhìn Phát triển di động" id="{E833A9D2-07C6-546E-B384-FCDE3E017EF9}">
          <p14:sldIdLst>
            <p14:sldId id="273"/>
            <p14:sldId id="274"/>
          </p14:sldIdLst>
        </p14:section>
        <p14:section name="Chất lượng và kế hoạch" id="{17D1F347-FE21-5402-A543-11A00426C54F}">
          <p14:sldIdLst>
            <p14:sldId id="275"/>
            <p14:sldId id="276"/>
            <p14:sldId id="277"/>
          </p14:sldIdLst>
        </p14:section>
        <p14:section name="Chuẩn bị Q&amp;A" id="{589B54B6-8727-5785-845A-FE51786ECA12}">
          <p14:sldIdLst>
            <p14:sldId id="278"/>
            <p14:sldId id="27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mở đầu. Đây là bản nháp do bộ dựng tự sinh từ artifact thí nghiệm: khi có kết quả UNet, chạy lại một lệnh (tools/report/build_all.py) thì các slide cần UNet tự điền. Giới thiệu nhóm bốn người và vai trò: Phạm Tuấn Anh (trưởng nhóm, vertical V1 Case Explorer / 2D MRI), Vũ Hùng Anh (V2 3D / sai số không gian), Bế Quốc Khánh (V3 Experiment / cohort, phụ trách huấn luyện), Nguyễn Gia Đức Trung (V4 Review / findings, backend). Mỗi người sở hữu một chức năng di động riêng và sẽ bảo vệ chức năng đó trong môn Phát triển ứng dụng di động.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bắc đẩu của dự án không phải là liệt kê tính năng. Một chỉ số Dice trung bình không cho biết mô hình sai ở đâu, sai ở lát nào, hay hai mô hình khác nhau thế nào trên cùng một giải phẫu. Sản phẩm biến luồng input → mask → metric thành một cuộc điều tra nhiều tầng: cohort → thí nghiệm → case → lát → vùng/pixel → giải phẫu 3D, và mọi số liệu đều lần ngược được về bằng chứng MRI. Bốn môn học là bốn góc nhìn lên cùng một sản phẩm (spec 16 §3, §4), không phải bốn dự án riêng.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demo dài 60 đến 90 giây, một lượt quay liên tục, trên ca demo đại diện, chọn theo quy tắc chứ không phải vì mô hình trông tốt trên ca đó. Luồng bắt đầu ở tổng quan cohort (H1), tìm ca ngoại lệ (H2), mở ca trong trình khám MRI (H3), đến lát có vấn đề (H4), so sánh dự đoán với ground truth và bản đồ lỗi (H5), mở 3D (H6), chọn vùng lỗi và nhảy về lát 2D (H7), gắn cờ hoặc sửa bằng brush (H8), lưu mask đã duyệt mà vẫn giữ nguyên dự đoán gốc (H9) và quay về so sánh mô hình / ít dữ liệu (H10). Tám màn hình SCR-01 đến SCR-08 chia cho bốn vertical. Nguồn: management/DEMO_STANDARD.md §3 và §4.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logic theo spec 09. Bên trái là ứng dụng di động Expo / React Native, chạy trên Galaxy A17 5G: 2D dùng view native với lớp phủ SVG và brush, 3D là WebGL2 chạy trong react-native-webview, và lớp app/core viết bằng JavaScript thuần chịu trách nhiệm hợp đồng, vận chuyển và bảy trạng thái màn hình. Ở giữa là backend FastAPI + SQLite chạy trên Mac mini M2, điện thoại gọi qua mạng overlay riêng ZeroTier; 28 endpoint, trong đó 23 endpoint của hero flow, phiên bản API Contract 1.1.0. Bên phải là pipeline ML (PyTorch, máy tính riêng): suy luận, hậu xử lý, chấm điểm rồi xuất gói Contract 2; kết quả đến ứng dụng chỉ qua các gói này. Thanh dưới cùng là các hợp đồng dùng chung, được CI kiểm: không ai tự viết một biến đổi hình học riêng.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Bộ dữ liệu LASC 2018 gồm 154 case MRI tim. Phép chia Path A, seed 2024, đóng băng bằng sha256: train danh nghĩa 80 case (hiệu dụng 78 sau khi loại 2 case do nghi trùng bệnh nhân với một case holdout, DR-002b), validation 20 case dùng để chọn checkpoint và cấu hình, holdout 54 case chính là tập kiểm thử của cuộc thi, chỉ dùng để chấm cuối. Các tập con 25, 50, 100 phần trăm lồng nhau: 20 ⊂ 38 ⊂ 78 case hiệu dụng. Quản trị: holdout bị khoá cho tới khi GATE-IMG-01 đóng, mỗi run được dự đoán và chấm đúng một lần; kho mã công khai chỉ chứa số tổng hợp, số theo từng case nằm ngoài git; case INT-12 là case chỉ-suy-luận trong app, ẩn nhưng không làm mù (DR-017): nó vẫn nằm trong 54 case nên thống kê cohort có thể suy ra giá trị của nó.</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ADR-ML-001, đóng băng ngày 01/10, quy định một công thức duy nhất cho sáu run huấn luyện lõi: DINOv2 và UNet, mỗi họ ở 25, 50 và 100 phần trăm dữ liệu. DINOv2: dinov2-small, decoder tiến dần, fine-tune toàn bộ. UNet: UNet2D (base 32, depth 4), train từ đầu. Dùng chung: đầu vào 560×560, mọi lát của mọi case, loss 0,5·BCE + 0,5·soft Dice, AdamW, lr 1e-4 hằng số, bf16, seed 2024, 50 epoch, batch 8, ngưỡng 0,5, checkpoint là epoch có Dice 3D validation cao nhất. Mục tiêu là công bằng khoa học: cùng dữ liệu, cùng tiền xử lý, cùng loss, optimizer, batch, epoch, seed, ngưỡng và luật chọn checkpoint, nên chênh lệch kết quả là do mô hình và lượng dữ liệu. Kết quả không như kỳ vọng vẫn là kết quả hợp lệ (PR-SCI-03); không chỉnh gì sau khi thấy kết quả. EXP-D-PP không huấn luyện thêm: nó áp hậu xử lý đã đóng băng lên dự đoán của EXP-D-100. Hàng UNet đang chờ kết quả do Khánh huấn luyện.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quả cuối trên holdout khoá, n = 54 case, mỗi run dự đoán và chấm đúng một lần. Dice 3D tính theo từng case rồi lấy trung bình; CI 95 % là bootstrap phân vị của trung bình theo case, 10 000 lần, seed 2024. DINOv2 25 %: 0,558 [0,505; 0,607], trung vị 0,604. DINOv2 50 %: 0,616 [0,567; 0,660], trung vị 0,668. DINOv2 100 %: 0,639 [0,594; 0,677], trung vị 0,679. DINOv2 100 % + PP-4: 0,659 [0,612; 0,699], trung vị 0,701. Sai lệch thể tích (RVE) tính theo số voxel vì spacing là placeholder đơn vị. Chưa có UNet nên chưa so sánh được hai họ mô hình.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Hình này là số trung bình Dice 3D và CI 95 % của từng run trên 54 case. Cao nhất là DINOv2 100 % + PP-4 với 0,659 [0,612; 0,699]. Điểm cần nói rõ: nhiều khoảng tin cậy của các run khác nhau chồng lên nhau (5 trên 6 cặp), vì mỗi CI chỉ mô tả độ bất định của một run. Khi các run được chấm trên cùng tập case, phép so sánh mạnh hơn là delta cặp theo từng case, ở slide kế tiếp.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đường scarcity của họ DINOv2: Dice theo số case huấn luyện hiệu dụng, vùng mờ là CI 95 %. Từ 20 lên 78 case Dice tăng +0,081 [+0,047; +0,118]. Có bước mà CI chạm 0, nên thí nghiệm này không thể khẳng định lợi ích của bước đó. Lưu ý quan trọng: mỗi mức là một lần huấn luyện (seed 2024) và checkpoint được chọn ở các epoch rất sớm, không ổn định (xem slide giới hạn), nên chênh lệch giữa các mức gồm cả phương sai giữa các lần chạy mà thiết kế này không tách ra được. Điểm hình thoi là bản hậu xử lý PP-4 áp lên run 100 %. Họ UNet sẽ là đường thứ hai khi có kết quả; hình tự cập nhật.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dòng là một phép so sánh cặp theo từng case (run B trừ run A) trên cùng 54 case, kèm CI 95 % bootstrap theo cặp. 3 trong 4 phép so sánh có CI không chứa 0 (chấm đặc); chấm rỗng là CI chứa 0, tức chưa khẳng định được. Hậu xử lý: +0,020 [+0,015; +0,026], 45 trên 54 case tốt hơn. 4 khoảng tin cậy này không được hiệu chỉnh đa so sánh. Ứng dụng cố ý trả comparable = false cho cặp mặt nạ thô với đã xử lý; dòng hậu xử lý là phân tích ablation ngoại tuyến (spec 08 §2). Các phép so sánh UNet với DINOv2 sẽ xuất hiện ở đây khi có kết quả UNet.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nghiên cứu RQ-A: DINOv2 so với UNet khi giảm dữ liệu. Hiện chưa trả lời được: họ UNet (EXP-U-025, EXP-U-050, EXP-U-100) chưa huấn luyện xong; Bế Quốc Khánh phụ trách, kế hoạch là xong 24/10 tối. Khi có kết quả, chạy lại bộ dựng: bảng này sẽ điền Dice của ba mức, delta cặp UNet và DINOv2 tại từng mức kèm CI, và hình scarcity thêm đường UNet. Cho đến lúc đó, đừng nói bất kỳ điều gì về việc mô hình nào tốt hơn. Nếu UNet không kịp, báo cáo ghi rõ điều đó (rủi ro đã nêu trong kế hoạch).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Chuỗi xử lý ảnh của dự án. Volume NRRD được cắt thành các lát theo trục z. Chuẩn hoá: cắt theo phân vị 0,5–99,5 của từng volume, rồi chia về [0, 1] (DR-011), tuyệt đối không dùng thống kê của cả cohort, nên không có rò rỉ. Resize: ảnh nội suy bilinear có antialias về 560×560; mặt nạ dùng nearest-exact để giữ nguyên nhãn, không sinh giá trị lạ. Mô hình xuất logits, được resize ngược về kích thước lát gốc bằng bilinear, rồi lấy ngưỡng 0,5 ra mặt nạ THÔ, và mặt nạ thô là bất biến. Hậu xử lý PP-4 tạo mặt nạ ĐÃ XỬ LÝ riêng; hai biến thể không bao giờ bị thay thế âm thầm cho nhau. Chỉ số 3D tính trên khối đã xếp từ các lát; mesh bề mặt L0 giữ ánh xạ voxel – thế giới để 2D và 3D dùng chung một hợp đồng hình học.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GATE-IMG-01 là cổng đóng băng cấu hình hình thái học bằng bằng chứng trên validation. Luật chọn và danh sách ứng viên PP-0 đến PP-5 được merge vào repo trước khi chạy (#91), nên không thể tinh chỉnh theo kết quả. Chọn trên 20 case validation của mặt nạ thô EXP-D-100; hoà trong 0,001 thì lấy mã thấp hơn. Người thắng PP-4 (mở 3D → thành phần lớn nhất) với Dice 0,5930, hơn mặt nạ thô PP-0 (0,5712) +0,0218. Cấu hình được đóng băng bằng sha256 c0a68cc7…, rồi áp nguyên cho 54 case holdout, không chỉnh tay theo case. Đây là số validation dùng để chọn, không phải kết quả; 20 case này cũng đã chọn checkpoint, nên mức +0,0218 có thể lạc quan.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Hậu xử lý PP-4 áp lên dự đoán của DINOv2 100 %. Dice 3D tăng +0,020 [+0,015; +0,026]; 45 trên 54 case tốt hơn và 9 case xấu đi nhẹ. Voxel dương tính giả trung bình giảm 25.0 phần trăm (95 990 xuống 71 956); voxel âm tính giả thay đổi +6.2 phần trăm (74 753 lên 79 416), nên đây là đánh đổi chứ không phải miễn phí. Sai lệch thể tích tương đối trung bình giảm từ +14,9 % xuống +1,4 %: mặt nạ thô vốn to hơn ground truth, hậu xử lý kéo về sát. Holdout xác nhận hướng và độ lớn đã thấy trên validation. Kết luận thận trọng: spec 07 §5 yêu cầu báo cáo cải thiện, xấu đi hay không đổi, không giả định xử lý ảnh luôn giúp; ở đây nó giúp, với bằng chứng trên cả hai tập.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Spike B kiểm bề mặt 3D theo hai bài: chọn một điểm trên mặt 3D thì nhảy đúng lát nguồn (sai lệch tối đa một lát), và độ mượt khi xoay trên thiết bị. Chỉ mức L0, bề mặt voxel không decimate, giữ mọi lần chọn trong ±1 lát, không trượt và không điều hướng sai. Bốn mức giảm tam giác L1 đến L4 đều trượt, sai tới 29–40 lát. Trên Galaxy A17 5G, L0 chạy trung vị 59,88 FPS với khung dừng dài nhất 17 ms và 0 khung quá 500 ms; FPS bị trần 60 Hz nên không phân biệt được các mức về chi phí render. Quyết định DR-008c là L0. Giới hạn cần nói: một thiết bị, một phiên, một case huấn luyện, một người thao tác; mô-đun 3D vẫn ở mức có điều kiện cho tới khi Spike B được chấp nhận chính thức.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con số trung bình che đi hình dạng phân phối. Trên 54 case: DINOv2 25 %: trung bình 0,558, trung vị 0,604, Q1–Q3 0,523–0,688, SD 0,194. DINOv2 50 %: trung bình 0,616, trung vị 0,668, Q1–Q3 0,581–0,726, SD 0,174. DINOv2 100 %: trung bình 0,639, trung vị 0,679, Q1–Q3 0,579–0,740, SD 0,154. DINOv2 100 % + PP-4: trung bình 0,659, trung vị 0,701, Q1–Q3 0,581–0,766, SD 0,164. Trung vị cao hơn trung bình ở mọi run: phân phối lệch trái, có đuôi các ca rất thấp. Ngoại lệ được định nghĩa bằng luật DR-010 cố định: ba case đánh giá thành công có Dice 3D thấp nhất; hoà thì FP+FN giảm dần, rồi mã case; ứng dụng mở thẳng các ca này (bước H2) để xem bằng chứng, còn giá trị theo từng case không được công bố trong bộ slide. Tập độ nhạy bỏ một case nghi trùng bệnh nhân (DR-002b), n = 53: Dice trung bình đổi tối đa 0.0036, kết luận không đổi.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Profile Dice 2D theo vị trí lát chuẩn hoá: mỗi case được chia thành 20 bin theo vị trí, lấy trung bình các lát trong bin, rồi trung bình trên case. Giữa stack, run DINOv2 100 % đạt Dice lát khoảng 0,74; ở hai đầu stack ground truth thường vắng nên mọi dự đoán thừa tính Dice bằng 0, và đó là phần lớn lý do Dice trung bình theo lát thấp hơn Dice 3D. Theo quy tắc spec 07 §6 lát mà cả hai mặt nạ rỗng bị loại khỏi trung bình, không tính là 1. Hậu xử lý PP-4 xoá bớt dự đoán thừa ở các đầu: Dice trung bình theo lát từ 0,426 lên 0,482. Đây là một mẫu hình mà con số trung bình không cho thấy, và là lý do ứng dụng có màn hình Error Inspector để nhảy tới lát tệ nhất.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Yêu cầu hiệu năng NFR-PERF-001 có hai nhánh: chuyển lát đã cache có p95 không quá 200 ms, và không tải cả khối ảnh cho mỗi cử chỉ. Nhánh một đo trong Spike A: p95 chuyển lát đã cache 98,72 ms trên kích thước thật 576×576×88. Nhánh hai không đo được trong Spike A, nên được đo trên app sản phẩm tối 01/10 trên Galaxy A17 5G với backend thật (L4 PASS): 15 lát mới, trung vị 153,5 KB mỗi lần chuyển, lớn nhất 155,1 KB, tức 1,1 % một khối; 15 lần quay lại lát đã xem tải 0 byte; log của server khớp. Số đo lấy từ tệp thô đã commit, thống kê như NFR định nghĩa, không loại outlier. Giới hạn: phép đo L4 chỉ gồm MRI và ground truth của một case, chưa có dự đoán; TC-PERF-001 chính thức trên app sản phẩm chưa chạy. Bộ nhớ đệm hiện thực ở mobile/src/runtime/sliceCache.mjs: lưu theo từng lát, LRU tối đa 600 mục, khoá bằng URL băm nội dung nên RAW và PROCESSED không dùng chung mục, không lưu lỗi. Bitmap đã giải mã nằm ngoài heap Java 256 MB, nên một cửa sổ cache ở mức component không chặn được bộ nhớ ảnh: mức này sẽ được đo trên A17 trong TC-PERF-001.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Sáu điểm kỹ thuật chính của phần di động. Một: mọi ảnh, mặt nạ và mesh có sha256 và app kiểm tra. Hai: bảy trạng thái màn hình trong app/core (tải, trống, đang xử lý, lỗi có thể thử lại, dữ liệu không hợp lệ...) dùng chung cho mọi vertical, không có màn hình tự bịa tiến độ. Ba: 3D chạy WebGL2 trong react-native-webview, trung vị 59,88 FPS, 0 khung quá 500 ms trên A17 ở mức L0. Bốn: review bất biến: mỗi lần commit tạo một phiên bản mới của mặt nạ đã duyệt, trigger SQLite từ chối UPDATE và DELETE, dự đoán gốc không bao giờ bị ghi. Năm: CI chạy 11 job độc lập, gồm checksum 19/19 của spec, quét byte cấm và địa chỉ IPv4, test app/core, kiểm tra app/core không phụ thuộc framework, test mobile và render smoke kèm bundle. Sáu: hero flow H1–H10 chạy mức API trên dữ liệu thật: 22 PASS, 0 FAIL, 1 SKIP (bước UNet); đây là bằng chứng mức API, chưa thay video trên thiết bị. Số test lúc kiểm ngày 18/10: mobile 220, backend 252, brush 22/22.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cơ chế giữ cho kết quả đáng tin. Một: luật khai báo trước. Luật chọn hậu xử lý được merge (#91) trước khi có ứng viên nào được đánh giá; holdout chỉ mở bằng một bản ghi cho phép mang sha256 và mỗi run chấm đúng một lần; 5/5 cổng đã đóng. Hai: duyệt và QA độc lập. Quy trình thường (CP-07, hiệu lực từ 19/10): mỗi PR cần một duyệt hợp lệ đúng SHA đầu của người được chỉ định cộng với CI xanh. Trong các ngày override (01/10 và 18/10) duyệt người được thay bằng một phiên QA bằng LLM độc lập cộng CI xanh; cần nói rõ đó là QA bằng LLM, không phải reviewer người, và biên bản được lưu trong management/day39/qa. Ba: spec đóng băng. 19 spec v1.0 được CI kiểm checksum (19/19) và không PR nào được sửa docs/specs/v1.0; mọi thay đổi đi qua Decision Request. Về trạng thái trung thực: tính đến ngày lập tài liệu truy vết, 0 trên 33 yêu cầu MUST ở mức ACCEPTED chính thức, vì còn thiếu bằng chứng thiết bị; chúng tôi không tuyên bố hơn bằng chứng đang có.</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giới hạn cần nói trước khi bị hỏi. Không có augmentation và learning rate hằng số: Dice validation tụt mạnh rồi hồi phục ở cả ba run huấn luyện (hình bên phải), tổng cộng 21 lần tụt từ 0,10 trở lên, nên checkpoint được chọn ở các epoch sớm và không ổn định. Mỗi mức dữ liệu chỉ một seed. Huấn luyện 2D theo lát; spacing là placeholder đơn vị nên sai lệch thể tích tính theo voxel, chưa có mm hay mL. UNet chưa có nên RQ-A chưa trả lời được. Dice tuyệt đối khiêm tốn, khoảng 0,56 đến 0,66; kết quả khiêm tốn hay null vẫn là kết quả hợp lệ theo PR-SCI-03. Bằng chứng thiết bị mới có L4 và S-1 (01/10); chưa có TC chính thức nào trên Galaxy A17 cho màn hình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 hoạch lại tới nghiệm thu 31/10/2026. Bốn chặng: C1 (19–20/10) nhận lại và khởi động, chạy hàng đợi UNet, đưa backend thật lên Mac mini; C2 (21–24/10) hoàn thiện vertical và UNet, đánh giá holdout UNet để RQ-A trả lời được; C3 (25–27/10) hội tụ: TC-E2E-001 trên A17 quay một lượt hero flow, rà 33 MUST, 0 lỗi P0 P1; C4 (28–30/10) báo cáo, slide theo từng môn, bảng bằng chứng, hai lần tổng duyệt có bấm giờ. Đường găng: UNet trên RTX 4050 (Khánh) → đánh giá holdout UNet → H10 đủ → TC-E2E-001 → báo cáo. Slide này, cùng các slide cần UNet, sẽ tự cập nhật khi chạy lại bộ dựng sau khi có kết quả UNet.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câu hỏi giảng viên có thể hỏi và đáp án ngắn có số liệu. Học máy: so sánh mô hình (hiện chưa có UNet), vì sao Dice khiêm tốn, và ý nghĩa của chênh lệch giữa các mức dữ liệu. Xử lý ảnh: hậu xử lý có bị tune trên test không (không, chọn trước trên validation), chuẩn hoá và resize, và lý do chọn mesh L0. Luôn quay lại nguyên tắc: không bịa số, nêu giới hạn trước.</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Khoa học dữ liệu: trung bình có che ngoại lệ không (nên báo trung vị, tứ phân vị, SD và luật ngoại lệ DR-010), độ nhạy với case nghi trùng, và cách tính CI. Di động: lý do chọn React Native cùng WebView theo bằng chứng spike, số đo hiệu năng chuyển lát, độ chính xác brush sau zoom (đo trên fixture nhỏ, đây là giới hạn L5) và quyền riêng tư. Mỗi thành viên cần giải thích được chức năng mình sở hữu: yêu cầu, thiết kế UI, kiến trúc và API, commit và PR, test, demo tích hợp, riêng tư, giới hạn (spec 16 §6).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377" y="2130425"/>
            <a:ext cx="1036294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754" y="3886200"/>
            <a:ext cx="8534186"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Content Placeholder 2"/>
          <p:cNvSpPr>
            <a:spLocks noGrp="1"/>
          </p:cNvSpPr>
          <p:nvPr>
            <p:ph idx="1"/>
          </p:nvPr>
        </p:nvSpPr>
        <p:spPr>
          <a:xfrm>
            <a:off x="812758" y="0"/>
            <a:ext cx="14629667" cy="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59" y="4406900"/>
            <a:ext cx="1036294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59" y="2906713"/>
            <a:ext cx="1036294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584"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445"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3854" y="0"/>
            <a:ext cx="5147475" cy="0"/>
          </a:xfrm>
        </p:spPr>
        <p:txBody>
          <a:bodyPr/>
          <a:lstStyle/>
          <a:p>
            <a:endParaRPr lang="en-US"/>
          </a:p>
        </p:txBody>
      </p:sp>
      <p:sp>
        <p:nvSpPr>
          <p:cNvPr id="7" name="Slide Number Placeholder 6"/>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584" y="1535113"/>
            <a:ext cx="538678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84" y="2174875"/>
            <a:ext cx="538678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211" y="1535113"/>
            <a:ext cx="538889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211" y="2174875"/>
            <a:ext cx="538889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a:xfrm>
            <a:off x="5553854" y="0"/>
            <a:ext cx="5147475" cy="0"/>
          </a:xfrm>
        </p:spPr>
        <p:txBody>
          <a:bodyPr/>
          <a:lstStyle/>
          <a:p>
            <a:endParaRPr lang="en-US"/>
          </a:p>
        </p:txBody>
      </p:sp>
      <p:sp>
        <p:nvSpPr>
          <p:cNvPr id="9" name="Slide Number Placeholder 8"/>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a:xfrm>
            <a:off x="5553854" y="0"/>
            <a:ext cx="5147475" cy="0"/>
          </a:xfrm>
        </p:spPr>
        <p:txBody>
          <a:bodyPr/>
          <a:lstStyle/>
          <a:p>
            <a:endParaRPr lang="en-US"/>
          </a:p>
        </p:txBody>
      </p:sp>
      <p:sp>
        <p:nvSpPr>
          <p:cNvPr id="5" name="Slide Number Placeholder 4"/>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a:xfrm>
            <a:off x="5553854" y="0"/>
            <a:ext cx="5147475" cy="0"/>
          </a:xfrm>
        </p:spPr>
        <p:txBody>
          <a:bodyPr/>
          <a:lstStyle/>
          <a:p>
            <a:endParaRPr lang="en-US"/>
          </a:p>
        </p:txBody>
      </p:sp>
      <p:sp>
        <p:nvSpPr>
          <p:cNvPr id="4" name="Slide Number Placeholder 3"/>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84" y="273050"/>
            <a:ext cx="401098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614" y="273050"/>
            <a:ext cx="681549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584" y="1435100"/>
            <a:ext cx="401098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3854" y="0"/>
            <a:ext cx="5147475" cy="0"/>
          </a:xfrm>
        </p:spPr>
        <p:txBody>
          <a:bodyPr/>
          <a:lstStyle/>
          <a:p>
            <a:endParaRPr lang="en-US"/>
          </a:p>
        </p:txBody>
      </p:sp>
      <p:sp>
        <p:nvSpPr>
          <p:cNvPr id="7" name="Slide Number Placeholder 6"/>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657" y="4800600"/>
            <a:ext cx="7315017"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657" y="612775"/>
            <a:ext cx="7315017"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657" y="5367338"/>
            <a:ext cx="7315017"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3854" y="0"/>
            <a:ext cx="5147475" cy="0"/>
          </a:xfrm>
        </p:spPr>
        <p:txBody>
          <a:bodyPr/>
          <a:lstStyle/>
          <a:p>
            <a:endParaRPr lang="en-US"/>
          </a:p>
        </p:txBody>
      </p:sp>
      <p:sp>
        <p:nvSpPr>
          <p:cNvPr id="7" name="Slide Number Placeholder 6"/>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812758" y="0"/>
            <a:ext cx="14629667" cy="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979" y="274638"/>
            <a:ext cx="2743131"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584" y="274638"/>
            <a:ext cx="8026199"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84" y="274638"/>
            <a:ext cx="10972525"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584" y="1600200"/>
            <a:ext cx="10972525"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584" y="6356350"/>
            <a:ext cx="284472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495" y="6356350"/>
            <a:ext cx="386070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381" y="6356350"/>
            <a:ext cx="284472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366B"/>
        </a:solidFill>
        <a:effectLst/>
      </p:bgPr>
    </p:bg>
    <p:spTree>
      <p:nvGrpSpPr>
        <p:cNvPr id="1" name=""/>
        <p:cNvGrpSpPr/>
        <p:nvPr/>
      </p:nvGrpSpPr>
      <p:grpSpPr/>
      <p:sp>
        <p:nvSpPr>
          <p:cNvPr id="2" name="title"/>
          <p:cNvSpPr>
            <a:spLocks noGrp="1"/>
          </p:cNvSpPr>
          <p:nvPr>
            <p:ph type="ctrTitle"/>
          </p:nvPr>
        </p:nvSpPr>
        <p:spPr>
          <a:xfrm>
            <a:off x="548640" y="1188720"/>
            <a:ext cx="11094415" cy="914400"/>
          </a:xfrm>
        </p:spPr>
        <p:txBody>
          <a:bodyPr wrap="square" lIns="0" rIns="0" tIns="0" bIns="0" anchor="t">
            <a:noAutofit/>
          </a:bodyPr>
          <a:lstStyle/>
          <a:p>
            <a:pPr algn="l">
              <a:spcBef>
                <a:spcPts val="0"/>
              </a:spcBef>
              <a:spcAft>
                <a:spcPts val="0"/>
              </a:spcAft>
            </a:pPr>
            <a:r>
              <a:rPr sz="4800" b="1" i="0">
                <a:solidFill>
                  <a:srgbClr val="FFFFFF"/>
                </a:solidFill>
                <a:latin typeface="Calibri"/>
              </a:rPr>
              <a:t>Cardiac MRI Workspace</a:t>
            </a:r>
          </a:p>
        </p:txBody>
      </p:sp>
      <p:sp>
        <p:nvSpPr>
          <p:cNvPr id="3" name="subtitle"/>
          <p:cNvSpPr>
            <a:spLocks noGrp="1"/>
          </p:cNvSpPr>
          <p:nvPr>
            <p:ph type="subTitle" idx="1"/>
          </p:nvPr>
        </p:nvSpPr>
        <p:spPr>
          <a:xfrm>
            <a:off x="548640" y="2194560"/>
            <a:ext cx="11094415" cy="1097280"/>
          </a:xfrm>
        </p:spPr>
        <p:txBody>
          <a:bodyPr wrap="square" lIns="0" rIns="0" tIns="0" bIns="0">
            <a:noAutofit/>
          </a:bodyPr>
          <a:lstStyle/>
          <a:p>
            <a:pPr algn="l">
              <a:spcBef>
                <a:spcPts val="0"/>
              </a:spcBef>
              <a:spcAft>
                <a:spcPts val="800"/>
              </a:spcAft>
            </a:pPr>
            <a:r>
              <a:rPr sz="2200" b="0" i="0">
                <a:solidFill>
                  <a:srgbClr val="E8F0FB"/>
                </a:solidFill>
                <a:latin typeface="Calibri"/>
              </a:rPr>
              <a:t>Ứng dụng di động kiểm tra vì sao AI phân đoạn sai trên MRI tim (tâm nhĩ trái)</a:t>
            </a:r>
          </a:p>
          <a:p>
            <a:pPr algn="l">
              <a:spcBef>
                <a:spcPts val="0"/>
              </a:spcBef>
              <a:spcAft>
                <a:spcPts val="800"/>
              </a:spcAft>
            </a:pPr>
            <a:r>
              <a:rPr sz="1600" b="0" i="0">
                <a:solidFill>
                  <a:srgbClr val="9EC5F4"/>
                </a:solidFill>
                <a:latin typeface="Calibri"/>
              </a:rPr>
              <a:t>Nghiệm thu và bảo vệ 31/10/2026 · Học máy · Xử lý ảnh · Khoa học dữ liệu · Phát triển ứng dụng di động</a:t>
            </a:r>
          </a:p>
        </p:txBody>
      </p:sp>
      <p:sp>
        <p:nvSpPr>
          <p:cNvPr id="4" name="kicker"/>
          <p:cNvSpPr txBox="1"/>
          <p:nvPr/>
        </p:nvSpPr>
        <p:spPr>
          <a:xfrm>
            <a:off x="548640" y="640080"/>
            <a:ext cx="8229600" cy="274320"/>
          </a:xfrm>
          <a:prstGeom prst="rect">
            <a:avLst/>
          </a:prstGeom>
          <a:noFill/>
        </p:spPr>
        <p:txBody>
          <a:bodyPr wrap="square" lIns="0" rIns="0" tIns="0" bIns="0" anchor="t">
            <a:noAutofit/>
          </a:bodyPr>
          <a:lstStyle/>
          <a:p>
            <a:pPr algn="l">
              <a:spcBef>
                <a:spcPts val="0"/>
              </a:spcBef>
              <a:spcAft>
                <a:spcPts val="600"/>
              </a:spcAft>
            </a:pPr>
            <a:r>
              <a:rPr sz="1300" b="1" i="0">
                <a:solidFill>
                  <a:srgbClr val="9EC5F4"/>
                </a:solidFill>
                <a:latin typeface="Calibri"/>
              </a:rPr>
              <a:t>BẢN NHÁP · SINH TỰ ĐỘNG TỪ ARTIFACT THÍ NGHIỆM</a:t>
            </a:r>
          </a:p>
        </p:txBody>
      </p:sp>
      <p:sp>
        <p:nvSpPr>
          <p:cNvPr id="5" name="card:team"/>
          <p:cNvSpPr/>
          <p:nvPr/>
        </p:nvSpPr>
        <p:spPr>
          <a:xfrm>
            <a:off x="548640" y="4160520"/>
            <a:ext cx="2636443" cy="1554480"/>
          </a:xfrm>
          <a:prstGeom prst="roundRect">
            <a:avLst>
              <a:gd name="adj" fmla="val 6000"/>
            </a:avLst>
          </a:prstGeom>
          <a:solidFill>
            <a:srgbClr val="184F95"/>
          </a:solidFill>
          <a:ln>
            <a:noFill/>
          </a:ln>
        </p:spPr>
        <p:txBody>
          <a:bodyPr rtlCol="0" anchor="t" wrap="square" lIns="164592" rIns="164592" tIns="131673" bIns="131673">
            <a:noAutofit/>
          </a:bodyPr>
          <a:lstStyle/>
          <a:p>
            <a:pPr algn="l">
              <a:spcBef>
                <a:spcPts val="0"/>
              </a:spcBef>
              <a:spcAft>
                <a:spcPts val="300"/>
              </a:spcAft>
            </a:pPr>
            <a:r>
              <a:rPr sz="1800" b="1" i="0">
                <a:solidFill>
                  <a:srgbClr val="FFFFFF"/>
                </a:solidFill>
                <a:latin typeface="Calibri"/>
              </a:rPr>
              <a:t>Phạm Tuấn Anh</a:t>
            </a:r>
          </a:p>
          <a:p>
            <a:pPr algn="l">
              <a:spcBef>
                <a:spcPts val="0"/>
              </a:spcBef>
              <a:spcAft>
                <a:spcPts val="600"/>
              </a:spcAft>
            </a:pPr>
            <a:r>
              <a:rPr sz="1400" b="0" i="0">
                <a:solidFill>
                  <a:srgbClr val="E8F0FB"/>
                </a:solidFill>
                <a:latin typeface="Calibri"/>
              </a:rPr>
              <a:t>Trưởng nhóm · Project Control</a:t>
            </a:r>
          </a:p>
          <a:p>
            <a:pPr algn="l">
              <a:spcBef>
                <a:spcPts val="0"/>
              </a:spcBef>
              <a:spcAft>
                <a:spcPts val="200"/>
              </a:spcAft>
            </a:pPr>
            <a:r>
              <a:rPr sz="1300" b="1" i="0">
                <a:solidFill>
                  <a:srgbClr val="9EC5F4"/>
                </a:solidFill>
                <a:latin typeface="Calibri"/>
              </a:rPr>
              <a:t>V1 Case Explorer / 2D MRI</a:t>
            </a:r>
          </a:p>
          <a:p>
            <a:pPr algn="l">
              <a:spcBef>
                <a:spcPts val="0"/>
              </a:spcBef>
              <a:spcAft>
                <a:spcPts val="0"/>
              </a:spcAft>
            </a:pPr>
            <a:r>
              <a:rPr sz="1300" b="0" i="0">
                <a:solidFill>
                  <a:srgbClr val="E8F0FB"/>
                </a:solidFill>
                <a:latin typeface="Calibri"/>
              </a:rPr>
              <a:t>SCR-02 · 03 · 04</a:t>
            </a:r>
          </a:p>
        </p:txBody>
      </p:sp>
      <p:sp>
        <p:nvSpPr>
          <p:cNvPr id="6" name="card:team"/>
          <p:cNvSpPr/>
          <p:nvPr/>
        </p:nvSpPr>
        <p:spPr>
          <a:xfrm>
            <a:off x="3367963" y="4160520"/>
            <a:ext cx="2636443" cy="1554480"/>
          </a:xfrm>
          <a:prstGeom prst="roundRect">
            <a:avLst>
              <a:gd name="adj" fmla="val 6000"/>
            </a:avLst>
          </a:prstGeom>
          <a:solidFill>
            <a:srgbClr val="184F95"/>
          </a:solidFill>
          <a:ln>
            <a:noFill/>
          </a:ln>
        </p:spPr>
        <p:txBody>
          <a:bodyPr rtlCol="0" anchor="t" wrap="square" lIns="164592" rIns="164592" tIns="131673" bIns="131673">
            <a:noAutofit/>
          </a:bodyPr>
          <a:lstStyle/>
          <a:p>
            <a:pPr algn="l">
              <a:spcBef>
                <a:spcPts val="0"/>
              </a:spcBef>
              <a:spcAft>
                <a:spcPts val="300"/>
              </a:spcAft>
            </a:pPr>
            <a:r>
              <a:rPr sz="1800" b="1" i="0">
                <a:solidFill>
                  <a:srgbClr val="FFFFFF"/>
                </a:solidFill>
                <a:latin typeface="Calibri"/>
              </a:rPr>
              <a:t>Vũ Hùng Anh</a:t>
            </a:r>
          </a:p>
          <a:p>
            <a:pPr algn="l">
              <a:spcBef>
                <a:spcPts val="0"/>
              </a:spcBef>
              <a:spcAft>
                <a:spcPts val="600"/>
              </a:spcAft>
            </a:pPr>
            <a:r>
              <a:rPr sz="1400" b="0" i="0">
                <a:solidFill>
                  <a:srgbClr val="E8F0FB"/>
                </a:solidFill>
                <a:latin typeface="Calibri"/>
              </a:rPr>
              <a:t>Imaging / Geometry</a:t>
            </a:r>
          </a:p>
          <a:p>
            <a:pPr algn="l">
              <a:spcBef>
                <a:spcPts val="0"/>
              </a:spcBef>
              <a:spcAft>
                <a:spcPts val="200"/>
              </a:spcAft>
            </a:pPr>
            <a:r>
              <a:rPr sz="1300" b="1" i="0">
                <a:solidFill>
                  <a:srgbClr val="9EC5F4"/>
                </a:solidFill>
                <a:latin typeface="Calibri"/>
              </a:rPr>
              <a:t>V2 3D / spatial error</a:t>
            </a:r>
          </a:p>
          <a:p>
            <a:pPr algn="l">
              <a:spcBef>
                <a:spcPts val="0"/>
              </a:spcBef>
              <a:spcAft>
                <a:spcPts val="0"/>
              </a:spcAft>
            </a:pPr>
            <a:r>
              <a:rPr sz="1300" b="0" i="0">
                <a:solidFill>
                  <a:srgbClr val="E8F0FB"/>
                </a:solidFill>
                <a:latin typeface="Calibri"/>
              </a:rPr>
              <a:t>SCR-05</a:t>
            </a:r>
          </a:p>
        </p:txBody>
      </p:sp>
      <p:sp>
        <p:nvSpPr>
          <p:cNvPr id="7" name="card:team"/>
          <p:cNvSpPr/>
          <p:nvPr/>
        </p:nvSpPr>
        <p:spPr>
          <a:xfrm>
            <a:off x="6187287" y="4160520"/>
            <a:ext cx="2636443" cy="1554480"/>
          </a:xfrm>
          <a:prstGeom prst="roundRect">
            <a:avLst>
              <a:gd name="adj" fmla="val 6000"/>
            </a:avLst>
          </a:prstGeom>
          <a:solidFill>
            <a:srgbClr val="184F95"/>
          </a:solidFill>
          <a:ln>
            <a:noFill/>
          </a:ln>
        </p:spPr>
        <p:txBody>
          <a:bodyPr rtlCol="0" anchor="t" wrap="square" lIns="164592" rIns="164592" tIns="131673" bIns="131673">
            <a:noAutofit/>
          </a:bodyPr>
          <a:lstStyle/>
          <a:p>
            <a:pPr algn="l">
              <a:spcBef>
                <a:spcPts val="0"/>
              </a:spcBef>
              <a:spcAft>
                <a:spcPts val="300"/>
              </a:spcAft>
            </a:pPr>
            <a:r>
              <a:rPr sz="1800" b="1" i="0">
                <a:solidFill>
                  <a:srgbClr val="FFFFFF"/>
                </a:solidFill>
                <a:latin typeface="Calibri"/>
              </a:rPr>
              <a:t>Bế Quốc Khánh</a:t>
            </a:r>
          </a:p>
          <a:p>
            <a:pPr algn="l">
              <a:spcBef>
                <a:spcPts val="0"/>
              </a:spcBef>
              <a:spcAft>
                <a:spcPts val="600"/>
              </a:spcAft>
            </a:pPr>
            <a:r>
              <a:rPr sz="1400" b="0" i="0">
                <a:solidFill>
                  <a:srgbClr val="E8F0FB"/>
                </a:solidFill>
                <a:latin typeface="Calibri"/>
              </a:rPr>
              <a:t>ML training / evaluation</a:t>
            </a:r>
          </a:p>
          <a:p>
            <a:pPr algn="l">
              <a:spcBef>
                <a:spcPts val="0"/>
              </a:spcBef>
              <a:spcAft>
                <a:spcPts val="200"/>
              </a:spcAft>
            </a:pPr>
            <a:r>
              <a:rPr sz="1300" b="1" i="0">
                <a:solidFill>
                  <a:srgbClr val="9EC5F4"/>
                </a:solidFill>
                <a:latin typeface="Calibri"/>
              </a:rPr>
              <a:t>V3 Experiment / cohort</a:t>
            </a:r>
          </a:p>
          <a:p>
            <a:pPr algn="l">
              <a:spcBef>
                <a:spcPts val="0"/>
              </a:spcBef>
              <a:spcAft>
                <a:spcPts val="0"/>
              </a:spcAft>
            </a:pPr>
            <a:r>
              <a:rPr sz="1300" b="0" i="0">
                <a:solidFill>
                  <a:srgbClr val="E8F0FB"/>
                </a:solidFill>
                <a:latin typeface="Calibri"/>
              </a:rPr>
              <a:t>SCR-01 · 07</a:t>
            </a:r>
          </a:p>
        </p:txBody>
      </p:sp>
      <p:sp>
        <p:nvSpPr>
          <p:cNvPr id="8" name="card:team"/>
          <p:cNvSpPr/>
          <p:nvPr/>
        </p:nvSpPr>
        <p:spPr>
          <a:xfrm>
            <a:off x="9006611" y="4160520"/>
            <a:ext cx="2636443" cy="1554480"/>
          </a:xfrm>
          <a:prstGeom prst="roundRect">
            <a:avLst>
              <a:gd name="adj" fmla="val 6000"/>
            </a:avLst>
          </a:prstGeom>
          <a:solidFill>
            <a:srgbClr val="184F95"/>
          </a:solidFill>
          <a:ln>
            <a:noFill/>
          </a:ln>
        </p:spPr>
        <p:txBody>
          <a:bodyPr rtlCol="0" anchor="t" wrap="square" lIns="164592" rIns="164592" tIns="131673" bIns="131673">
            <a:noAutofit/>
          </a:bodyPr>
          <a:lstStyle/>
          <a:p>
            <a:pPr algn="l">
              <a:spcBef>
                <a:spcPts val="0"/>
              </a:spcBef>
              <a:spcAft>
                <a:spcPts val="300"/>
              </a:spcAft>
            </a:pPr>
            <a:r>
              <a:rPr sz="1800" b="1" i="0">
                <a:solidFill>
                  <a:srgbClr val="FFFFFF"/>
                </a:solidFill>
                <a:latin typeface="Calibri"/>
              </a:rPr>
              <a:t>Nguyễn Gia Đức Trung</a:t>
            </a:r>
          </a:p>
          <a:p>
            <a:pPr algn="l">
              <a:spcBef>
                <a:spcPts val="0"/>
              </a:spcBef>
              <a:spcAft>
                <a:spcPts val="600"/>
              </a:spcAft>
            </a:pPr>
            <a:r>
              <a:rPr sz="1400" b="0" i="0">
                <a:solidFill>
                  <a:srgbClr val="E8F0FB"/>
                </a:solidFill>
                <a:latin typeface="Calibri"/>
              </a:rPr>
              <a:t>Backend / persistence</a:t>
            </a:r>
          </a:p>
          <a:p>
            <a:pPr algn="l">
              <a:spcBef>
                <a:spcPts val="0"/>
              </a:spcBef>
              <a:spcAft>
                <a:spcPts val="200"/>
              </a:spcAft>
            </a:pPr>
            <a:r>
              <a:rPr sz="1300" b="1" i="0">
                <a:solidFill>
                  <a:srgbClr val="9EC5F4"/>
                </a:solidFill>
                <a:latin typeface="Calibri"/>
              </a:rPr>
              <a:t>V4 Review / findings</a:t>
            </a:r>
          </a:p>
          <a:p>
            <a:pPr algn="l">
              <a:spcBef>
                <a:spcPts val="0"/>
              </a:spcBef>
              <a:spcAft>
                <a:spcPts val="0"/>
              </a:spcAft>
            </a:pPr>
            <a:r>
              <a:rPr sz="1300" b="0" i="0">
                <a:solidFill>
                  <a:srgbClr val="E8F0FB"/>
                </a:solidFill>
                <a:latin typeface="Calibri"/>
              </a:rPr>
              <a:t>SCR-06 · 08</a:t>
            </a:r>
          </a:p>
        </p:txBody>
      </p:sp>
      <p:sp>
        <p:nvSpPr>
          <p:cNvPr id="9" name="label"/>
          <p:cNvSpPr txBox="1"/>
          <p:nvPr/>
        </p:nvSpPr>
        <p:spPr>
          <a:xfrm>
            <a:off x="548640" y="3703320"/>
            <a:ext cx="11094415" cy="320040"/>
          </a:xfrm>
          <a:prstGeom prst="rect">
            <a:avLst/>
          </a:prstGeom>
          <a:noFill/>
        </p:spPr>
        <p:txBody>
          <a:bodyPr wrap="square" lIns="0" rIns="0" tIns="0" bIns="0" anchor="t">
            <a:noAutofit/>
          </a:bodyPr>
          <a:lstStyle/>
          <a:p>
            <a:pPr algn="l">
              <a:spcBef>
                <a:spcPts val="0"/>
              </a:spcBef>
              <a:spcAft>
                <a:spcPts val="600"/>
              </a:spcAft>
            </a:pPr>
            <a:r>
              <a:rPr sz="1200" b="1" i="0">
                <a:solidFill>
                  <a:srgbClr val="9EC5F4"/>
                </a:solidFill>
                <a:latin typeface="Calibri"/>
              </a:rPr>
              <a:t>NHÓM VÀ VERTICAL PHỤ TRÁCH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Một câu hỏi dẫn dắt cả dự án</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MỞ ĐẦU</a:t>
            </a:r>
          </a:p>
        </p:txBody>
      </p:sp>
      <p:sp>
        <p:nvSpPr>
          <p:cNvPr id="4" name="card:question"/>
          <p:cNvSpPr/>
          <p:nvPr/>
        </p:nvSpPr>
        <p:spPr>
          <a:xfrm>
            <a:off x="548640" y="1645920"/>
            <a:ext cx="11094415" cy="1143000"/>
          </a:xfrm>
          <a:prstGeom prst="roundRect">
            <a:avLst>
              <a:gd name="adj" fmla="val 5000"/>
            </a:avLst>
          </a:prstGeom>
          <a:solidFill>
            <a:srgbClr val="184F95"/>
          </a:solidFill>
          <a:ln>
            <a:noFill/>
          </a:ln>
        </p:spPr>
        <p:txBody>
          <a:bodyPr rtlCol="0" anchor="ctr" wrap="square" lIns="320040" rIns="320040" tIns="256031" bIns="256031">
            <a:noAutofit/>
          </a:bodyPr>
          <a:lstStyle/>
          <a:p>
            <a:pPr algn="ctr">
              <a:spcBef>
                <a:spcPts val="0"/>
              </a:spcBef>
              <a:spcAft>
                <a:spcPts val="600"/>
              </a:spcAft>
            </a:pPr>
            <a:r>
              <a:rPr sz="3000" b="1" i="0">
                <a:solidFill>
                  <a:srgbClr val="FFFFFF"/>
                </a:solidFill>
                <a:latin typeface="Calibri"/>
              </a:rPr>
              <a:t>“Vì sao AI sai trên ca MRI này, và nhà nghiên cứu làm được gì?”</a:t>
            </a:r>
          </a:p>
        </p:txBody>
      </p:sp>
      <p:sp>
        <p:nvSpPr>
          <p:cNvPr id="5" name="card"/>
          <p:cNvSpPr/>
          <p:nvPr/>
        </p:nvSpPr>
        <p:spPr>
          <a:xfrm>
            <a:off x="548640" y="3017520"/>
            <a:ext cx="2636443" cy="2286000"/>
          </a:xfrm>
          <a:prstGeom prst="roundRect">
            <a:avLst>
              <a:gd name="adj" fmla="val 6000"/>
            </a:avLst>
          </a:prstGeom>
          <a:solidFill>
            <a:srgbClr val="FFFFFF"/>
          </a:solidFill>
          <a:ln w="12700">
            <a:solidFill>
              <a:srgbClr val="D9DEE6"/>
            </a:solidFill>
          </a:ln>
        </p:spPr>
        <p:txBody>
          <a:bodyPr rtlCol="0" anchor="t" wrap="square" lIns="182880" rIns="182880" tIns="146304" bIns="146304">
            <a:noAutofit/>
          </a:bodyPr>
          <a:lstStyle/>
          <a:p>
            <a:pPr algn="l">
              <a:spcBef>
                <a:spcPts val="0"/>
              </a:spcBef>
              <a:spcAft>
                <a:spcPts val="800"/>
              </a:spcAft>
            </a:pPr>
            <a:r>
              <a:rPr sz="2100" b="1" i="0">
                <a:solidFill>
                  <a:srgbClr val="184F95"/>
                </a:solidFill>
                <a:latin typeface="Calibri"/>
              </a:rPr>
              <a:t>Học máy</a:t>
            </a:r>
          </a:p>
          <a:p>
            <a:pPr algn="l">
              <a:spcBef>
                <a:spcPts val="0"/>
              </a:spcBef>
              <a:spcAft>
                <a:spcPts val="600"/>
              </a:spcAft>
            </a:pPr>
            <a:r>
              <a:rPr sz="1650" b="0" i="0">
                <a:solidFill>
                  <a:srgbClr val="1B2430"/>
                </a:solidFill>
                <a:latin typeface="Calibri"/>
              </a:rPr>
              <a:t>DINOv2 so với UNet thế nào, nhất là khi giảm dữ liệu gán nhãn xuống 25 % và 50 %?</a:t>
            </a:r>
          </a:p>
        </p:txBody>
      </p:sp>
      <p:sp>
        <p:nvSpPr>
          <p:cNvPr id="6" name="card"/>
          <p:cNvSpPr/>
          <p:nvPr/>
        </p:nvSpPr>
        <p:spPr>
          <a:xfrm>
            <a:off x="3367963" y="3017520"/>
            <a:ext cx="2636443" cy="2286000"/>
          </a:xfrm>
          <a:prstGeom prst="roundRect">
            <a:avLst>
              <a:gd name="adj" fmla="val 6000"/>
            </a:avLst>
          </a:prstGeom>
          <a:solidFill>
            <a:srgbClr val="FFFFFF"/>
          </a:solidFill>
          <a:ln w="12700">
            <a:solidFill>
              <a:srgbClr val="D9DEE6"/>
            </a:solidFill>
          </a:ln>
        </p:spPr>
        <p:txBody>
          <a:bodyPr rtlCol="0" anchor="t" wrap="square" lIns="182880" rIns="182880" tIns="146304" bIns="146304">
            <a:noAutofit/>
          </a:bodyPr>
          <a:lstStyle/>
          <a:p>
            <a:pPr algn="l">
              <a:spcBef>
                <a:spcPts val="0"/>
              </a:spcBef>
              <a:spcAft>
                <a:spcPts val="800"/>
              </a:spcAft>
            </a:pPr>
            <a:r>
              <a:rPr sz="2100" b="1" i="0">
                <a:solidFill>
                  <a:srgbClr val="184F95"/>
                </a:solidFill>
                <a:latin typeface="Calibri"/>
              </a:rPr>
              <a:t>Xử lý ảnh</a:t>
            </a:r>
          </a:p>
          <a:p>
            <a:pPr algn="l">
              <a:spcBef>
                <a:spcPts val="0"/>
              </a:spcBef>
              <a:spcAft>
                <a:spcPts val="600"/>
              </a:spcAft>
            </a:pPr>
            <a:r>
              <a:rPr sz="1650" b="0" i="0">
                <a:solidFill>
                  <a:srgbClr val="1B2430"/>
                </a:solidFill>
                <a:latin typeface="Calibri"/>
              </a:rPr>
              <a:t>Voxel và mặt nạ thành biểu diễn 2D/3D xem được ra sao, và hậu xử lý tất định có giúp không?</a:t>
            </a:r>
          </a:p>
        </p:txBody>
      </p:sp>
      <p:sp>
        <p:nvSpPr>
          <p:cNvPr id="7" name="card"/>
          <p:cNvSpPr/>
          <p:nvPr/>
        </p:nvSpPr>
        <p:spPr>
          <a:xfrm>
            <a:off x="6187287" y="3017520"/>
            <a:ext cx="2636443" cy="2286000"/>
          </a:xfrm>
          <a:prstGeom prst="roundRect">
            <a:avLst>
              <a:gd name="adj" fmla="val 6000"/>
            </a:avLst>
          </a:prstGeom>
          <a:solidFill>
            <a:srgbClr val="FFFFFF"/>
          </a:solidFill>
          <a:ln w="12700">
            <a:solidFill>
              <a:srgbClr val="D9DEE6"/>
            </a:solidFill>
          </a:ln>
        </p:spPr>
        <p:txBody>
          <a:bodyPr rtlCol="0" anchor="t" wrap="square" lIns="182880" rIns="182880" tIns="146304" bIns="146304">
            <a:noAutofit/>
          </a:bodyPr>
          <a:lstStyle/>
          <a:p>
            <a:pPr algn="l">
              <a:spcBef>
                <a:spcPts val="0"/>
              </a:spcBef>
              <a:spcAft>
                <a:spcPts val="800"/>
              </a:spcAft>
            </a:pPr>
            <a:r>
              <a:rPr sz="2100" b="1" i="0">
                <a:solidFill>
                  <a:srgbClr val="184F95"/>
                </a:solidFill>
                <a:latin typeface="Calibri"/>
              </a:rPr>
              <a:t>Khoa học dữ liệu</a:t>
            </a:r>
          </a:p>
          <a:p>
            <a:pPr algn="l">
              <a:spcBef>
                <a:spcPts val="0"/>
              </a:spcBef>
              <a:spcAft>
                <a:spcPts val="600"/>
              </a:spcAft>
            </a:pPr>
            <a:r>
              <a:rPr sz="1650" b="0" i="0">
                <a:solidFill>
                  <a:srgbClr val="1B2430"/>
                </a:solidFill>
                <a:latin typeface="Calibri"/>
              </a:rPr>
              <a:t>Mô hình hành xử thế nào trên cả cohort; ngoại lệ và profile theo lát cho thấy gì ngoài số trung bình?</a:t>
            </a:r>
          </a:p>
        </p:txBody>
      </p:sp>
      <p:sp>
        <p:nvSpPr>
          <p:cNvPr id="8" name="card"/>
          <p:cNvSpPr/>
          <p:nvPr/>
        </p:nvSpPr>
        <p:spPr>
          <a:xfrm>
            <a:off x="9006611" y="3017520"/>
            <a:ext cx="2636443" cy="2286000"/>
          </a:xfrm>
          <a:prstGeom prst="roundRect">
            <a:avLst>
              <a:gd name="adj" fmla="val 6000"/>
            </a:avLst>
          </a:prstGeom>
          <a:solidFill>
            <a:srgbClr val="FFFFFF"/>
          </a:solidFill>
          <a:ln w="12700">
            <a:solidFill>
              <a:srgbClr val="D9DEE6"/>
            </a:solidFill>
          </a:ln>
        </p:spPr>
        <p:txBody>
          <a:bodyPr rtlCol="0" anchor="t" wrap="square" lIns="182880" rIns="182880" tIns="146304" bIns="146304">
            <a:noAutofit/>
          </a:bodyPr>
          <a:lstStyle/>
          <a:p>
            <a:pPr algn="l">
              <a:spcBef>
                <a:spcPts val="0"/>
              </a:spcBef>
              <a:spcAft>
                <a:spcPts val="800"/>
              </a:spcAft>
            </a:pPr>
            <a:r>
              <a:rPr sz="2100" b="1" i="0">
                <a:solidFill>
                  <a:srgbClr val="184F95"/>
                </a:solidFill>
                <a:latin typeface="Calibri"/>
              </a:rPr>
              <a:t>Phát triển di động</a:t>
            </a:r>
          </a:p>
          <a:p>
            <a:pPr algn="l">
              <a:spcBef>
                <a:spcPts val="0"/>
              </a:spcBef>
              <a:spcAft>
                <a:spcPts val="600"/>
              </a:spcAft>
            </a:pPr>
            <a:r>
              <a:rPr sz="1650" b="0" i="0">
                <a:solidFill>
                  <a:srgbClr val="1B2430"/>
                </a:solidFill>
                <a:latin typeface="Calibri"/>
              </a:rPr>
              <a:t>Quy trình ảnh y khoa kèm AI phức tạp thành một tương tác nghiên cứu dùng được trên điện thoại thế nào?</a:t>
            </a:r>
          </a:p>
        </p:txBody>
      </p:sp>
      <p:sp>
        <p:nvSpPr>
          <p:cNvPr id="9" name="note"/>
          <p:cNvSpPr txBox="1"/>
          <p:nvPr/>
        </p:nvSpPr>
        <p:spPr>
          <a:xfrm>
            <a:off x="548640" y="5577840"/>
            <a:ext cx="11094415" cy="457200"/>
          </a:xfrm>
          <a:prstGeom prst="rect">
            <a:avLst/>
          </a:prstGeom>
          <a:noFill/>
        </p:spPr>
        <p:txBody>
          <a:bodyPr wrap="square" lIns="0" rIns="0" tIns="0" bIns="0" anchor="t">
            <a:noAutofit/>
          </a:bodyPr>
          <a:lstStyle/>
          <a:p>
            <a:pPr algn="l">
              <a:spcBef>
                <a:spcPts val="0"/>
              </a:spcBef>
              <a:spcAft>
                <a:spcPts val="600"/>
              </a:spcAft>
            </a:pPr>
            <a:r>
              <a:rPr sz="1500" b="0" i="0">
                <a:solidFill>
                  <a:srgbClr val="4A5565"/>
                </a:solidFill>
                <a:latin typeface="Calibri"/>
              </a:rPr>
              <a:t>Một sản phẩm, bốn góc nhìn: mỗi chức năng demo phục vụ ít nhất hai môn (spec 16 §4).</a:t>
            </a:r>
          </a:p>
        </p:txBody>
      </p:sp>
      <p:sp>
        <p:nvSpPr>
          <p:cNvPr id="10"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11"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Luồng demo H1–H10 đi qua tám màn hình</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SẢN PHẨM</a:t>
            </a:r>
          </a:p>
        </p:txBody>
      </p:sp>
      <p:sp>
        <p:nvSpPr>
          <p:cNvPr id="4" name="card"/>
          <p:cNvSpPr/>
          <p:nvPr/>
        </p:nvSpPr>
        <p:spPr>
          <a:xfrm>
            <a:off x="548640" y="1645920"/>
            <a:ext cx="2094524" cy="1325880"/>
          </a:xfrm>
          <a:prstGeom prst="roundRect">
            <a:avLst>
              <a:gd name="adj" fmla="val 6000"/>
            </a:avLst>
          </a:prstGeom>
          <a:solidFill>
            <a:srgbClr val="FFFFFF"/>
          </a:solidFill>
          <a:ln w="12700">
            <a:solidFill>
              <a:srgbClr val="D9DEE6"/>
            </a:solidFill>
          </a:ln>
        </p:spPr>
        <p:txBody>
          <a:bodyPr rtlCol="0" anchor="t" wrap="square" lIns="128016" rIns="128016" tIns="102412" bIns="102412">
            <a:noAutofit/>
          </a:bodyPr>
          <a:lstStyle/>
          <a:p>
            <a:pPr algn="l">
              <a:spcBef>
                <a:spcPts val="0"/>
              </a:spcBef>
              <a:spcAft>
                <a:spcPts val="200"/>
              </a:spcAft>
            </a:pPr>
            <a:r>
              <a:rPr sz="2000" b="1" i="0">
                <a:solidFill>
                  <a:srgbClr val="184F95"/>
                </a:solidFill>
                <a:latin typeface="Calibri"/>
              </a:rPr>
              <a:t>H1</a:t>
            </a:r>
          </a:p>
          <a:p>
            <a:pPr algn="l">
              <a:spcBef>
                <a:spcPts val="0"/>
              </a:spcBef>
              <a:spcAft>
                <a:spcPts val="300"/>
              </a:spcAft>
            </a:pPr>
            <a:r>
              <a:rPr sz="1400" b="0" i="0">
                <a:solidFill>
                  <a:srgbClr val="1B2430"/>
                </a:solidFill>
                <a:latin typeface="Calibri"/>
              </a:rPr>
              <a:t>Mở tổng quan cohort / thí nghiệm</a:t>
            </a:r>
          </a:p>
          <a:p>
            <a:pPr algn="l">
              <a:spcBef>
                <a:spcPts val="0"/>
              </a:spcBef>
              <a:spcAft>
                <a:spcPts val="0"/>
              </a:spcAft>
            </a:pPr>
            <a:r>
              <a:rPr sz="1200" b="1" i="0">
                <a:solidFill>
                  <a:srgbClr val="6B7482"/>
                </a:solidFill>
                <a:latin typeface="Calibri"/>
              </a:rPr>
              <a:t>SCR-01</a:t>
            </a:r>
          </a:p>
        </p:txBody>
      </p:sp>
      <p:sp>
        <p:nvSpPr>
          <p:cNvPr id="5" name="card"/>
          <p:cNvSpPr/>
          <p:nvPr/>
        </p:nvSpPr>
        <p:spPr>
          <a:xfrm>
            <a:off x="2798612" y="1645920"/>
            <a:ext cx="2094524" cy="1325880"/>
          </a:xfrm>
          <a:prstGeom prst="roundRect">
            <a:avLst>
              <a:gd name="adj" fmla="val 6000"/>
            </a:avLst>
          </a:prstGeom>
          <a:solidFill>
            <a:srgbClr val="FFFFFF"/>
          </a:solidFill>
          <a:ln w="12700">
            <a:solidFill>
              <a:srgbClr val="D9DEE6"/>
            </a:solidFill>
          </a:ln>
        </p:spPr>
        <p:txBody>
          <a:bodyPr rtlCol="0" anchor="t" wrap="square" lIns="128016" rIns="128016" tIns="102412" bIns="102412">
            <a:noAutofit/>
          </a:bodyPr>
          <a:lstStyle/>
          <a:p>
            <a:pPr algn="l">
              <a:spcBef>
                <a:spcPts val="0"/>
              </a:spcBef>
              <a:spcAft>
                <a:spcPts val="200"/>
              </a:spcAft>
            </a:pPr>
            <a:r>
              <a:rPr sz="2000" b="1" i="0">
                <a:solidFill>
                  <a:srgbClr val="184F95"/>
                </a:solidFill>
                <a:latin typeface="Calibri"/>
              </a:rPr>
              <a:t>H2</a:t>
            </a:r>
          </a:p>
          <a:p>
            <a:pPr algn="l">
              <a:spcBef>
                <a:spcPts val="0"/>
              </a:spcBef>
              <a:spcAft>
                <a:spcPts val="300"/>
              </a:spcAft>
            </a:pPr>
            <a:r>
              <a:rPr sz="1400" b="0" i="0">
                <a:solidFill>
                  <a:srgbClr val="1B2430"/>
                </a:solidFill>
                <a:latin typeface="Calibri"/>
              </a:rPr>
              <a:t>Tìm ca ngoại lệ</a:t>
            </a:r>
          </a:p>
          <a:p>
            <a:pPr algn="l">
              <a:spcBef>
                <a:spcPts val="0"/>
              </a:spcBef>
              <a:spcAft>
                <a:spcPts val="0"/>
              </a:spcAft>
            </a:pPr>
            <a:r>
              <a:rPr sz="1200" b="1" i="0">
                <a:solidFill>
                  <a:srgbClr val="6B7482"/>
                </a:solidFill>
                <a:latin typeface="Calibri"/>
              </a:rPr>
              <a:t>SCR-01</a:t>
            </a:r>
          </a:p>
        </p:txBody>
      </p:sp>
      <p:sp>
        <p:nvSpPr>
          <p:cNvPr id="6" name="card"/>
          <p:cNvSpPr/>
          <p:nvPr/>
        </p:nvSpPr>
        <p:spPr>
          <a:xfrm>
            <a:off x="5048585" y="1645920"/>
            <a:ext cx="2094524" cy="1325880"/>
          </a:xfrm>
          <a:prstGeom prst="roundRect">
            <a:avLst>
              <a:gd name="adj" fmla="val 6000"/>
            </a:avLst>
          </a:prstGeom>
          <a:solidFill>
            <a:srgbClr val="FFFFFF"/>
          </a:solidFill>
          <a:ln w="12700">
            <a:solidFill>
              <a:srgbClr val="D9DEE6"/>
            </a:solidFill>
          </a:ln>
        </p:spPr>
        <p:txBody>
          <a:bodyPr rtlCol="0" anchor="t" wrap="square" lIns="128016" rIns="128016" tIns="102412" bIns="102412">
            <a:noAutofit/>
          </a:bodyPr>
          <a:lstStyle/>
          <a:p>
            <a:pPr algn="l">
              <a:spcBef>
                <a:spcPts val="0"/>
              </a:spcBef>
              <a:spcAft>
                <a:spcPts val="200"/>
              </a:spcAft>
            </a:pPr>
            <a:r>
              <a:rPr sz="2000" b="1" i="0">
                <a:solidFill>
                  <a:srgbClr val="184F95"/>
                </a:solidFill>
                <a:latin typeface="Calibri"/>
              </a:rPr>
              <a:t>H3</a:t>
            </a:r>
          </a:p>
          <a:p>
            <a:pPr algn="l">
              <a:spcBef>
                <a:spcPts val="0"/>
              </a:spcBef>
              <a:spcAft>
                <a:spcPts val="300"/>
              </a:spcAft>
            </a:pPr>
            <a:r>
              <a:rPr sz="1400" b="0" i="0">
                <a:solidFill>
                  <a:srgbClr val="1B2430"/>
                </a:solidFill>
                <a:latin typeface="Calibri"/>
              </a:rPr>
              <a:t>Mở trình khám MRI</a:t>
            </a:r>
          </a:p>
          <a:p>
            <a:pPr algn="l">
              <a:spcBef>
                <a:spcPts val="0"/>
              </a:spcBef>
              <a:spcAft>
                <a:spcPts val="0"/>
              </a:spcAft>
            </a:pPr>
            <a:r>
              <a:rPr sz="1200" b="1" i="0">
                <a:solidFill>
                  <a:srgbClr val="6B7482"/>
                </a:solidFill>
                <a:latin typeface="Calibri"/>
              </a:rPr>
              <a:t>SCR-02 → 03</a:t>
            </a:r>
          </a:p>
        </p:txBody>
      </p:sp>
      <p:sp>
        <p:nvSpPr>
          <p:cNvPr id="7" name="card"/>
          <p:cNvSpPr/>
          <p:nvPr/>
        </p:nvSpPr>
        <p:spPr>
          <a:xfrm>
            <a:off x="7298557" y="1645920"/>
            <a:ext cx="2094524" cy="1325880"/>
          </a:xfrm>
          <a:prstGeom prst="roundRect">
            <a:avLst>
              <a:gd name="adj" fmla="val 6000"/>
            </a:avLst>
          </a:prstGeom>
          <a:solidFill>
            <a:srgbClr val="FFFFFF"/>
          </a:solidFill>
          <a:ln w="12700">
            <a:solidFill>
              <a:srgbClr val="D9DEE6"/>
            </a:solidFill>
          </a:ln>
        </p:spPr>
        <p:txBody>
          <a:bodyPr rtlCol="0" anchor="t" wrap="square" lIns="128016" rIns="128016" tIns="102412" bIns="102412">
            <a:noAutofit/>
          </a:bodyPr>
          <a:lstStyle/>
          <a:p>
            <a:pPr algn="l">
              <a:spcBef>
                <a:spcPts val="0"/>
              </a:spcBef>
              <a:spcAft>
                <a:spcPts val="200"/>
              </a:spcAft>
            </a:pPr>
            <a:r>
              <a:rPr sz="2000" b="1" i="0">
                <a:solidFill>
                  <a:srgbClr val="184F95"/>
                </a:solidFill>
                <a:latin typeface="Calibri"/>
              </a:rPr>
              <a:t>H4</a:t>
            </a:r>
          </a:p>
          <a:p>
            <a:pPr algn="l">
              <a:spcBef>
                <a:spcPts val="0"/>
              </a:spcBef>
              <a:spcAft>
                <a:spcPts val="300"/>
              </a:spcAft>
            </a:pPr>
            <a:r>
              <a:rPr sz="1400" b="0" i="0">
                <a:solidFill>
                  <a:srgbClr val="1B2430"/>
                </a:solidFill>
                <a:latin typeface="Calibri"/>
              </a:rPr>
              <a:t>Đến lát có vấn đề</a:t>
            </a:r>
          </a:p>
          <a:p>
            <a:pPr algn="l">
              <a:spcBef>
                <a:spcPts val="0"/>
              </a:spcBef>
              <a:spcAft>
                <a:spcPts val="0"/>
              </a:spcAft>
            </a:pPr>
            <a:r>
              <a:rPr sz="1200" b="1" i="0">
                <a:solidFill>
                  <a:srgbClr val="6B7482"/>
                </a:solidFill>
                <a:latin typeface="Calibri"/>
              </a:rPr>
              <a:t>SCR-03 · 04</a:t>
            </a:r>
          </a:p>
        </p:txBody>
      </p:sp>
      <p:sp>
        <p:nvSpPr>
          <p:cNvPr id="8" name="card"/>
          <p:cNvSpPr/>
          <p:nvPr/>
        </p:nvSpPr>
        <p:spPr>
          <a:xfrm>
            <a:off x="9548530" y="1645920"/>
            <a:ext cx="2094524" cy="1325880"/>
          </a:xfrm>
          <a:prstGeom prst="roundRect">
            <a:avLst>
              <a:gd name="adj" fmla="val 6000"/>
            </a:avLst>
          </a:prstGeom>
          <a:solidFill>
            <a:srgbClr val="FFFFFF"/>
          </a:solidFill>
          <a:ln w="12700">
            <a:solidFill>
              <a:srgbClr val="D9DEE6"/>
            </a:solidFill>
          </a:ln>
        </p:spPr>
        <p:txBody>
          <a:bodyPr rtlCol="0" anchor="t" wrap="square" lIns="128016" rIns="128016" tIns="102412" bIns="102412">
            <a:noAutofit/>
          </a:bodyPr>
          <a:lstStyle/>
          <a:p>
            <a:pPr algn="l">
              <a:spcBef>
                <a:spcPts val="0"/>
              </a:spcBef>
              <a:spcAft>
                <a:spcPts val="200"/>
              </a:spcAft>
            </a:pPr>
            <a:r>
              <a:rPr sz="2000" b="1" i="0">
                <a:solidFill>
                  <a:srgbClr val="184F95"/>
                </a:solidFill>
                <a:latin typeface="Calibri"/>
              </a:rPr>
              <a:t>H5</a:t>
            </a:r>
          </a:p>
          <a:p>
            <a:pPr algn="l">
              <a:spcBef>
                <a:spcPts val="0"/>
              </a:spcBef>
              <a:spcAft>
                <a:spcPts val="300"/>
              </a:spcAft>
            </a:pPr>
            <a:r>
              <a:rPr sz="1400" b="0" i="0">
                <a:solidFill>
                  <a:srgbClr val="1B2430"/>
                </a:solidFill>
                <a:latin typeface="Calibri"/>
              </a:rPr>
              <a:t>So sánh dự đoán, ground truth, lỗi</a:t>
            </a:r>
          </a:p>
          <a:p>
            <a:pPr algn="l">
              <a:spcBef>
                <a:spcPts val="0"/>
              </a:spcBef>
              <a:spcAft>
                <a:spcPts val="0"/>
              </a:spcAft>
            </a:pPr>
            <a:r>
              <a:rPr sz="1200" b="1" i="0">
                <a:solidFill>
                  <a:srgbClr val="6B7482"/>
                </a:solidFill>
                <a:latin typeface="Calibri"/>
              </a:rPr>
              <a:t>SCR-03 · 04</a:t>
            </a:r>
          </a:p>
        </p:txBody>
      </p:sp>
      <p:sp>
        <p:nvSpPr>
          <p:cNvPr id="9" name="card"/>
          <p:cNvSpPr/>
          <p:nvPr/>
        </p:nvSpPr>
        <p:spPr>
          <a:xfrm>
            <a:off x="548640" y="3136391"/>
            <a:ext cx="2094524" cy="1325880"/>
          </a:xfrm>
          <a:prstGeom prst="roundRect">
            <a:avLst>
              <a:gd name="adj" fmla="val 6000"/>
            </a:avLst>
          </a:prstGeom>
          <a:solidFill>
            <a:srgbClr val="FFFFFF"/>
          </a:solidFill>
          <a:ln w="12700">
            <a:solidFill>
              <a:srgbClr val="D9DEE6"/>
            </a:solidFill>
          </a:ln>
        </p:spPr>
        <p:txBody>
          <a:bodyPr rtlCol="0" anchor="t" wrap="square" lIns="128016" rIns="128016" tIns="102412" bIns="102412">
            <a:noAutofit/>
          </a:bodyPr>
          <a:lstStyle/>
          <a:p>
            <a:pPr algn="l">
              <a:spcBef>
                <a:spcPts val="0"/>
              </a:spcBef>
              <a:spcAft>
                <a:spcPts val="200"/>
              </a:spcAft>
            </a:pPr>
            <a:r>
              <a:rPr sz="2000" b="1" i="0">
                <a:solidFill>
                  <a:srgbClr val="184F95"/>
                </a:solidFill>
                <a:latin typeface="Calibri"/>
              </a:rPr>
              <a:t>H6</a:t>
            </a:r>
          </a:p>
          <a:p>
            <a:pPr algn="l">
              <a:spcBef>
                <a:spcPts val="0"/>
              </a:spcBef>
              <a:spcAft>
                <a:spcPts val="300"/>
              </a:spcAft>
            </a:pPr>
            <a:r>
              <a:rPr sz="1400" b="0" i="0">
                <a:solidFill>
                  <a:srgbClr val="1B2430"/>
                </a:solidFill>
                <a:latin typeface="Calibri"/>
              </a:rPr>
              <a:t>Mở 3D và bản đồ lỗi</a:t>
            </a:r>
          </a:p>
          <a:p>
            <a:pPr algn="l">
              <a:spcBef>
                <a:spcPts val="0"/>
              </a:spcBef>
              <a:spcAft>
                <a:spcPts val="0"/>
              </a:spcAft>
            </a:pPr>
            <a:r>
              <a:rPr sz="1200" b="1" i="0">
                <a:solidFill>
                  <a:srgbClr val="6B7482"/>
                </a:solidFill>
                <a:latin typeface="Calibri"/>
              </a:rPr>
              <a:t>SCR-05</a:t>
            </a:r>
          </a:p>
        </p:txBody>
      </p:sp>
      <p:sp>
        <p:nvSpPr>
          <p:cNvPr id="10" name="card"/>
          <p:cNvSpPr/>
          <p:nvPr/>
        </p:nvSpPr>
        <p:spPr>
          <a:xfrm>
            <a:off x="2798612" y="3136391"/>
            <a:ext cx="2094524" cy="1325880"/>
          </a:xfrm>
          <a:prstGeom prst="roundRect">
            <a:avLst>
              <a:gd name="adj" fmla="val 6000"/>
            </a:avLst>
          </a:prstGeom>
          <a:solidFill>
            <a:srgbClr val="FFFFFF"/>
          </a:solidFill>
          <a:ln w="12700">
            <a:solidFill>
              <a:srgbClr val="D9DEE6"/>
            </a:solidFill>
          </a:ln>
        </p:spPr>
        <p:txBody>
          <a:bodyPr rtlCol="0" anchor="t" wrap="square" lIns="128016" rIns="128016" tIns="102412" bIns="102412">
            <a:noAutofit/>
          </a:bodyPr>
          <a:lstStyle/>
          <a:p>
            <a:pPr algn="l">
              <a:spcBef>
                <a:spcPts val="0"/>
              </a:spcBef>
              <a:spcAft>
                <a:spcPts val="200"/>
              </a:spcAft>
            </a:pPr>
            <a:r>
              <a:rPr sz="2000" b="1" i="0">
                <a:solidFill>
                  <a:srgbClr val="184F95"/>
                </a:solidFill>
                <a:latin typeface="Calibri"/>
              </a:rPr>
              <a:t>H7</a:t>
            </a:r>
          </a:p>
          <a:p>
            <a:pPr algn="l">
              <a:spcBef>
                <a:spcPts val="0"/>
              </a:spcBef>
              <a:spcAft>
                <a:spcPts val="300"/>
              </a:spcAft>
            </a:pPr>
            <a:r>
              <a:rPr sz="1400" b="0" i="0">
                <a:solidFill>
                  <a:srgbClr val="1B2430"/>
                </a:solidFill>
                <a:latin typeface="Calibri"/>
              </a:rPr>
              <a:t>Chọn vùng lỗi, nhảy về lát 2D</a:t>
            </a:r>
          </a:p>
          <a:p>
            <a:pPr algn="l">
              <a:spcBef>
                <a:spcPts val="0"/>
              </a:spcBef>
              <a:spcAft>
                <a:spcPts val="0"/>
              </a:spcAft>
            </a:pPr>
            <a:r>
              <a:rPr sz="1200" b="1" i="0">
                <a:solidFill>
                  <a:srgbClr val="6B7482"/>
                </a:solidFill>
                <a:latin typeface="Calibri"/>
              </a:rPr>
              <a:t>SCR-05 → 03</a:t>
            </a:r>
          </a:p>
        </p:txBody>
      </p:sp>
      <p:sp>
        <p:nvSpPr>
          <p:cNvPr id="11" name="card"/>
          <p:cNvSpPr/>
          <p:nvPr/>
        </p:nvSpPr>
        <p:spPr>
          <a:xfrm>
            <a:off x="5048585" y="3136391"/>
            <a:ext cx="2094524" cy="1325880"/>
          </a:xfrm>
          <a:prstGeom prst="roundRect">
            <a:avLst>
              <a:gd name="adj" fmla="val 6000"/>
            </a:avLst>
          </a:prstGeom>
          <a:solidFill>
            <a:srgbClr val="FFFFFF"/>
          </a:solidFill>
          <a:ln w="12700">
            <a:solidFill>
              <a:srgbClr val="D9DEE6"/>
            </a:solidFill>
          </a:ln>
        </p:spPr>
        <p:txBody>
          <a:bodyPr rtlCol="0" anchor="t" wrap="square" lIns="128016" rIns="128016" tIns="102412" bIns="102412">
            <a:noAutofit/>
          </a:bodyPr>
          <a:lstStyle/>
          <a:p>
            <a:pPr algn="l">
              <a:spcBef>
                <a:spcPts val="0"/>
              </a:spcBef>
              <a:spcAft>
                <a:spcPts val="200"/>
              </a:spcAft>
            </a:pPr>
            <a:r>
              <a:rPr sz="2000" b="1" i="0">
                <a:solidFill>
                  <a:srgbClr val="184F95"/>
                </a:solidFill>
                <a:latin typeface="Calibri"/>
              </a:rPr>
              <a:t>H8</a:t>
            </a:r>
          </a:p>
          <a:p>
            <a:pPr algn="l">
              <a:spcBef>
                <a:spcPts val="0"/>
              </a:spcBef>
              <a:spcAft>
                <a:spcPts val="300"/>
              </a:spcAft>
            </a:pPr>
            <a:r>
              <a:rPr sz="1400" b="0" i="0">
                <a:solidFill>
                  <a:srgbClr val="1B2430"/>
                </a:solidFill>
                <a:latin typeface="Calibri"/>
              </a:rPr>
              <a:t>Gắn cờ hoặc sửa bằng brush</a:t>
            </a:r>
          </a:p>
          <a:p>
            <a:pPr algn="l">
              <a:spcBef>
                <a:spcPts val="0"/>
              </a:spcBef>
              <a:spcAft>
                <a:spcPts val="0"/>
              </a:spcAft>
            </a:pPr>
            <a:r>
              <a:rPr sz="1200" b="1" i="0">
                <a:solidFill>
                  <a:srgbClr val="6B7482"/>
                </a:solidFill>
                <a:latin typeface="Calibri"/>
              </a:rPr>
              <a:t>SCR-06 · 08</a:t>
            </a:r>
          </a:p>
        </p:txBody>
      </p:sp>
      <p:sp>
        <p:nvSpPr>
          <p:cNvPr id="12" name="card"/>
          <p:cNvSpPr/>
          <p:nvPr/>
        </p:nvSpPr>
        <p:spPr>
          <a:xfrm>
            <a:off x="7298557" y="3136391"/>
            <a:ext cx="2094524" cy="1325880"/>
          </a:xfrm>
          <a:prstGeom prst="roundRect">
            <a:avLst>
              <a:gd name="adj" fmla="val 6000"/>
            </a:avLst>
          </a:prstGeom>
          <a:solidFill>
            <a:srgbClr val="FFFFFF"/>
          </a:solidFill>
          <a:ln w="12700">
            <a:solidFill>
              <a:srgbClr val="D9DEE6"/>
            </a:solidFill>
          </a:ln>
        </p:spPr>
        <p:txBody>
          <a:bodyPr rtlCol="0" anchor="t" wrap="square" lIns="128016" rIns="128016" tIns="102412" bIns="102412">
            <a:noAutofit/>
          </a:bodyPr>
          <a:lstStyle/>
          <a:p>
            <a:pPr algn="l">
              <a:spcBef>
                <a:spcPts val="0"/>
              </a:spcBef>
              <a:spcAft>
                <a:spcPts val="200"/>
              </a:spcAft>
            </a:pPr>
            <a:r>
              <a:rPr sz="2000" b="1" i="0">
                <a:solidFill>
                  <a:srgbClr val="184F95"/>
                </a:solidFill>
                <a:latin typeface="Calibri"/>
              </a:rPr>
              <a:t>H9</a:t>
            </a:r>
          </a:p>
          <a:p>
            <a:pPr algn="l">
              <a:spcBef>
                <a:spcPts val="0"/>
              </a:spcBef>
              <a:spcAft>
                <a:spcPts val="300"/>
              </a:spcAft>
            </a:pPr>
            <a:r>
              <a:rPr sz="1400" b="0" i="0">
                <a:solidFill>
                  <a:srgbClr val="1B2430"/>
                </a:solidFill>
                <a:latin typeface="Calibri"/>
              </a:rPr>
              <a:t>Lưu mask đã duyệt, giữ dự đoán gốc</a:t>
            </a:r>
          </a:p>
          <a:p>
            <a:pPr algn="l">
              <a:spcBef>
                <a:spcPts val="0"/>
              </a:spcBef>
              <a:spcAft>
                <a:spcPts val="0"/>
              </a:spcAft>
            </a:pPr>
            <a:r>
              <a:rPr sz="1200" b="1" i="0">
                <a:solidFill>
                  <a:srgbClr val="6B7482"/>
                </a:solidFill>
                <a:latin typeface="Calibri"/>
              </a:rPr>
              <a:t>SCR-06</a:t>
            </a:r>
          </a:p>
        </p:txBody>
      </p:sp>
      <p:sp>
        <p:nvSpPr>
          <p:cNvPr id="13" name="card"/>
          <p:cNvSpPr/>
          <p:nvPr/>
        </p:nvSpPr>
        <p:spPr>
          <a:xfrm>
            <a:off x="9548530" y="3136391"/>
            <a:ext cx="2094524" cy="1325880"/>
          </a:xfrm>
          <a:prstGeom prst="roundRect">
            <a:avLst>
              <a:gd name="adj" fmla="val 6000"/>
            </a:avLst>
          </a:prstGeom>
          <a:solidFill>
            <a:srgbClr val="FFFFFF"/>
          </a:solidFill>
          <a:ln w="12700">
            <a:solidFill>
              <a:srgbClr val="D9DEE6"/>
            </a:solidFill>
          </a:ln>
        </p:spPr>
        <p:txBody>
          <a:bodyPr rtlCol="0" anchor="t" wrap="square" lIns="128016" rIns="128016" tIns="102412" bIns="102412">
            <a:noAutofit/>
          </a:bodyPr>
          <a:lstStyle/>
          <a:p>
            <a:pPr algn="l">
              <a:spcBef>
                <a:spcPts val="0"/>
              </a:spcBef>
              <a:spcAft>
                <a:spcPts val="200"/>
              </a:spcAft>
            </a:pPr>
            <a:r>
              <a:rPr sz="2000" b="1" i="0">
                <a:solidFill>
                  <a:srgbClr val="184F95"/>
                </a:solidFill>
                <a:latin typeface="Calibri"/>
              </a:rPr>
              <a:t>H10</a:t>
            </a:r>
          </a:p>
          <a:p>
            <a:pPr algn="l">
              <a:spcBef>
                <a:spcPts val="0"/>
              </a:spcBef>
              <a:spcAft>
                <a:spcPts val="300"/>
              </a:spcAft>
            </a:pPr>
            <a:r>
              <a:rPr sz="1400" b="0" i="0">
                <a:solidFill>
                  <a:srgbClr val="1B2430"/>
                </a:solidFill>
                <a:latin typeface="Calibri"/>
              </a:rPr>
              <a:t>Về so sánh mô hình và ít dữ liệu</a:t>
            </a:r>
          </a:p>
          <a:p>
            <a:pPr algn="l">
              <a:spcBef>
                <a:spcPts val="0"/>
              </a:spcBef>
              <a:spcAft>
                <a:spcPts val="0"/>
              </a:spcAft>
            </a:pPr>
            <a:r>
              <a:rPr sz="1200" b="1" i="0">
                <a:solidFill>
                  <a:srgbClr val="6B7482"/>
                </a:solidFill>
                <a:latin typeface="Calibri"/>
              </a:rPr>
              <a:t>SCR-07</a:t>
            </a:r>
          </a:p>
        </p:txBody>
      </p:sp>
      <p:sp>
        <p:nvSpPr>
          <p:cNvPr id="14" name="card:screen"/>
          <p:cNvSpPr/>
          <p:nvPr/>
        </p:nvSpPr>
        <p:spPr>
          <a:xfrm>
            <a:off x="548640" y="4718303"/>
            <a:ext cx="1306791" cy="868680"/>
          </a:xfrm>
          <a:prstGeom prst="roundRect">
            <a:avLst>
              <a:gd name="adj" fmla="val 6000"/>
            </a:avLst>
          </a:prstGeom>
          <a:solidFill>
            <a:srgbClr val="E8F0FB"/>
          </a:solidFill>
          <a:ln>
            <a:noFill/>
          </a:ln>
        </p:spPr>
        <p:txBody>
          <a:bodyPr rtlCol="0" anchor="ctr" wrap="square" lIns="73152" rIns="73152" tIns="58521" bIns="58521">
            <a:noAutofit/>
          </a:bodyPr>
          <a:lstStyle/>
          <a:p>
            <a:pPr algn="ctr">
              <a:spcBef>
                <a:spcPts val="0"/>
              </a:spcBef>
              <a:spcAft>
                <a:spcPts val="100"/>
              </a:spcAft>
            </a:pPr>
            <a:r>
              <a:rPr sz="1200" b="1" i="0">
                <a:solidFill>
                  <a:srgbClr val="184F95"/>
                </a:solidFill>
                <a:latin typeface="Calibri"/>
              </a:rPr>
              <a:t>SCR-01</a:t>
            </a:r>
          </a:p>
          <a:p>
            <a:pPr algn="ctr">
              <a:spcBef>
                <a:spcPts val="0"/>
              </a:spcBef>
              <a:spcAft>
                <a:spcPts val="100"/>
              </a:spcAft>
            </a:pPr>
            <a:r>
              <a:rPr sz="1150" b="0" i="0">
                <a:solidFill>
                  <a:srgbClr val="1B2430"/>
                </a:solidFill>
                <a:latin typeface="Calibri"/>
              </a:rPr>
              <a:t>Study Overview</a:t>
            </a:r>
          </a:p>
          <a:p>
            <a:pPr algn="ctr">
              <a:spcBef>
                <a:spcPts val="0"/>
              </a:spcBef>
              <a:spcAft>
                <a:spcPts val="0"/>
              </a:spcAft>
            </a:pPr>
            <a:r>
              <a:rPr sz="1150" b="1" i="0">
                <a:solidFill>
                  <a:srgbClr val="4A5565"/>
                </a:solidFill>
                <a:latin typeface="Calibri"/>
              </a:rPr>
              <a:t>V3</a:t>
            </a:r>
          </a:p>
        </p:txBody>
      </p:sp>
      <p:sp>
        <p:nvSpPr>
          <p:cNvPr id="15" name="card:screen"/>
          <p:cNvSpPr/>
          <p:nvPr/>
        </p:nvSpPr>
        <p:spPr>
          <a:xfrm>
            <a:off x="1946871" y="4718303"/>
            <a:ext cx="1306791" cy="868680"/>
          </a:xfrm>
          <a:prstGeom prst="roundRect">
            <a:avLst>
              <a:gd name="adj" fmla="val 6000"/>
            </a:avLst>
          </a:prstGeom>
          <a:solidFill>
            <a:srgbClr val="E8F0FB"/>
          </a:solidFill>
          <a:ln>
            <a:noFill/>
          </a:ln>
        </p:spPr>
        <p:txBody>
          <a:bodyPr rtlCol="0" anchor="ctr" wrap="square" lIns="73152" rIns="73152" tIns="58521" bIns="58521">
            <a:noAutofit/>
          </a:bodyPr>
          <a:lstStyle/>
          <a:p>
            <a:pPr algn="ctr">
              <a:spcBef>
                <a:spcPts val="0"/>
              </a:spcBef>
              <a:spcAft>
                <a:spcPts val="100"/>
              </a:spcAft>
            </a:pPr>
            <a:r>
              <a:rPr sz="1200" b="1" i="0">
                <a:solidFill>
                  <a:srgbClr val="184F95"/>
                </a:solidFill>
                <a:latin typeface="Calibri"/>
              </a:rPr>
              <a:t>SCR-02</a:t>
            </a:r>
          </a:p>
          <a:p>
            <a:pPr algn="ctr">
              <a:spcBef>
                <a:spcPts val="0"/>
              </a:spcBef>
              <a:spcAft>
                <a:spcPts val="100"/>
              </a:spcAft>
            </a:pPr>
            <a:r>
              <a:rPr sz="1150" b="0" i="0">
                <a:solidFill>
                  <a:srgbClr val="1B2430"/>
                </a:solidFill>
                <a:latin typeface="Calibri"/>
              </a:rPr>
              <a:t>Case List</a:t>
            </a:r>
          </a:p>
          <a:p>
            <a:pPr algn="ctr">
              <a:spcBef>
                <a:spcPts val="0"/>
              </a:spcBef>
              <a:spcAft>
                <a:spcPts val="0"/>
              </a:spcAft>
            </a:pPr>
            <a:r>
              <a:rPr sz="1150" b="1" i="0">
                <a:solidFill>
                  <a:srgbClr val="4A5565"/>
                </a:solidFill>
                <a:latin typeface="Calibri"/>
              </a:rPr>
              <a:t>V1</a:t>
            </a:r>
          </a:p>
        </p:txBody>
      </p:sp>
      <p:sp>
        <p:nvSpPr>
          <p:cNvPr id="16" name="card:screen"/>
          <p:cNvSpPr/>
          <p:nvPr/>
        </p:nvSpPr>
        <p:spPr>
          <a:xfrm>
            <a:off x="3345103" y="4718303"/>
            <a:ext cx="1306791" cy="868680"/>
          </a:xfrm>
          <a:prstGeom prst="roundRect">
            <a:avLst>
              <a:gd name="adj" fmla="val 6000"/>
            </a:avLst>
          </a:prstGeom>
          <a:solidFill>
            <a:srgbClr val="E8F0FB"/>
          </a:solidFill>
          <a:ln>
            <a:noFill/>
          </a:ln>
        </p:spPr>
        <p:txBody>
          <a:bodyPr rtlCol="0" anchor="ctr" wrap="square" lIns="73152" rIns="73152" tIns="58521" bIns="58521">
            <a:noAutofit/>
          </a:bodyPr>
          <a:lstStyle/>
          <a:p>
            <a:pPr algn="ctr">
              <a:spcBef>
                <a:spcPts val="0"/>
              </a:spcBef>
              <a:spcAft>
                <a:spcPts val="100"/>
              </a:spcAft>
            </a:pPr>
            <a:r>
              <a:rPr sz="1200" b="1" i="0">
                <a:solidFill>
                  <a:srgbClr val="184F95"/>
                </a:solidFill>
                <a:latin typeface="Calibri"/>
              </a:rPr>
              <a:t>SCR-03</a:t>
            </a:r>
          </a:p>
          <a:p>
            <a:pPr algn="ctr">
              <a:spcBef>
                <a:spcPts val="0"/>
              </a:spcBef>
              <a:spcAft>
                <a:spcPts val="100"/>
              </a:spcAft>
            </a:pPr>
            <a:r>
              <a:rPr sz="1150" b="0" i="0">
                <a:solidFill>
                  <a:srgbClr val="1B2430"/>
                </a:solidFill>
                <a:latin typeface="Calibri"/>
              </a:rPr>
              <a:t>Case Explorer 2D</a:t>
            </a:r>
          </a:p>
          <a:p>
            <a:pPr algn="ctr">
              <a:spcBef>
                <a:spcPts val="0"/>
              </a:spcBef>
              <a:spcAft>
                <a:spcPts val="0"/>
              </a:spcAft>
            </a:pPr>
            <a:r>
              <a:rPr sz="1150" b="1" i="0">
                <a:solidFill>
                  <a:srgbClr val="4A5565"/>
                </a:solidFill>
                <a:latin typeface="Calibri"/>
              </a:rPr>
              <a:t>V1</a:t>
            </a:r>
          </a:p>
        </p:txBody>
      </p:sp>
      <p:sp>
        <p:nvSpPr>
          <p:cNvPr id="17" name="card:screen"/>
          <p:cNvSpPr/>
          <p:nvPr/>
        </p:nvSpPr>
        <p:spPr>
          <a:xfrm>
            <a:off x="4743335" y="4718303"/>
            <a:ext cx="1306791" cy="868680"/>
          </a:xfrm>
          <a:prstGeom prst="roundRect">
            <a:avLst>
              <a:gd name="adj" fmla="val 6000"/>
            </a:avLst>
          </a:prstGeom>
          <a:solidFill>
            <a:srgbClr val="E8F0FB"/>
          </a:solidFill>
          <a:ln>
            <a:noFill/>
          </a:ln>
        </p:spPr>
        <p:txBody>
          <a:bodyPr rtlCol="0" anchor="ctr" wrap="square" lIns="73152" rIns="73152" tIns="58521" bIns="58521">
            <a:noAutofit/>
          </a:bodyPr>
          <a:lstStyle/>
          <a:p>
            <a:pPr algn="ctr">
              <a:spcBef>
                <a:spcPts val="0"/>
              </a:spcBef>
              <a:spcAft>
                <a:spcPts val="100"/>
              </a:spcAft>
            </a:pPr>
            <a:r>
              <a:rPr sz="1200" b="1" i="0">
                <a:solidFill>
                  <a:srgbClr val="184F95"/>
                </a:solidFill>
                <a:latin typeface="Calibri"/>
              </a:rPr>
              <a:t>SCR-04</a:t>
            </a:r>
          </a:p>
          <a:p>
            <a:pPr algn="ctr">
              <a:spcBef>
                <a:spcPts val="0"/>
              </a:spcBef>
              <a:spcAft>
                <a:spcPts val="100"/>
              </a:spcAft>
            </a:pPr>
            <a:r>
              <a:rPr sz="1150" b="0" i="0">
                <a:solidFill>
                  <a:srgbClr val="1B2430"/>
                </a:solidFill>
                <a:latin typeface="Calibri"/>
              </a:rPr>
              <a:t>Error Inspector</a:t>
            </a:r>
          </a:p>
          <a:p>
            <a:pPr algn="ctr">
              <a:spcBef>
                <a:spcPts val="0"/>
              </a:spcBef>
              <a:spcAft>
                <a:spcPts val="0"/>
              </a:spcAft>
            </a:pPr>
            <a:r>
              <a:rPr sz="1150" b="1" i="0">
                <a:solidFill>
                  <a:srgbClr val="4A5565"/>
                </a:solidFill>
                <a:latin typeface="Calibri"/>
              </a:rPr>
              <a:t>V1</a:t>
            </a:r>
          </a:p>
        </p:txBody>
      </p:sp>
      <p:sp>
        <p:nvSpPr>
          <p:cNvPr id="18" name="card:screen"/>
          <p:cNvSpPr/>
          <p:nvPr/>
        </p:nvSpPr>
        <p:spPr>
          <a:xfrm>
            <a:off x="6141567" y="4718303"/>
            <a:ext cx="1306791" cy="868680"/>
          </a:xfrm>
          <a:prstGeom prst="roundRect">
            <a:avLst>
              <a:gd name="adj" fmla="val 6000"/>
            </a:avLst>
          </a:prstGeom>
          <a:solidFill>
            <a:srgbClr val="E8F0FB"/>
          </a:solidFill>
          <a:ln>
            <a:noFill/>
          </a:ln>
        </p:spPr>
        <p:txBody>
          <a:bodyPr rtlCol="0" anchor="ctr" wrap="square" lIns="73152" rIns="73152" tIns="58521" bIns="58521">
            <a:noAutofit/>
          </a:bodyPr>
          <a:lstStyle/>
          <a:p>
            <a:pPr algn="ctr">
              <a:spcBef>
                <a:spcPts val="0"/>
              </a:spcBef>
              <a:spcAft>
                <a:spcPts val="100"/>
              </a:spcAft>
            </a:pPr>
            <a:r>
              <a:rPr sz="1200" b="1" i="0">
                <a:solidFill>
                  <a:srgbClr val="184F95"/>
                </a:solidFill>
                <a:latin typeface="Calibri"/>
              </a:rPr>
              <a:t>SCR-05</a:t>
            </a:r>
          </a:p>
          <a:p>
            <a:pPr algn="ctr">
              <a:spcBef>
                <a:spcPts val="0"/>
              </a:spcBef>
              <a:spcAft>
                <a:spcPts val="100"/>
              </a:spcAft>
            </a:pPr>
            <a:r>
              <a:rPr sz="1150" b="0" i="0">
                <a:solidFill>
                  <a:srgbClr val="1B2430"/>
                </a:solidFill>
                <a:latin typeface="Calibri"/>
              </a:rPr>
              <a:t>3D Inspector</a:t>
            </a:r>
          </a:p>
          <a:p>
            <a:pPr algn="ctr">
              <a:spcBef>
                <a:spcPts val="0"/>
              </a:spcBef>
              <a:spcAft>
                <a:spcPts val="0"/>
              </a:spcAft>
            </a:pPr>
            <a:r>
              <a:rPr sz="1150" b="1" i="0">
                <a:solidFill>
                  <a:srgbClr val="4A5565"/>
                </a:solidFill>
                <a:latin typeface="Calibri"/>
              </a:rPr>
              <a:t>V2</a:t>
            </a:r>
          </a:p>
        </p:txBody>
      </p:sp>
      <p:sp>
        <p:nvSpPr>
          <p:cNvPr id="19" name="card:screen"/>
          <p:cNvSpPr/>
          <p:nvPr/>
        </p:nvSpPr>
        <p:spPr>
          <a:xfrm>
            <a:off x="7539799" y="4718303"/>
            <a:ext cx="1306791" cy="868680"/>
          </a:xfrm>
          <a:prstGeom prst="roundRect">
            <a:avLst>
              <a:gd name="adj" fmla="val 6000"/>
            </a:avLst>
          </a:prstGeom>
          <a:solidFill>
            <a:srgbClr val="E8F0FB"/>
          </a:solidFill>
          <a:ln>
            <a:noFill/>
          </a:ln>
        </p:spPr>
        <p:txBody>
          <a:bodyPr rtlCol="0" anchor="ctr" wrap="square" lIns="73152" rIns="73152" tIns="58521" bIns="58521">
            <a:noAutofit/>
          </a:bodyPr>
          <a:lstStyle/>
          <a:p>
            <a:pPr algn="ctr">
              <a:spcBef>
                <a:spcPts val="0"/>
              </a:spcBef>
              <a:spcAft>
                <a:spcPts val="100"/>
              </a:spcAft>
            </a:pPr>
            <a:r>
              <a:rPr sz="1200" b="1" i="0">
                <a:solidFill>
                  <a:srgbClr val="184F95"/>
                </a:solidFill>
                <a:latin typeface="Calibri"/>
              </a:rPr>
              <a:t>SCR-06</a:t>
            </a:r>
          </a:p>
          <a:p>
            <a:pPr algn="ctr">
              <a:spcBef>
                <a:spcPts val="0"/>
              </a:spcBef>
              <a:spcAft>
                <a:spcPts val="100"/>
              </a:spcAft>
            </a:pPr>
            <a:r>
              <a:rPr sz="1150" b="0" i="0">
                <a:solidFill>
                  <a:srgbClr val="1B2430"/>
                </a:solidFill>
                <a:latin typeface="Calibri"/>
              </a:rPr>
              <a:t>Review / Correction</a:t>
            </a:r>
          </a:p>
          <a:p>
            <a:pPr algn="ctr">
              <a:spcBef>
                <a:spcPts val="0"/>
              </a:spcBef>
              <a:spcAft>
                <a:spcPts val="0"/>
              </a:spcAft>
            </a:pPr>
            <a:r>
              <a:rPr sz="1150" b="1" i="0">
                <a:solidFill>
                  <a:srgbClr val="4A5565"/>
                </a:solidFill>
                <a:latin typeface="Calibri"/>
              </a:rPr>
              <a:t>V4</a:t>
            </a:r>
          </a:p>
        </p:txBody>
      </p:sp>
      <p:sp>
        <p:nvSpPr>
          <p:cNvPr id="20" name="card:screen"/>
          <p:cNvSpPr/>
          <p:nvPr/>
        </p:nvSpPr>
        <p:spPr>
          <a:xfrm>
            <a:off x="8938031" y="4718303"/>
            <a:ext cx="1306791" cy="868680"/>
          </a:xfrm>
          <a:prstGeom prst="roundRect">
            <a:avLst>
              <a:gd name="adj" fmla="val 6000"/>
            </a:avLst>
          </a:prstGeom>
          <a:solidFill>
            <a:srgbClr val="E8F0FB"/>
          </a:solidFill>
          <a:ln>
            <a:noFill/>
          </a:ln>
        </p:spPr>
        <p:txBody>
          <a:bodyPr rtlCol="0" anchor="ctr" wrap="square" lIns="73152" rIns="73152" tIns="58521" bIns="58521">
            <a:noAutofit/>
          </a:bodyPr>
          <a:lstStyle/>
          <a:p>
            <a:pPr algn="ctr">
              <a:spcBef>
                <a:spcPts val="0"/>
              </a:spcBef>
              <a:spcAft>
                <a:spcPts val="100"/>
              </a:spcAft>
            </a:pPr>
            <a:r>
              <a:rPr sz="1200" b="1" i="0">
                <a:solidFill>
                  <a:srgbClr val="184F95"/>
                </a:solidFill>
                <a:latin typeface="Calibri"/>
              </a:rPr>
              <a:t>SCR-07</a:t>
            </a:r>
          </a:p>
          <a:p>
            <a:pPr algn="ctr">
              <a:spcBef>
                <a:spcPts val="0"/>
              </a:spcBef>
              <a:spcAft>
                <a:spcPts val="100"/>
              </a:spcAft>
            </a:pPr>
            <a:r>
              <a:rPr sz="1150" b="0" i="0">
                <a:solidFill>
                  <a:srgbClr val="1B2430"/>
                </a:solidFill>
                <a:latin typeface="Calibri"/>
              </a:rPr>
              <a:t>Experiment Comparison</a:t>
            </a:r>
          </a:p>
          <a:p>
            <a:pPr algn="ctr">
              <a:spcBef>
                <a:spcPts val="0"/>
              </a:spcBef>
              <a:spcAft>
                <a:spcPts val="0"/>
              </a:spcAft>
            </a:pPr>
            <a:r>
              <a:rPr sz="1150" b="1" i="0">
                <a:solidFill>
                  <a:srgbClr val="4A5565"/>
                </a:solidFill>
                <a:latin typeface="Calibri"/>
              </a:rPr>
              <a:t>V3</a:t>
            </a:r>
          </a:p>
        </p:txBody>
      </p:sp>
      <p:sp>
        <p:nvSpPr>
          <p:cNvPr id="21" name="card:screen"/>
          <p:cNvSpPr/>
          <p:nvPr/>
        </p:nvSpPr>
        <p:spPr>
          <a:xfrm>
            <a:off x="10336263" y="4718303"/>
            <a:ext cx="1306791" cy="868680"/>
          </a:xfrm>
          <a:prstGeom prst="roundRect">
            <a:avLst>
              <a:gd name="adj" fmla="val 6000"/>
            </a:avLst>
          </a:prstGeom>
          <a:solidFill>
            <a:srgbClr val="E8F0FB"/>
          </a:solidFill>
          <a:ln>
            <a:noFill/>
          </a:ln>
        </p:spPr>
        <p:txBody>
          <a:bodyPr rtlCol="0" anchor="ctr" wrap="square" lIns="73152" rIns="73152" tIns="58521" bIns="58521">
            <a:noAutofit/>
          </a:bodyPr>
          <a:lstStyle/>
          <a:p>
            <a:pPr algn="ctr">
              <a:spcBef>
                <a:spcPts val="0"/>
              </a:spcBef>
              <a:spcAft>
                <a:spcPts val="100"/>
              </a:spcAft>
            </a:pPr>
            <a:r>
              <a:rPr sz="1200" b="1" i="0">
                <a:solidFill>
                  <a:srgbClr val="184F95"/>
                </a:solidFill>
                <a:latin typeface="Calibri"/>
              </a:rPr>
              <a:t>SCR-08</a:t>
            </a:r>
          </a:p>
          <a:p>
            <a:pPr algn="ctr">
              <a:spcBef>
                <a:spcPts val="0"/>
              </a:spcBef>
              <a:spcAft>
                <a:spcPts val="100"/>
              </a:spcAft>
            </a:pPr>
            <a:r>
              <a:rPr sz="1150" b="0" i="0">
                <a:solidFill>
                  <a:srgbClr val="1B2430"/>
                </a:solidFill>
                <a:latin typeface="Calibri"/>
              </a:rPr>
              <a:t>Findings</a:t>
            </a:r>
          </a:p>
          <a:p>
            <a:pPr algn="ctr">
              <a:spcBef>
                <a:spcPts val="0"/>
              </a:spcBef>
              <a:spcAft>
                <a:spcPts val="0"/>
              </a:spcAft>
            </a:pPr>
            <a:r>
              <a:rPr sz="1150" b="1" i="0">
                <a:solidFill>
                  <a:srgbClr val="4A5565"/>
                </a:solidFill>
                <a:latin typeface="Calibri"/>
              </a:rPr>
              <a:t>V4</a:t>
            </a:r>
          </a:p>
        </p:txBody>
      </p:sp>
      <p:sp>
        <p:nvSpPr>
          <p:cNvPr id="22" name="source"/>
          <p:cNvSpPr txBox="1"/>
          <p:nvPr/>
        </p:nvSpPr>
        <p:spPr>
          <a:xfrm>
            <a:off x="548640" y="6053328"/>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Mục tiêu 60–90 giây, một lượt quay, ca demo đại diện (chọn theo quy tắc, không theo kết quả). Nguồn: management/DEMO_STANDARD.md §3–§4.</a:t>
            </a:r>
          </a:p>
        </p:txBody>
      </p:sp>
      <p:sp>
        <p:nvSpPr>
          <p:cNvPr id="23"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24"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Kiến trúc: điện thoại chỉ hiển thị, việc nặng nằm ở backend và ML</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SẢN PHẨM</a:t>
            </a:r>
          </a:p>
        </p:txBody>
      </p:sp>
      <p:sp>
        <p:nvSpPr>
          <p:cNvPr id="4" name="card"/>
          <p:cNvSpPr/>
          <p:nvPr/>
        </p:nvSpPr>
        <p:spPr>
          <a:xfrm>
            <a:off x="548640" y="1645920"/>
            <a:ext cx="2971800" cy="3246120"/>
          </a:xfrm>
          <a:prstGeom prst="roundRect">
            <a:avLst>
              <a:gd name="adj" fmla="val 6000"/>
            </a:avLst>
          </a:prstGeom>
          <a:solidFill>
            <a:srgbClr val="FFFFFF"/>
          </a:solidFill>
          <a:ln w="12700">
            <a:solidFill>
              <a:srgbClr val="D9DEE6"/>
            </a:solidFill>
          </a:ln>
        </p:spPr>
        <p:txBody>
          <a:bodyPr rtlCol="0" anchor="t" wrap="square" lIns="182880" rIns="182880" tIns="146304" bIns="146304">
            <a:noAutofit/>
          </a:bodyPr>
          <a:lstStyle/>
          <a:p>
            <a:pPr algn="l">
              <a:spcBef>
                <a:spcPts val="0"/>
              </a:spcBef>
              <a:spcAft>
                <a:spcPts val="100"/>
              </a:spcAft>
            </a:pPr>
            <a:r>
              <a:rPr sz="2000" b="1" i="0">
                <a:solidFill>
                  <a:srgbClr val="184F95"/>
                </a:solidFill>
                <a:latin typeface="Calibri"/>
              </a:rPr>
              <a:t>Điện thoại</a:t>
            </a:r>
          </a:p>
          <a:p>
            <a:pPr algn="l">
              <a:spcBef>
                <a:spcPts val="0"/>
              </a:spcBef>
              <a:spcAft>
                <a:spcPts val="800"/>
              </a:spcAft>
            </a:pPr>
            <a:r>
              <a:rPr sz="1300" b="0" i="0">
                <a:solidFill>
                  <a:srgbClr val="6B7482"/>
                </a:solidFill>
                <a:latin typeface="Calibri"/>
              </a:rPr>
              <a:t>Samsung Galaxy A17 5G (Android 16)</a:t>
            </a:r>
          </a:p>
          <a:p>
            <a:pPr algn="l" marL="219456" indent="-219456">
              <a:spcBef>
                <a:spcPts val="0"/>
              </a:spcBef>
              <a:spcAft>
                <a:spcPts val="500"/>
              </a:spcAft>
              <a:buClr>
                <a:srgbClr val="2A78D6"/>
              </a:buClr>
              <a:buFont typeface="Arial"/>
              <a:buChar char="•"/>
            </a:pPr>
            <a:r>
              <a:rPr sz="1400" b="0" i="0">
                <a:solidFill>
                  <a:srgbClr val="1B2430"/>
                </a:solidFill>
                <a:latin typeface="Calibri"/>
              </a:rPr>
              <a:t>Ứng dụng Expo SDK 57 · React Native 0.86.3 · React 19.2.3</a:t>
            </a:r>
          </a:p>
          <a:p>
            <a:pPr algn="l" marL="219456" indent="-219456">
              <a:spcBef>
                <a:spcPts val="0"/>
              </a:spcBef>
              <a:spcAft>
                <a:spcPts val="500"/>
              </a:spcAft>
              <a:buClr>
                <a:srgbClr val="2A78D6"/>
              </a:buClr>
              <a:buFont typeface="Arial"/>
              <a:buChar char="•"/>
            </a:pPr>
            <a:r>
              <a:rPr sz="1400" b="0" i="0">
                <a:solidFill>
                  <a:srgbClr val="1B2430"/>
                </a:solidFill>
                <a:latin typeface="Calibri"/>
              </a:rPr>
              <a:t>2D: view native + lớp phủ SVG, brush</a:t>
            </a:r>
          </a:p>
          <a:p>
            <a:pPr algn="l" marL="219456" indent="-219456">
              <a:spcBef>
                <a:spcPts val="0"/>
              </a:spcBef>
              <a:spcAft>
                <a:spcPts val="500"/>
              </a:spcAft>
              <a:buClr>
                <a:srgbClr val="2A78D6"/>
              </a:buClr>
              <a:buFont typeface="Arial"/>
              <a:buChar char="•"/>
            </a:pPr>
            <a:r>
              <a:rPr sz="1400" b="0" i="0">
                <a:solidFill>
                  <a:srgbClr val="1B2430"/>
                </a:solidFill>
                <a:latin typeface="Calibri"/>
              </a:rPr>
              <a:t>3D: WebGL2 trong react-native-webview</a:t>
            </a:r>
          </a:p>
          <a:p>
            <a:pPr algn="l" marL="219456" indent="-219456">
              <a:spcBef>
                <a:spcPts val="0"/>
              </a:spcBef>
              <a:spcAft>
                <a:spcPts val="500"/>
              </a:spcAft>
              <a:buClr>
                <a:srgbClr val="2A78D6"/>
              </a:buClr>
              <a:buFont typeface="Arial"/>
              <a:buChar char="•"/>
            </a:pPr>
            <a:r>
              <a:rPr sz="1400" b="0" i="0">
                <a:solidFill>
                  <a:srgbClr val="1B2430"/>
                </a:solidFill>
                <a:latin typeface="Calibri"/>
              </a:rPr>
              <a:t>app/core: hợp đồng, vận chuyển, 7 trạng thái màn hình</a:t>
            </a:r>
          </a:p>
        </p:txBody>
      </p:sp>
      <p:sp>
        <p:nvSpPr>
          <p:cNvPr id="5" name="card"/>
          <p:cNvSpPr/>
          <p:nvPr/>
        </p:nvSpPr>
        <p:spPr>
          <a:xfrm>
            <a:off x="4609947" y="1645920"/>
            <a:ext cx="2971800" cy="3246120"/>
          </a:xfrm>
          <a:prstGeom prst="roundRect">
            <a:avLst>
              <a:gd name="adj" fmla="val 6000"/>
            </a:avLst>
          </a:prstGeom>
          <a:solidFill>
            <a:srgbClr val="FFFFFF"/>
          </a:solidFill>
          <a:ln w="12700">
            <a:solidFill>
              <a:srgbClr val="D9DEE6"/>
            </a:solidFill>
          </a:ln>
        </p:spPr>
        <p:txBody>
          <a:bodyPr rtlCol="0" anchor="t" wrap="square" lIns="182880" rIns="182880" tIns="146304" bIns="146304">
            <a:noAutofit/>
          </a:bodyPr>
          <a:lstStyle/>
          <a:p>
            <a:pPr algn="l">
              <a:spcBef>
                <a:spcPts val="0"/>
              </a:spcBef>
              <a:spcAft>
                <a:spcPts val="100"/>
              </a:spcAft>
            </a:pPr>
            <a:r>
              <a:rPr sz="2000" b="1" i="0">
                <a:solidFill>
                  <a:srgbClr val="184F95"/>
                </a:solidFill>
                <a:latin typeface="Calibri"/>
              </a:rPr>
              <a:t>Backend</a:t>
            </a:r>
          </a:p>
          <a:p>
            <a:pPr algn="l">
              <a:spcBef>
                <a:spcPts val="0"/>
              </a:spcBef>
              <a:spcAft>
                <a:spcPts val="800"/>
              </a:spcAft>
            </a:pPr>
            <a:r>
              <a:rPr sz="1300" b="0" i="0">
                <a:solidFill>
                  <a:srgbClr val="6B7482"/>
                </a:solidFill>
                <a:latin typeface="Calibri"/>
              </a:rPr>
              <a:t>Mac mini M2 · FastAPI + SQLite</a:t>
            </a:r>
          </a:p>
          <a:p>
            <a:pPr algn="l" marL="219456" indent="-219456">
              <a:spcBef>
                <a:spcPts val="0"/>
              </a:spcBef>
              <a:spcAft>
                <a:spcPts val="500"/>
              </a:spcAft>
              <a:buClr>
                <a:srgbClr val="2A78D6"/>
              </a:buClr>
              <a:buFont typeface="Arial"/>
              <a:buChar char="•"/>
            </a:pPr>
            <a:r>
              <a:rPr sz="1400" b="0" i="0">
                <a:solidFill>
                  <a:srgbClr val="1B2430"/>
                </a:solidFill>
                <a:latin typeface="Calibri"/>
              </a:rPr>
              <a:t>28 endpoint (23 cho hero flow)</a:t>
            </a:r>
          </a:p>
          <a:p>
            <a:pPr algn="l" marL="219456" indent="-219456">
              <a:spcBef>
                <a:spcPts val="0"/>
              </a:spcBef>
              <a:spcAft>
                <a:spcPts val="500"/>
              </a:spcAft>
              <a:buClr>
                <a:srgbClr val="2A78D6"/>
              </a:buClr>
              <a:buFont typeface="Arial"/>
              <a:buChar char="•"/>
            </a:pPr>
            <a:r>
              <a:rPr sz="1400" b="0" i="0">
                <a:solidFill>
                  <a:srgbClr val="1B2430"/>
                </a:solidFill>
                <a:latin typeface="Calibri"/>
              </a:rPr>
              <a:t>Review (bất biến) và finding trong SQLite</a:t>
            </a:r>
          </a:p>
          <a:p>
            <a:pPr algn="l" marL="219456" indent="-219456">
              <a:spcBef>
                <a:spcPts val="0"/>
              </a:spcBef>
              <a:spcAft>
                <a:spcPts val="500"/>
              </a:spcAft>
              <a:buClr>
                <a:srgbClr val="2A78D6"/>
              </a:buClr>
              <a:buFont typeface="Arial"/>
              <a:buChar char="•"/>
            </a:pPr>
            <a:r>
              <a:rPr sz="1400" b="0" i="0">
                <a:solidFill>
                  <a:srgbClr val="1B2430"/>
                </a:solidFill>
                <a:latin typeface="Calibri"/>
              </a:rPr>
              <a:t>Artifact trên đĩa: PNG theo lát, mesh L0, sha256</a:t>
            </a:r>
          </a:p>
          <a:p>
            <a:pPr algn="l" marL="219456" indent="-219456">
              <a:spcBef>
                <a:spcPts val="0"/>
              </a:spcBef>
              <a:spcAft>
                <a:spcPts val="500"/>
              </a:spcAft>
              <a:buClr>
                <a:srgbClr val="2A78D6"/>
              </a:buClr>
              <a:buFont typeface="Arial"/>
              <a:buChar char="•"/>
            </a:pPr>
            <a:r>
              <a:rPr sz="1400" b="0" i="0">
                <a:solidFill>
                  <a:srgbClr val="1B2430"/>
                </a:solidFill>
                <a:latin typeface="Calibri"/>
              </a:rPr>
              <a:t>74 case phục vụ</a:t>
            </a:r>
          </a:p>
        </p:txBody>
      </p:sp>
      <p:sp>
        <p:nvSpPr>
          <p:cNvPr id="6" name="card"/>
          <p:cNvSpPr/>
          <p:nvPr/>
        </p:nvSpPr>
        <p:spPr>
          <a:xfrm>
            <a:off x="8671255" y="1645920"/>
            <a:ext cx="2971800" cy="3246120"/>
          </a:xfrm>
          <a:prstGeom prst="roundRect">
            <a:avLst>
              <a:gd name="adj" fmla="val 6000"/>
            </a:avLst>
          </a:prstGeom>
          <a:solidFill>
            <a:srgbClr val="FFFFFF"/>
          </a:solidFill>
          <a:ln w="12700">
            <a:solidFill>
              <a:srgbClr val="D9DEE6"/>
            </a:solidFill>
          </a:ln>
        </p:spPr>
        <p:txBody>
          <a:bodyPr rtlCol="0" anchor="t" wrap="square" lIns="182880" rIns="182880" tIns="146304" bIns="146304">
            <a:noAutofit/>
          </a:bodyPr>
          <a:lstStyle/>
          <a:p>
            <a:pPr algn="l">
              <a:spcBef>
                <a:spcPts val="0"/>
              </a:spcBef>
              <a:spcAft>
                <a:spcPts val="100"/>
              </a:spcAft>
            </a:pPr>
            <a:r>
              <a:rPr sz="2000" b="1" i="0">
                <a:solidFill>
                  <a:srgbClr val="184F95"/>
                </a:solidFill>
                <a:latin typeface="Calibri"/>
              </a:rPr>
              <a:t>Pipeline ML</a:t>
            </a:r>
          </a:p>
          <a:p>
            <a:pPr algn="l">
              <a:spcBef>
                <a:spcPts val="0"/>
              </a:spcBef>
              <a:spcAft>
                <a:spcPts val="800"/>
              </a:spcAft>
            </a:pPr>
            <a:r>
              <a:rPr sz="1300" b="0" i="0">
                <a:solidFill>
                  <a:srgbClr val="6B7482"/>
                </a:solidFill>
                <a:latin typeface="Calibri"/>
              </a:rPr>
              <a:t>PyTorch · máy tính riêng</a:t>
            </a:r>
          </a:p>
          <a:p>
            <a:pPr algn="l" marL="219456" indent="-219456">
              <a:spcBef>
                <a:spcPts val="0"/>
              </a:spcBef>
              <a:spcAft>
                <a:spcPts val="500"/>
              </a:spcAft>
              <a:buClr>
                <a:srgbClr val="2A78D6"/>
              </a:buClr>
              <a:buFont typeface="Arial"/>
              <a:buChar char="•"/>
            </a:pPr>
            <a:r>
              <a:rPr sz="1400" b="0" i="0">
                <a:solidFill>
                  <a:srgbClr val="1B2430"/>
                </a:solidFill>
                <a:latin typeface="Calibri"/>
              </a:rPr>
              <a:t>ml.infer → ml.postprocess → ml.evaluate</a:t>
            </a:r>
          </a:p>
          <a:p>
            <a:pPr algn="l" marL="219456" indent="-219456">
              <a:spcBef>
                <a:spcPts val="0"/>
              </a:spcBef>
              <a:spcAft>
                <a:spcPts val="500"/>
              </a:spcAft>
              <a:buClr>
                <a:srgbClr val="2A78D6"/>
              </a:buClr>
              <a:buFont typeface="Arial"/>
              <a:buChar char="•"/>
            </a:pPr>
            <a:r>
              <a:rPr sz="1400" b="0" i="0">
                <a:solidFill>
                  <a:srgbClr val="1B2430"/>
                </a:solidFill>
                <a:latin typeface="Calibri"/>
              </a:rPr>
              <a:t>DINOv2 và UNet, cùng công thức</a:t>
            </a:r>
          </a:p>
          <a:p>
            <a:pPr algn="l" marL="219456" indent="-219456">
              <a:spcBef>
                <a:spcPts val="0"/>
              </a:spcBef>
              <a:spcAft>
                <a:spcPts val="500"/>
              </a:spcAft>
              <a:buClr>
                <a:srgbClr val="2A78D6"/>
              </a:buClr>
              <a:buFont typeface="Arial"/>
              <a:buChar char="•"/>
            </a:pPr>
            <a:r>
              <a:rPr sz="1400" b="0" i="0">
                <a:solidFill>
                  <a:srgbClr val="1B2430"/>
                </a:solidFill>
                <a:latin typeface="Calibri"/>
              </a:rPr>
              <a:t>Xuất gói Contract 2 (dự đoán, chỉ số, 3D)</a:t>
            </a:r>
          </a:p>
          <a:p>
            <a:pPr algn="l" marL="219456" indent="-219456">
              <a:spcBef>
                <a:spcPts val="0"/>
              </a:spcBef>
              <a:spcAft>
                <a:spcPts val="500"/>
              </a:spcAft>
              <a:buClr>
                <a:srgbClr val="2A78D6"/>
              </a:buClr>
              <a:buFont typeface="Arial"/>
              <a:buChar char="•"/>
            </a:pPr>
            <a:r>
              <a:rPr sz="1400" b="0" i="0">
                <a:solidFill>
                  <a:srgbClr val="1B2430"/>
                </a:solidFill>
                <a:latin typeface="Calibri"/>
              </a:rPr>
              <a:t>Chỉ số theo case, CI bootstrap</a:t>
            </a:r>
          </a:p>
        </p:txBody>
      </p:sp>
      <p:cxnSp>
        <p:nvCxnSpPr>
          <p:cNvPr id="7" name="arrow"/>
          <p:cNvCxnSpPr/>
          <p:nvPr/>
        </p:nvCxnSpPr>
        <p:spPr>
          <a:xfrm>
            <a:off x="3593592" y="2743200"/>
            <a:ext cx="943203" cy="0"/>
          </a:xfrm>
          <a:prstGeom prst="line">
            <a:avLst/>
          </a:prstGeom>
          <a:ln w="25400">
            <a:solidFill>
              <a:srgbClr val="184F95"/>
            </a:solidFill>
            <a:headEnd type="triangle"/>
            <a:tailEnd type="triangle"/>
          </a:ln>
        </p:spPr>
      </p:cxnSp>
      <p:sp>
        <p:nvSpPr>
          <p:cNvPr id="8" name="arrow-label"/>
          <p:cNvSpPr txBox="1"/>
          <p:nvPr/>
        </p:nvSpPr>
        <p:spPr>
          <a:xfrm>
            <a:off x="3566160" y="1874519"/>
            <a:ext cx="998067" cy="777240"/>
          </a:xfrm>
          <a:prstGeom prst="rect">
            <a:avLst/>
          </a:prstGeom>
          <a:noFill/>
        </p:spPr>
        <p:txBody>
          <a:bodyPr wrap="square" lIns="0" rIns="0" tIns="0" bIns="0" anchor="b">
            <a:noAutofit/>
          </a:bodyPr>
          <a:lstStyle/>
          <a:p>
            <a:pPr algn="ctr">
              <a:spcBef>
                <a:spcPts val="0"/>
              </a:spcBef>
              <a:spcAft>
                <a:spcPts val="0"/>
              </a:spcAft>
            </a:pPr>
            <a:r>
              <a:rPr sz="1200" b="0" i="0">
                <a:solidFill>
                  <a:srgbClr val="4A5565"/>
                </a:solidFill>
                <a:latin typeface="Calibri"/>
              </a:rPr>
              <a:t>HTTP/JSON qua overlay riêng</a:t>
            </a:r>
          </a:p>
        </p:txBody>
      </p:sp>
      <p:sp>
        <p:nvSpPr>
          <p:cNvPr id="9" name="arrow-label"/>
          <p:cNvSpPr txBox="1"/>
          <p:nvPr/>
        </p:nvSpPr>
        <p:spPr>
          <a:xfrm>
            <a:off x="3566160" y="2834640"/>
            <a:ext cx="998067" cy="685800"/>
          </a:xfrm>
          <a:prstGeom prst="rect">
            <a:avLst/>
          </a:prstGeom>
          <a:noFill/>
        </p:spPr>
        <p:txBody>
          <a:bodyPr wrap="square" lIns="0" rIns="0" tIns="0" bIns="0" anchor="t">
            <a:noAutofit/>
          </a:bodyPr>
          <a:lstStyle/>
          <a:p>
            <a:pPr algn="ctr">
              <a:spcBef>
                <a:spcPts val="0"/>
              </a:spcBef>
              <a:spcAft>
                <a:spcPts val="0"/>
              </a:spcAft>
            </a:pPr>
            <a:r>
              <a:rPr sz="1200" b="0" i="0">
                <a:solidFill>
                  <a:srgbClr val="4A5565"/>
                </a:solidFill>
                <a:latin typeface="Calibri"/>
              </a:rPr>
              <a:t>ảnh theo lát, không tải cả khối</a:t>
            </a:r>
          </a:p>
        </p:txBody>
      </p:sp>
      <p:cxnSp>
        <p:nvCxnSpPr>
          <p:cNvPr id="10" name="arrow"/>
          <p:cNvCxnSpPr/>
          <p:nvPr/>
        </p:nvCxnSpPr>
        <p:spPr>
          <a:xfrm flipH="1">
            <a:off x="7654899" y="2743200"/>
            <a:ext cx="943204" cy="0"/>
          </a:xfrm>
          <a:prstGeom prst="line">
            <a:avLst/>
          </a:prstGeom>
          <a:ln w="25400">
            <a:solidFill>
              <a:srgbClr val="184F95"/>
            </a:solidFill>
            <a:tailEnd type="triangle"/>
          </a:ln>
        </p:spPr>
      </p:cxnSp>
      <p:sp>
        <p:nvSpPr>
          <p:cNvPr id="11" name="arrow-label"/>
          <p:cNvSpPr txBox="1"/>
          <p:nvPr/>
        </p:nvSpPr>
        <p:spPr>
          <a:xfrm>
            <a:off x="7627467" y="1874519"/>
            <a:ext cx="998067" cy="777240"/>
          </a:xfrm>
          <a:prstGeom prst="rect">
            <a:avLst/>
          </a:prstGeom>
          <a:noFill/>
        </p:spPr>
        <p:txBody>
          <a:bodyPr wrap="square" lIns="0" rIns="0" tIns="0" bIns="0" anchor="b">
            <a:noAutofit/>
          </a:bodyPr>
          <a:lstStyle/>
          <a:p>
            <a:pPr algn="ctr">
              <a:spcBef>
                <a:spcPts val="0"/>
              </a:spcBef>
              <a:spcAft>
                <a:spcPts val="0"/>
              </a:spcAft>
            </a:pPr>
            <a:r>
              <a:rPr sz="1200" b="0" i="0">
                <a:solidFill>
                  <a:srgbClr val="4A5565"/>
                </a:solidFill>
                <a:latin typeface="Calibri"/>
              </a:rPr>
              <a:t>gói Contract 2</a:t>
            </a:r>
          </a:p>
        </p:txBody>
      </p:sp>
      <p:sp>
        <p:nvSpPr>
          <p:cNvPr id="12" name="card:contracts"/>
          <p:cNvSpPr/>
          <p:nvPr/>
        </p:nvSpPr>
        <p:spPr>
          <a:xfrm>
            <a:off x="548640" y="5120640"/>
            <a:ext cx="11094415" cy="914400"/>
          </a:xfrm>
          <a:prstGeom prst="roundRect">
            <a:avLst>
              <a:gd name="adj" fmla="val 6000"/>
            </a:avLst>
          </a:prstGeom>
          <a:solidFill>
            <a:srgbClr val="E8F0FB"/>
          </a:solidFill>
          <a:ln>
            <a:noFill/>
          </a:ln>
        </p:spPr>
        <p:txBody>
          <a:bodyPr rtlCol="0" anchor="ctr" wrap="square" lIns="228600" rIns="228600" tIns="182880" bIns="182880">
            <a:noAutofit/>
          </a:bodyPr>
          <a:lstStyle/>
          <a:p>
            <a:pPr algn="l">
              <a:spcBef>
                <a:spcPts val="0"/>
              </a:spcBef>
              <a:spcAft>
                <a:spcPts val="600"/>
              </a:spcAft>
            </a:pPr>
            <a:r>
              <a:rPr sz="1500" b="1" i="0">
                <a:solidFill>
                  <a:srgbClr val="1B2430"/>
                </a:solidFill>
                <a:latin typeface="Calibri"/>
              </a:rPr>
              <a:t>Hợp đồng dùng chung, CI kiểm:</a:t>
            </a:r>
            <a:r>
              <a:rPr sz="1500" b="0" i="0">
                <a:solidFill>
                  <a:srgbClr val="1B2430"/>
                </a:solidFill>
                <a:latin typeface="Calibri"/>
              </a:rPr>
              <a:t> API Contract 1.1.0 · Contract 2 (gói thí nghiệm) · geometry contract (fixture voxel ↔ lát ↔ thế giới, cả backend và app đều phải qua cùng fixture)</a:t>
            </a:r>
          </a:p>
        </p:txBody>
      </p:sp>
      <p:sp>
        <p:nvSpPr>
          <p:cNvPr id="13" name="source"/>
          <p:cNvSpPr txBox="1"/>
          <p:nvPr/>
        </p:nvSpPr>
        <p:spPr>
          <a:xfrm>
            <a:off x="548640" y="6126480"/>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Nguồn: docs/specs/v1.0/09, management/adr/TECH_STACK_ADR.md, backend/README.md, mobile/README.md.</a:t>
            </a:r>
          </a:p>
        </p:txBody>
      </p:sp>
      <p:sp>
        <p:nvSpPr>
          <p:cNvPr id="14"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15"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Dữ liệu chia đóng băng, holdout khoá, không rò rỉ theo từng case</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DỮ LIỆU VÀ QUẢN TRỊ</a:t>
            </a:r>
          </a:p>
        </p:txBody>
      </p:sp>
      <p:sp>
        <p:nvSpPr>
          <p:cNvPr id="4" name="label"/>
          <p:cNvSpPr txBox="1"/>
          <p:nvPr/>
        </p:nvSpPr>
        <p:spPr>
          <a:xfrm>
            <a:off x="548640" y="1645920"/>
            <a:ext cx="6035040" cy="274320"/>
          </a:xfrm>
          <a:prstGeom prst="rect">
            <a:avLst/>
          </a:prstGeom>
          <a:noFill/>
        </p:spPr>
        <p:txBody>
          <a:bodyPr wrap="square" lIns="0" rIns="0" tIns="0" bIns="0" anchor="t">
            <a:noAutofit/>
          </a:bodyPr>
          <a:lstStyle/>
          <a:p>
            <a:pPr algn="l">
              <a:spcBef>
                <a:spcPts val="0"/>
              </a:spcBef>
              <a:spcAft>
                <a:spcPts val="600"/>
              </a:spcAft>
            </a:pPr>
            <a:r>
              <a:rPr sz="1300" b="1" i="0">
                <a:solidFill>
                  <a:srgbClr val="4A5565"/>
                </a:solidFill>
                <a:latin typeface="Calibri"/>
              </a:rPr>
              <a:t>Chia theo case (dữ liệu gốc 154 case)</a:t>
            </a:r>
          </a:p>
        </p:txBody>
      </p:sp>
      <p:sp>
        <p:nvSpPr>
          <p:cNvPr id="5" name="bar"/>
          <p:cNvSpPr/>
          <p:nvPr/>
        </p:nvSpPr>
        <p:spPr>
          <a:xfrm>
            <a:off x="548640" y="2011680"/>
            <a:ext cx="3098509" cy="868680"/>
          </a:xfrm>
          <a:prstGeom prst="rect">
            <a:avLst/>
          </a:prstGeom>
          <a:solidFill>
            <a:srgbClr val="184F95"/>
          </a:solidFill>
          <a:ln>
            <a:noFill/>
          </a:ln>
        </p:spPr>
        <p:txBody>
          <a:bodyPr rtlCol="0" anchor="ctr" wrap="square" lIns="36576" rIns="36576" tIns="29260" bIns="29260">
            <a:noAutofit/>
          </a:bodyPr>
          <a:lstStyle/>
          <a:p>
            <a:pPr algn="ctr">
              <a:spcBef>
                <a:spcPts val="0"/>
              </a:spcBef>
              <a:spcAft>
                <a:spcPts val="0"/>
              </a:spcAft>
            </a:pPr>
            <a:r>
              <a:rPr sz="1300" b="1" i="0">
                <a:solidFill>
                  <a:srgbClr val="FFFFFF"/>
                </a:solidFill>
                <a:latin typeface="Calibri"/>
              </a:rPr>
              <a:t>Train</a:t>
            </a:r>
          </a:p>
          <a:p>
            <a:pPr algn="ctr">
              <a:spcBef>
                <a:spcPts val="0"/>
              </a:spcBef>
              <a:spcAft>
                <a:spcPts val="0"/>
              </a:spcAft>
            </a:pPr>
            <a:r>
              <a:rPr sz="1800" b="1" i="0">
                <a:solidFill>
                  <a:srgbClr val="FFFFFF"/>
                </a:solidFill>
                <a:latin typeface="Calibri"/>
              </a:rPr>
              <a:t>80</a:t>
            </a:r>
          </a:p>
        </p:txBody>
      </p:sp>
      <p:sp>
        <p:nvSpPr>
          <p:cNvPr id="6" name="bar"/>
          <p:cNvSpPr/>
          <p:nvPr/>
        </p:nvSpPr>
        <p:spPr>
          <a:xfrm>
            <a:off x="3683725" y="2011680"/>
            <a:ext cx="747195" cy="868680"/>
          </a:xfrm>
          <a:prstGeom prst="rect">
            <a:avLst/>
          </a:prstGeom>
          <a:solidFill>
            <a:srgbClr val="2A78D6"/>
          </a:solidFill>
          <a:ln>
            <a:noFill/>
          </a:ln>
        </p:spPr>
        <p:txBody>
          <a:bodyPr rtlCol="0" anchor="ctr" wrap="square" lIns="36576" rIns="36576" tIns="29260" bIns="29260">
            <a:noAutofit/>
          </a:bodyPr>
          <a:lstStyle/>
          <a:p>
            <a:pPr algn="ctr">
              <a:spcBef>
                <a:spcPts val="0"/>
              </a:spcBef>
              <a:spcAft>
                <a:spcPts val="0"/>
              </a:spcAft>
            </a:pPr>
            <a:r>
              <a:rPr sz="1300" b="1" i="0">
                <a:solidFill>
                  <a:srgbClr val="FFFFFF"/>
                </a:solidFill>
                <a:latin typeface="Calibri"/>
              </a:rPr>
              <a:t>Val</a:t>
            </a:r>
          </a:p>
          <a:p>
            <a:pPr algn="ctr">
              <a:spcBef>
                <a:spcPts val="0"/>
              </a:spcBef>
              <a:spcAft>
                <a:spcPts val="0"/>
              </a:spcAft>
            </a:pPr>
            <a:r>
              <a:rPr sz="1800" b="1" i="0">
                <a:solidFill>
                  <a:srgbClr val="FFFFFF"/>
                </a:solidFill>
                <a:latin typeface="Calibri"/>
              </a:rPr>
              <a:t>20</a:t>
            </a:r>
          </a:p>
        </p:txBody>
      </p:sp>
      <p:sp>
        <p:nvSpPr>
          <p:cNvPr id="7" name="bar"/>
          <p:cNvSpPr/>
          <p:nvPr/>
        </p:nvSpPr>
        <p:spPr>
          <a:xfrm>
            <a:off x="4467497" y="2011680"/>
            <a:ext cx="2079606" cy="868680"/>
          </a:xfrm>
          <a:prstGeom prst="rect">
            <a:avLst/>
          </a:prstGeom>
          <a:solidFill>
            <a:srgbClr val="0D366B"/>
          </a:solidFill>
          <a:ln>
            <a:noFill/>
          </a:ln>
        </p:spPr>
        <p:txBody>
          <a:bodyPr rtlCol="0" anchor="ctr" wrap="square" lIns="36576" rIns="36576" tIns="29260" bIns="29260">
            <a:noAutofit/>
          </a:bodyPr>
          <a:lstStyle/>
          <a:p>
            <a:pPr algn="ctr">
              <a:spcBef>
                <a:spcPts val="0"/>
              </a:spcBef>
              <a:spcAft>
                <a:spcPts val="0"/>
              </a:spcAft>
            </a:pPr>
            <a:r>
              <a:rPr sz="1300" b="1" i="0">
                <a:solidFill>
                  <a:srgbClr val="FFFFFF"/>
                </a:solidFill>
                <a:latin typeface="Calibri"/>
              </a:rPr>
              <a:t>Holdout</a:t>
            </a:r>
          </a:p>
          <a:p>
            <a:pPr algn="ctr">
              <a:spcBef>
                <a:spcPts val="0"/>
              </a:spcBef>
              <a:spcAft>
                <a:spcPts val="0"/>
              </a:spcAft>
            </a:pPr>
            <a:r>
              <a:rPr sz="1800" b="1" i="0">
                <a:solidFill>
                  <a:srgbClr val="FFFFFF"/>
                </a:solidFill>
                <a:latin typeface="Calibri"/>
              </a:rPr>
              <a:t>54</a:t>
            </a:r>
          </a:p>
        </p:txBody>
      </p:sp>
      <p:sp>
        <p:nvSpPr>
          <p:cNvPr id="8" name="caption"/>
          <p:cNvSpPr txBox="1"/>
          <p:nvPr/>
        </p:nvSpPr>
        <p:spPr>
          <a:xfrm>
            <a:off x="548640" y="2944368"/>
            <a:ext cx="3017520" cy="457200"/>
          </a:xfrm>
          <a:prstGeom prst="rect">
            <a:avLst/>
          </a:prstGeom>
          <a:noFill/>
        </p:spPr>
        <p:txBody>
          <a:bodyPr wrap="square" lIns="0" rIns="0" tIns="0" bIns="0" anchor="t">
            <a:noAutofit/>
          </a:bodyPr>
          <a:lstStyle/>
          <a:p>
            <a:pPr algn="l">
              <a:spcBef>
                <a:spcPts val="0"/>
              </a:spcBef>
              <a:spcAft>
                <a:spcPts val="600"/>
              </a:spcAft>
            </a:pPr>
            <a:r>
              <a:rPr sz="1200" b="0" i="0">
                <a:solidFill>
                  <a:srgbClr val="6B7482"/>
                </a:solidFill>
                <a:latin typeface="Calibri"/>
              </a:rPr>
              <a:t>hiệu dụng 78 sau DR-002b</a:t>
            </a:r>
          </a:p>
        </p:txBody>
      </p:sp>
      <p:sp>
        <p:nvSpPr>
          <p:cNvPr id="9" name="label"/>
          <p:cNvSpPr txBox="1"/>
          <p:nvPr/>
        </p:nvSpPr>
        <p:spPr>
          <a:xfrm>
            <a:off x="548640" y="3611880"/>
            <a:ext cx="6035040" cy="274320"/>
          </a:xfrm>
          <a:prstGeom prst="rect">
            <a:avLst/>
          </a:prstGeom>
          <a:noFill/>
        </p:spPr>
        <p:txBody>
          <a:bodyPr wrap="square" lIns="0" rIns="0" tIns="0" bIns="0" anchor="t">
            <a:noAutofit/>
          </a:bodyPr>
          <a:lstStyle/>
          <a:p>
            <a:pPr algn="l">
              <a:spcBef>
                <a:spcPts val="0"/>
              </a:spcBef>
              <a:spcAft>
                <a:spcPts val="600"/>
              </a:spcAft>
            </a:pPr>
            <a:r>
              <a:rPr sz="1300" b="1" i="0">
                <a:solidFill>
                  <a:srgbClr val="4A5565"/>
                </a:solidFill>
                <a:latin typeface="Calibri"/>
              </a:rPr>
              <a:t>Tập con huấn luyện lồng nhau (case hiệu dụng)</a:t>
            </a:r>
          </a:p>
        </p:txBody>
      </p:sp>
      <p:sp>
        <p:nvSpPr>
          <p:cNvPr id="10" name="bar-label"/>
          <p:cNvSpPr txBox="1"/>
          <p:nvPr/>
        </p:nvSpPr>
        <p:spPr>
          <a:xfrm>
            <a:off x="548640" y="4023360"/>
            <a:ext cx="640080" cy="347472"/>
          </a:xfrm>
          <a:prstGeom prst="rect">
            <a:avLst/>
          </a:prstGeom>
          <a:noFill/>
        </p:spPr>
        <p:txBody>
          <a:bodyPr wrap="square" lIns="0" rIns="0" tIns="0" bIns="0" anchor="ctr">
            <a:noAutofit/>
          </a:bodyPr>
          <a:lstStyle/>
          <a:p>
            <a:pPr algn="l">
              <a:spcBef>
                <a:spcPts val="0"/>
              </a:spcBef>
              <a:spcAft>
                <a:spcPts val="600"/>
              </a:spcAft>
            </a:pPr>
            <a:r>
              <a:rPr sz="1400" b="1" i="0">
                <a:solidFill>
                  <a:srgbClr val="1B2430"/>
                </a:solidFill>
                <a:latin typeface="Calibri"/>
              </a:rPr>
              <a:t>25 %</a:t>
            </a:r>
          </a:p>
        </p:txBody>
      </p:sp>
      <p:sp>
        <p:nvSpPr>
          <p:cNvPr id="11" name="bar"/>
          <p:cNvSpPr/>
          <p:nvPr/>
        </p:nvSpPr>
        <p:spPr>
          <a:xfrm>
            <a:off x="1280160" y="4059936"/>
            <a:ext cx="1078523" cy="274320"/>
          </a:xfrm>
          <a:prstGeom prst="rect">
            <a:avLst/>
          </a:prstGeom>
          <a:solidFill>
            <a:srgbClr val="2A78D6"/>
          </a:solidFill>
          <a:ln>
            <a:noFill/>
          </a:ln>
        </p:spPr>
        <p:txBody>
          <a:bodyPr rtlCol="0" anchor="ctr" wrap="square" lIns="128016" rIns="128016" tIns="102412" bIns="102412">
            <a:noAutofit/>
          </a:bodyPr>
          <a:lstStyle/>
          <a:p>
            <a:pPr algn="ctr"/>
          </a:p>
        </p:txBody>
      </p:sp>
      <p:sp>
        <p:nvSpPr>
          <p:cNvPr id="12" name="bar-value"/>
          <p:cNvSpPr txBox="1"/>
          <p:nvPr/>
        </p:nvSpPr>
        <p:spPr>
          <a:xfrm>
            <a:off x="2450123" y="4023360"/>
            <a:ext cx="914400" cy="347472"/>
          </a:xfrm>
          <a:prstGeom prst="rect">
            <a:avLst/>
          </a:prstGeom>
          <a:noFill/>
        </p:spPr>
        <p:txBody>
          <a:bodyPr wrap="square" lIns="0" rIns="0" tIns="0" bIns="0" anchor="ctr">
            <a:noAutofit/>
          </a:bodyPr>
          <a:lstStyle/>
          <a:p>
            <a:pPr algn="l">
              <a:spcBef>
                <a:spcPts val="0"/>
              </a:spcBef>
              <a:spcAft>
                <a:spcPts val="600"/>
              </a:spcAft>
            </a:pPr>
            <a:r>
              <a:rPr sz="1400" b="0" i="0">
                <a:solidFill>
                  <a:srgbClr val="1B2430"/>
                </a:solidFill>
                <a:latin typeface="Calibri"/>
              </a:rPr>
              <a:t>20 case</a:t>
            </a:r>
          </a:p>
        </p:txBody>
      </p:sp>
      <p:sp>
        <p:nvSpPr>
          <p:cNvPr id="13" name="bar-label"/>
          <p:cNvSpPr txBox="1"/>
          <p:nvPr/>
        </p:nvSpPr>
        <p:spPr>
          <a:xfrm>
            <a:off x="548640" y="4480560"/>
            <a:ext cx="640080" cy="347472"/>
          </a:xfrm>
          <a:prstGeom prst="rect">
            <a:avLst/>
          </a:prstGeom>
          <a:noFill/>
        </p:spPr>
        <p:txBody>
          <a:bodyPr wrap="square" lIns="0" rIns="0" tIns="0" bIns="0" anchor="ctr">
            <a:noAutofit/>
          </a:bodyPr>
          <a:lstStyle/>
          <a:p>
            <a:pPr algn="l">
              <a:spcBef>
                <a:spcPts val="0"/>
              </a:spcBef>
              <a:spcAft>
                <a:spcPts val="600"/>
              </a:spcAft>
            </a:pPr>
            <a:r>
              <a:rPr sz="1400" b="1" i="0">
                <a:solidFill>
                  <a:srgbClr val="1B2430"/>
                </a:solidFill>
                <a:latin typeface="Calibri"/>
              </a:rPr>
              <a:t>50 %</a:t>
            </a:r>
          </a:p>
        </p:txBody>
      </p:sp>
      <p:sp>
        <p:nvSpPr>
          <p:cNvPr id="14" name="bar"/>
          <p:cNvSpPr/>
          <p:nvPr/>
        </p:nvSpPr>
        <p:spPr>
          <a:xfrm>
            <a:off x="1280160" y="4517136"/>
            <a:ext cx="2049193" cy="274320"/>
          </a:xfrm>
          <a:prstGeom prst="rect">
            <a:avLst/>
          </a:prstGeom>
          <a:solidFill>
            <a:srgbClr val="2A78D6"/>
          </a:solidFill>
          <a:ln>
            <a:noFill/>
          </a:ln>
        </p:spPr>
        <p:txBody>
          <a:bodyPr rtlCol="0" anchor="ctr" wrap="square" lIns="128016" rIns="128016" tIns="102412" bIns="102412">
            <a:noAutofit/>
          </a:bodyPr>
          <a:lstStyle/>
          <a:p>
            <a:pPr algn="ctr"/>
          </a:p>
        </p:txBody>
      </p:sp>
      <p:sp>
        <p:nvSpPr>
          <p:cNvPr id="15" name="bar-value"/>
          <p:cNvSpPr txBox="1"/>
          <p:nvPr/>
        </p:nvSpPr>
        <p:spPr>
          <a:xfrm>
            <a:off x="3420793" y="4480560"/>
            <a:ext cx="914400" cy="347472"/>
          </a:xfrm>
          <a:prstGeom prst="rect">
            <a:avLst/>
          </a:prstGeom>
          <a:noFill/>
        </p:spPr>
        <p:txBody>
          <a:bodyPr wrap="square" lIns="0" rIns="0" tIns="0" bIns="0" anchor="ctr">
            <a:noAutofit/>
          </a:bodyPr>
          <a:lstStyle/>
          <a:p>
            <a:pPr algn="l">
              <a:spcBef>
                <a:spcPts val="0"/>
              </a:spcBef>
              <a:spcAft>
                <a:spcPts val="600"/>
              </a:spcAft>
            </a:pPr>
            <a:r>
              <a:rPr sz="1400" b="0" i="0">
                <a:solidFill>
                  <a:srgbClr val="1B2430"/>
                </a:solidFill>
                <a:latin typeface="Calibri"/>
              </a:rPr>
              <a:t>38 case</a:t>
            </a:r>
          </a:p>
        </p:txBody>
      </p:sp>
      <p:sp>
        <p:nvSpPr>
          <p:cNvPr id="16" name="bar-label"/>
          <p:cNvSpPr txBox="1"/>
          <p:nvPr/>
        </p:nvSpPr>
        <p:spPr>
          <a:xfrm>
            <a:off x="548640" y="4937760"/>
            <a:ext cx="640080" cy="347472"/>
          </a:xfrm>
          <a:prstGeom prst="rect">
            <a:avLst/>
          </a:prstGeom>
          <a:noFill/>
        </p:spPr>
        <p:txBody>
          <a:bodyPr wrap="square" lIns="0" rIns="0" tIns="0" bIns="0" anchor="ctr">
            <a:noAutofit/>
          </a:bodyPr>
          <a:lstStyle/>
          <a:p>
            <a:pPr algn="l">
              <a:spcBef>
                <a:spcPts val="0"/>
              </a:spcBef>
              <a:spcAft>
                <a:spcPts val="600"/>
              </a:spcAft>
            </a:pPr>
            <a:r>
              <a:rPr sz="1400" b="1" i="0">
                <a:solidFill>
                  <a:srgbClr val="1B2430"/>
                </a:solidFill>
                <a:latin typeface="Calibri"/>
              </a:rPr>
              <a:t>100 %</a:t>
            </a:r>
          </a:p>
        </p:txBody>
      </p:sp>
      <p:sp>
        <p:nvSpPr>
          <p:cNvPr id="17" name="bar"/>
          <p:cNvSpPr/>
          <p:nvPr/>
        </p:nvSpPr>
        <p:spPr>
          <a:xfrm>
            <a:off x="1280160" y="4974336"/>
            <a:ext cx="4206240" cy="274320"/>
          </a:xfrm>
          <a:prstGeom prst="rect">
            <a:avLst/>
          </a:prstGeom>
          <a:solidFill>
            <a:srgbClr val="2A78D6"/>
          </a:solidFill>
          <a:ln>
            <a:noFill/>
          </a:ln>
        </p:spPr>
        <p:txBody>
          <a:bodyPr rtlCol="0" anchor="ctr" wrap="square" lIns="128016" rIns="128016" tIns="102412" bIns="102412">
            <a:noAutofit/>
          </a:bodyPr>
          <a:lstStyle/>
          <a:p>
            <a:pPr algn="ctr"/>
          </a:p>
        </p:txBody>
      </p:sp>
      <p:sp>
        <p:nvSpPr>
          <p:cNvPr id="18" name="bar-value"/>
          <p:cNvSpPr txBox="1"/>
          <p:nvPr/>
        </p:nvSpPr>
        <p:spPr>
          <a:xfrm>
            <a:off x="5577840" y="4937760"/>
            <a:ext cx="914400" cy="347472"/>
          </a:xfrm>
          <a:prstGeom prst="rect">
            <a:avLst/>
          </a:prstGeom>
          <a:noFill/>
        </p:spPr>
        <p:txBody>
          <a:bodyPr wrap="square" lIns="0" rIns="0" tIns="0" bIns="0" anchor="ctr">
            <a:noAutofit/>
          </a:bodyPr>
          <a:lstStyle/>
          <a:p>
            <a:pPr algn="l">
              <a:spcBef>
                <a:spcPts val="0"/>
              </a:spcBef>
              <a:spcAft>
                <a:spcPts val="600"/>
              </a:spcAft>
            </a:pPr>
            <a:r>
              <a:rPr sz="1400" b="0" i="0">
                <a:solidFill>
                  <a:srgbClr val="1B2430"/>
                </a:solidFill>
                <a:latin typeface="Calibri"/>
              </a:rPr>
              <a:t>78 case</a:t>
            </a:r>
          </a:p>
        </p:txBody>
      </p:sp>
      <p:sp>
        <p:nvSpPr>
          <p:cNvPr id="19" name="card"/>
          <p:cNvSpPr/>
          <p:nvPr/>
        </p:nvSpPr>
        <p:spPr>
          <a:xfrm>
            <a:off x="7040880" y="1645920"/>
            <a:ext cx="4602175" cy="1371600"/>
          </a:xfrm>
          <a:prstGeom prst="roundRect">
            <a:avLst>
              <a:gd name="adj" fmla="val 6000"/>
            </a:avLst>
          </a:prstGeom>
          <a:solidFill>
            <a:srgbClr val="FFFFFF"/>
          </a:solidFill>
          <a:ln w="12700">
            <a:solidFill>
              <a:srgbClr val="D9DEE6"/>
            </a:solidFill>
          </a:ln>
        </p:spPr>
        <p:txBody>
          <a:bodyPr rtlCol="0" anchor="t" wrap="square" lIns="164592" rIns="164592" tIns="131673" bIns="131673">
            <a:noAutofit/>
          </a:bodyPr>
          <a:lstStyle/>
          <a:p>
            <a:pPr algn="l">
              <a:spcBef>
                <a:spcPts val="0"/>
              </a:spcBef>
              <a:spcAft>
                <a:spcPts val="400"/>
              </a:spcAft>
            </a:pPr>
            <a:r>
              <a:rPr sz="1700" b="1" i="0">
                <a:solidFill>
                  <a:srgbClr val="184F95"/>
                </a:solidFill>
                <a:latin typeface="Calibri"/>
              </a:rPr>
              <a:t>Holdout khoá</a:t>
            </a:r>
          </a:p>
          <a:p>
            <a:pPr algn="l">
              <a:spcBef>
                <a:spcPts val="0"/>
              </a:spcBef>
              <a:spcAft>
                <a:spcPts val="600"/>
              </a:spcAft>
            </a:pPr>
            <a:r>
              <a:rPr sz="1400" b="0" i="0">
                <a:solidFill>
                  <a:srgbClr val="1B2430"/>
                </a:solidFill>
                <a:latin typeface="Calibri"/>
              </a:rPr>
              <a:t>54 case chỉ chấm đúng một lần, sau khi GATE-IMG-01 đóng; không dùng để chọn mô hình, ngưỡng hay hậu xử lý.</a:t>
            </a:r>
          </a:p>
        </p:txBody>
      </p:sp>
      <p:sp>
        <p:nvSpPr>
          <p:cNvPr id="20" name="card"/>
          <p:cNvSpPr/>
          <p:nvPr/>
        </p:nvSpPr>
        <p:spPr>
          <a:xfrm>
            <a:off x="7040880" y="3127248"/>
            <a:ext cx="4602175" cy="1371600"/>
          </a:xfrm>
          <a:prstGeom prst="roundRect">
            <a:avLst>
              <a:gd name="adj" fmla="val 6000"/>
            </a:avLst>
          </a:prstGeom>
          <a:solidFill>
            <a:srgbClr val="FFFFFF"/>
          </a:solidFill>
          <a:ln w="12700">
            <a:solidFill>
              <a:srgbClr val="D9DEE6"/>
            </a:solidFill>
          </a:ln>
        </p:spPr>
        <p:txBody>
          <a:bodyPr rtlCol="0" anchor="t" wrap="square" lIns="164592" rIns="164592" tIns="131673" bIns="131673">
            <a:noAutofit/>
          </a:bodyPr>
          <a:lstStyle/>
          <a:p>
            <a:pPr algn="l">
              <a:spcBef>
                <a:spcPts val="0"/>
              </a:spcBef>
              <a:spcAft>
                <a:spcPts val="400"/>
              </a:spcAft>
            </a:pPr>
            <a:r>
              <a:rPr sz="1700" b="1" i="0">
                <a:solidFill>
                  <a:srgbClr val="184F95"/>
                </a:solidFill>
                <a:latin typeface="Calibri"/>
              </a:rPr>
              <a:t>Không rò rỉ theo case</a:t>
            </a:r>
          </a:p>
          <a:p>
            <a:pPr algn="l">
              <a:spcBef>
                <a:spcPts val="0"/>
              </a:spcBef>
              <a:spcAft>
                <a:spcPts val="600"/>
              </a:spcAft>
            </a:pPr>
            <a:r>
              <a:rPr sz="1400" b="0" i="0">
                <a:solidFill>
                  <a:srgbClr val="1B2430"/>
                </a:solidFill>
                <a:latin typeface="Calibri"/>
              </a:rPr>
              <a:t>Kho mã công khai chỉ có số tổng hợp (trung bình, CI, delta). Số theo từng case, ảnh MRI và mặt nạ nằm ngoài git.</a:t>
            </a:r>
          </a:p>
        </p:txBody>
      </p:sp>
      <p:sp>
        <p:nvSpPr>
          <p:cNvPr id="21" name="card"/>
          <p:cNvSpPr/>
          <p:nvPr/>
        </p:nvSpPr>
        <p:spPr>
          <a:xfrm>
            <a:off x="7040880" y="4608576"/>
            <a:ext cx="4602175" cy="1371600"/>
          </a:xfrm>
          <a:prstGeom prst="roundRect">
            <a:avLst>
              <a:gd name="adj" fmla="val 6000"/>
            </a:avLst>
          </a:prstGeom>
          <a:solidFill>
            <a:srgbClr val="FFFFFF"/>
          </a:solidFill>
          <a:ln w="12700">
            <a:solidFill>
              <a:srgbClr val="D9DEE6"/>
            </a:solidFill>
          </a:ln>
        </p:spPr>
        <p:txBody>
          <a:bodyPr rtlCol="0" anchor="t" wrap="square" lIns="164592" rIns="164592" tIns="131673" bIns="131673">
            <a:noAutofit/>
          </a:bodyPr>
          <a:lstStyle/>
          <a:p>
            <a:pPr algn="l">
              <a:spcBef>
                <a:spcPts val="0"/>
              </a:spcBef>
              <a:spcAft>
                <a:spcPts val="400"/>
              </a:spcAft>
            </a:pPr>
            <a:r>
              <a:rPr sz="1700" b="1" i="0">
                <a:solidFill>
                  <a:srgbClr val="184F95"/>
                </a:solidFill>
                <a:latin typeface="Calibri"/>
              </a:rPr>
              <a:t>INT-12: ẩn, không mù</a:t>
            </a:r>
          </a:p>
          <a:p>
            <a:pPr algn="l">
              <a:spcBef>
                <a:spcPts val="0"/>
              </a:spcBef>
              <a:spcAft>
                <a:spcPts val="600"/>
              </a:spcAft>
            </a:pPr>
            <a:r>
              <a:rPr sz="1400" b="0" i="0">
                <a:solidFill>
                  <a:srgbClr val="1B2430"/>
                </a:solidFill>
                <a:latin typeface="Calibri"/>
              </a:rPr>
              <a:t>Một case holdout dùng như case chỉ-suy-luận trong app. Vẫn nằm trong 54 case, nên thống kê cohort có thể suy ra giá trị của nó (DR-017).</a:t>
            </a:r>
          </a:p>
        </p:txBody>
      </p:sp>
      <p:sp>
        <p:nvSpPr>
          <p:cNvPr id="22" name="source"/>
          <p:cNvSpPr txBox="1"/>
          <p:nvPr/>
        </p:nvSpPr>
        <p:spPr>
          <a:xfrm>
            <a:off x="548640" y="6089904"/>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Nguồn: management/spikes/SPIKE_D_DATASET/SPLIT_RESULT.md, management/day39/RESULTS_HOLDOUT_DINOV2.md, DR-002b, DR-017.</a:t>
            </a:r>
          </a:p>
        </p:txBody>
      </p:sp>
      <p:sp>
        <p:nvSpPr>
          <p:cNvPr id="23"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24"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Một công thức huấn luyện, chỉ khác dữ liệu và mô hình</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HỌC MÁY · PHƯƠNG PHÁP</a:t>
            </a:r>
          </a:p>
        </p:txBody>
      </p:sp>
      <p:graphicFrame>
        <p:nvGraphicFramePr>
          <p:cNvPr id="4" name="table"/>
          <p:cNvGraphicFramePr>
            <a:graphicFrameLocks noGrp="1"/>
          </p:cNvGraphicFramePr>
          <p:nvPr/>
        </p:nvGraphicFramePr>
        <p:xfrm>
          <a:off x="548640" y="1645920"/>
          <a:ext cx="5852160" cy="3995928"/>
        </p:xfrm>
        <a:graphic>
          <a:graphicData uri="http://schemas.openxmlformats.org/drawingml/2006/table">
            <a:tbl>
              <a:tblPr firstRow="1" bandRow="0">
                <a:tableStyleId>{2D5ABB26-0587-4C30-8999-92F81FD0307C}</a:tableStyleId>
              </a:tblPr>
              <a:tblGrid>
                <a:gridCol w="1554480"/>
                <a:gridCol w="4297680"/>
              </a:tblGrid>
              <a:tr h="411480">
                <a:tc>
                  <a:txBody>
                    <a:bodyPr wrap="square"/>
                    <a:lstStyle/>
                    <a:p>
                      <a:pPr algn="l">
                        <a:spcBef>
                          <a:spcPts val="0"/>
                        </a:spcBef>
                        <a:spcAft>
                          <a:spcPts val="0"/>
                        </a:spcAft>
                      </a:pPr>
                      <a:r>
                        <a:rPr sz="1300" b="1" i="0">
                          <a:solidFill>
                            <a:srgbClr val="FFFFFF"/>
                          </a:solidFill>
                          <a:latin typeface="Calibri"/>
                        </a:rPr>
                        <a:t>Hạng mục</a:t>
                      </a:r>
                    </a:p>
                  </a:txBody>
                  <a:tcPr marL="91440" marR="91440" marT="36576" marB="36576" anchor="ctr">
                    <a:lnB w="9525" cap="flat" cmpd="sng" algn="ctr">
                      <a:solidFill>
                        <a:srgbClr val="D9DEE6"/>
                      </a:solidFill>
                    </a:lnB>
                    <a:solidFill>
                      <a:srgbClr val="184F95"/>
                    </a:solidFill>
                  </a:tcPr>
                </a:tc>
                <a:tc>
                  <a:txBody>
                    <a:bodyPr wrap="square"/>
                    <a:lstStyle/>
                    <a:p>
                      <a:pPr algn="l">
                        <a:spcBef>
                          <a:spcPts val="0"/>
                        </a:spcBef>
                        <a:spcAft>
                          <a:spcPts val="0"/>
                        </a:spcAft>
                      </a:pPr>
                      <a:r>
                        <a:rPr sz="1300" b="1" i="0">
                          <a:solidFill>
                            <a:srgbClr val="FFFFFF"/>
                          </a:solidFill>
                          <a:latin typeface="Calibri"/>
                        </a:rPr>
                        <a:t>Giá trị đóng băng</a:t>
                      </a:r>
                    </a:p>
                  </a:txBody>
                  <a:tcPr marL="91440" marR="91440" marT="36576" marB="36576" anchor="ctr">
                    <a:lnB w="9525" cap="flat" cmpd="sng" algn="ctr">
                      <a:solidFill>
                        <a:srgbClr val="D9DEE6"/>
                      </a:solidFill>
                    </a:lnB>
                    <a:solidFill>
                      <a:srgbClr val="184F95"/>
                    </a:solidFill>
                  </a:tcPr>
                </a:tc>
              </a:tr>
              <a:tr h="512064">
                <a:tc>
                  <a:txBody>
                    <a:bodyPr wrap="square"/>
                    <a:lstStyle/>
                    <a:p>
                      <a:pPr algn="l">
                        <a:spcBef>
                          <a:spcPts val="0"/>
                        </a:spcBef>
                        <a:spcAft>
                          <a:spcPts val="0"/>
                        </a:spcAft>
                      </a:pPr>
                      <a:r>
                        <a:rPr sz="1300" b="1" i="0">
                          <a:solidFill>
                            <a:srgbClr val="1B2430"/>
                          </a:solidFill>
                          <a:latin typeface="Calibri"/>
                        </a:rPr>
                        <a:t>DINOv2</a:t>
                      </a:r>
                    </a:p>
                  </a:txBody>
                  <a:tcPr marL="91440" marR="91440" marT="36576" marB="36576" anchor="ctr">
                    <a:lnB w="9525" cap="flat" cmpd="sng" algn="ctr">
                      <a:solidFill>
                        <a:srgbClr val="D9DEE6"/>
                      </a:solidFill>
                    </a:lnB>
                    <a:solidFill>
                      <a:srgbClr val="FFFFFF"/>
                    </a:solidFill>
                  </a:tcPr>
                </a:tc>
                <a:tc>
                  <a:txBody>
                    <a:bodyPr wrap="square"/>
                    <a:lstStyle/>
                    <a:p>
                      <a:pPr algn="l">
                        <a:spcBef>
                          <a:spcPts val="0"/>
                        </a:spcBef>
                        <a:spcAft>
                          <a:spcPts val="0"/>
                        </a:spcAft>
                      </a:pPr>
                      <a:r>
                        <a:rPr sz="1300" b="0" i="0">
                          <a:solidFill>
                            <a:srgbClr val="1B2430"/>
                          </a:solidFill>
                          <a:latin typeface="Calibri"/>
                        </a:rPr>
                        <a:t>dinov2-small, decoder tiến dần, fine-tune toàn bộ</a:t>
                      </a:r>
                    </a:p>
                  </a:txBody>
                  <a:tcPr marL="91440" marR="91440" marT="36576" marB="36576" anchor="ctr">
                    <a:lnB w="9525" cap="flat" cmpd="sng" algn="ctr">
                      <a:solidFill>
                        <a:srgbClr val="D9DEE6"/>
                      </a:solidFill>
                    </a:lnB>
                    <a:solidFill>
                      <a:srgbClr val="FFFFFF"/>
                    </a:solidFill>
                  </a:tcPr>
                </a:tc>
              </a:tr>
              <a:tr h="512064">
                <a:tc>
                  <a:txBody>
                    <a:bodyPr wrap="square"/>
                    <a:lstStyle/>
                    <a:p>
                      <a:pPr algn="l">
                        <a:spcBef>
                          <a:spcPts val="0"/>
                        </a:spcBef>
                        <a:spcAft>
                          <a:spcPts val="0"/>
                        </a:spcAft>
                      </a:pPr>
                      <a:r>
                        <a:rPr sz="1300" b="1" i="0">
                          <a:solidFill>
                            <a:srgbClr val="1B2430"/>
                          </a:solidFill>
                          <a:latin typeface="Calibri"/>
                        </a:rPr>
                        <a:t>UNet</a:t>
                      </a:r>
                    </a:p>
                  </a:txBody>
                  <a:tcPr marL="91440" marR="91440" marT="36576" marB="36576" anchor="ctr">
                    <a:lnB w="9525" cap="flat" cmpd="sng" algn="ctr">
                      <a:solidFill>
                        <a:srgbClr val="D9DEE6"/>
                      </a:solidFill>
                    </a:lnB>
                    <a:solidFill>
                      <a:srgbClr val="FFFFFF"/>
                    </a:solidFill>
                  </a:tcPr>
                </a:tc>
                <a:tc>
                  <a:txBody>
                    <a:bodyPr wrap="square"/>
                    <a:lstStyle/>
                    <a:p>
                      <a:pPr algn="l">
                        <a:spcBef>
                          <a:spcPts val="0"/>
                        </a:spcBef>
                        <a:spcAft>
                          <a:spcPts val="0"/>
                        </a:spcAft>
                      </a:pPr>
                      <a:r>
                        <a:rPr sz="1300" b="0" i="0">
                          <a:solidFill>
                            <a:srgbClr val="1B2430"/>
                          </a:solidFill>
                          <a:latin typeface="Calibri"/>
                        </a:rPr>
                        <a:t>UNet2D (base 32, depth 4), train từ đầu</a:t>
                      </a:r>
                    </a:p>
                  </a:txBody>
                  <a:tcPr marL="91440" marR="91440" marT="36576" marB="36576" anchor="ctr">
                    <a:lnB w="9525" cap="flat" cmpd="sng" algn="ctr">
                      <a:solidFill>
                        <a:srgbClr val="D9DEE6"/>
                      </a:solidFill>
                    </a:lnB>
                    <a:solidFill>
                      <a:srgbClr val="FFFFFF"/>
                    </a:solidFill>
                  </a:tcPr>
                </a:tc>
              </a:tr>
              <a:tr h="512064">
                <a:tc>
                  <a:txBody>
                    <a:bodyPr wrap="square"/>
                    <a:lstStyle/>
                    <a:p>
                      <a:pPr algn="l">
                        <a:spcBef>
                          <a:spcPts val="0"/>
                        </a:spcBef>
                        <a:spcAft>
                          <a:spcPts val="0"/>
                        </a:spcAft>
                      </a:pPr>
                      <a:r>
                        <a:rPr sz="1300" b="1" i="0">
                          <a:solidFill>
                            <a:srgbClr val="1B2430"/>
                          </a:solidFill>
                          <a:latin typeface="Calibri"/>
                        </a:rPr>
                        <a:t>Đầu vào</a:t>
                      </a:r>
                    </a:p>
                  </a:txBody>
                  <a:tcPr marL="91440" marR="91440" marT="36576" marB="36576" anchor="ctr">
                    <a:lnB w="9525" cap="flat" cmpd="sng" algn="ctr">
                      <a:solidFill>
                        <a:srgbClr val="D9DEE6"/>
                      </a:solidFill>
                    </a:lnB>
                    <a:solidFill>
                      <a:srgbClr val="FFFFFF"/>
                    </a:solidFill>
                  </a:tcPr>
                </a:tc>
                <a:tc>
                  <a:txBody>
                    <a:bodyPr wrap="square"/>
                    <a:lstStyle/>
                    <a:p>
                      <a:pPr algn="l">
                        <a:spcBef>
                          <a:spcPts val="0"/>
                        </a:spcBef>
                        <a:spcAft>
                          <a:spcPts val="0"/>
                        </a:spcAft>
                      </a:pPr>
                      <a:r>
                        <a:rPr sz="1300" b="0" i="0">
                          <a:solidFill>
                            <a:srgbClr val="1B2430"/>
                          </a:solidFill>
                          <a:latin typeface="Calibri"/>
                        </a:rPr>
                        <a:t>560×560, mọi lát của mọi case</a:t>
                      </a:r>
                    </a:p>
                  </a:txBody>
                  <a:tcPr marL="91440" marR="91440" marT="36576" marB="36576" anchor="ctr">
                    <a:lnB w="9525" cap="flat" cmpd="sng" algn="ctr">
                      <a:solidFill>
                        <a:srgbClr val="D9DEE6"/>
                      </a:solidFill>
                    </a:lnB>
                    <a:solidFill>
                      <a:srgbClr val="FFFFFF"/>
                    </a:solidFill>
                  </a:tcPr>
                </a:tc>
              </a:tr>
              <a:tr h="512064">
                <a:tc>
                  <a:txBody>
                    <a:bodyPr wrap="square"/>
                    <a:lstStyle/>
                    <a:p>
                      <a:pPr algn="l">
                        <a:spcBef>
                          <a:spcPts val="0"/>
                        </a:spcBef>
                        <a:spcAft>
                          <a:spcPts val="0"/>
                        </a:spcAft>
                      </a:pPr>
                      <a:r>
                        <a:rPr sz="1300" b="1" i="0">
                          <a:solidFill>
                            <a:srgbClr val="1B2430"/>
                          </a:solidFill>
                          <a:latin typeface="Calibri"/>
                        </a:rPr>
                        <a:t>Loss</a:t>
                      </a:r>
                    </a:p>
                  </a:txBody>
                  <a:tcPr marL="91440" marR="91440" marT="36576" marB="36576" anchor="ctr">
                    <a:lnB w="9525" cap="flat" cmpd="sng" algn="ctr">
                      <a:solidFill>
                        <a:srgbClr val="D9DEE6"/>
                      </a:solidFill>
                    </a:lnB>
                    <a:solidFill>
                      <a:srgbClr val="FFFFFF"/>
                    </a:solidFill>
                  </a:tcPr>
                </a:tc>
                <a:tc>
                  <a:txBody>
                    <a:bodyPr wrap="square"/>
                    <a:lstStyle/>
                    <a:p>
                      <a:pPr algn="l">
                        <a:spcBef>
                          <a:spcPts val="0"/>
                        </a:spcBef>
                        <a:spcAft>
                          <a:spcPts val="0"/>
                        </a:spcAft>
                      </a:pPr>
                      <a:r>
                        <a:rPr sz="1300" b="0" i="0">
                          <a:solidFill>
                            <a:srgbClr val="1B2430"/>
                          </a:solidFill>
                          <a:latin typeface="Calibri"/>
                        </a:rPr>
                        <a:t>0,5·BCE + 0,5·soft Dice</a:t>
                      </a:r>
                    </a:p>
                  </a:txBody>
                  <a:tcPr marL="91440" marR="91440" marT="36576" marB="36576" anchor="ctr">
                    <a:lnB w="9525" cap="flat" cmpd="sng" algn="ctr">
                      <a:solidFill>
                        <a:srgbClr val="D9DEE6"/>
                      </a:solidFill>
                    </a:lnB>
                    <a:solidFill>
                      <a:srgbClr val="FFFFFF"/>
                    </a:solidFill>
                  </a:tcPr>
                </a:tc>
              </a:tr>
              <a:tr h="512064">
                <a:tc>
                  <a:txBody>
                    <a:bodyPr wrap="square"/>
                    <a:lstStyle/>
                    <a:p>
                      <a:pPr algn="l">
                        <a:spcBef>
                          <a:spcPts val="0"/>
                        </a:spcBef>
                        <a:spcAft>
                          <a:spcPts val="0"/>
                        </a:spcAft>
                      </a:pPr>
                      <a:r>
                        <a:rPr sz="1300" b="1" i="0">
                          <a:solidFill>
                            <a:srgbClr val="1B2430"/>
                          </a:solidFill>
                          <a:latin typeface="Calibri"/>
                        </a:rPr>
                        <a:t>Tối ưu</a:t>
                      </a:r>
                    </a:p>
                  </a:txBody>
                  <a:tcPr marL="91440" marR="91440" marT="36576" marB="36576" anchor="ctr">
                    <a:lnB w="9525" cap="flat" cmpd="sng" algn="ctr">
                      <a:solidFill>
                        <a:srgbClr val="D9DEE6"/>
                      </a:solidFill>
                    </a:lnB>
                    <a:solidFill>
                      <a:srgbClr val="FFFFFF"/>
                    </a:solidFill>
                  </a:tcPr>
                </a:tc>
                <a:tc>
                  <a:txBody>
                    <a:bodyPr wrap="square"/>
                    <a:lstStyle/>
                    <a:p>
                      <a:pPr algn="l">
                        <a:spcBef>
                          <a:spcPts val="0"/>
                        </a:spcBef>
                        <a:spcAft>
                          <a:spcPts val="0"/>
                        </a:spcAft>
                      </a:pPr>
                      <a:r>
                        <a:rPr sz="1300" b="0" i="0">
                          <a:solidFill>
                            <a:srgbClr val="1B2430"/>
                          </a:solidFill>
                          <a:latin typeface="Calibri"/>
                        </a:rPr>
                        <a:t>AdamW, lr 1e-4 hằng số, bf16, seed 2024</a:t>
                      </a:r>
                    </a:p>
                  </a:txBody>
                  <a:tcPr marL="91440" marR="91440" marT="36576" marB="36576" anchor="ctr">
                    <a:lnB w="9525" cap="flat" cmpd="sng" algn="ctr">
                      <a:solidFill>
                        <a:srgbClr val="D9DEE6"/>
                      </a:solidFill>
                    </a:lnB>
                    <a:solidFill>
                      <a:srgbClr val="FFFFFF"/>
                    </a:solidFill>
                  </a:tcPr>
                </a:tc>
              </a:tr>
              <a:tr h="512064">
                <a:tc>
                  <a:txBody>
                    <a:bodyPr wrap="square"/>
                    <a:lstStyle/>
                    <a:p>
                      <a:pPr algn="l">
                        <a:spcBef>
                          <a:spcPts val="0"/>
                        </a:spcBef>
                        <a:spcAft>
                          <a:spcPts val="0"/>
                        </a:spcAft>
                      </a:pPr>
                      <a:r>
                        <a:rPr sz="1300" b="1" i="0">
                          <a:solidFill>
                            <a:srgbClr val="1B2430"/>
                          </a:solidFill>
                          <a:latin typeface="Calibri"/>
                        </a:rPr>
                        <a:t>Lịch huấn luyện</a:t>
                      </a:r>
                    </a:p>
                  </a:txBody>
                  <a:tcPr marL="91440" marR="91440" marT="36576" marB="36576" anchor="ctr">
                    <a:lnB w="9525" cap="flat" cmpd="sng" algn="ctr">
                      <a:solidFill>
                        <a:srgbClr val="D9DEE6"/>
                      </a:solidFill>
                    </a:lnB>
                    <a:solidFill>
                      <a:srgbClr val="FFFFFF"/>
                    </a:solidFill>
                  </a:tcPr>
                </a:tc>
                <a:tc>
                  <a:txBody>
                    <a:bodyPr wrap="square"/>
                    <a:lstStyle/>
                    <a:p>
                      <a:pPr algn="l">
                        <a:spcBef>
                          <a:spcPts val="0"/>
                        </a:spcBef>
                        <a:spcAft>
                          <a:spcPts val="0"/>
                        </a:spcAft>
                      </a:pPr>
                      <a:r>
                        <a:rPr sz="1300" b="0" i="0">
                          <a:solidFill>
                            <a:srgbClr val="1B2430"/>
                          </a:solidFill>
                          <a:latin typeface="Calibri"/>
                        </a:rPr>
                        <a:t>50 epoch, batch 8, ngưỡng 0,5</a:t>
                      </a:r>
                    </a:p>
                  </a:txBody>
                  <a:tcPr marL="91440" marR="91440" marT="36576" marB="36576" anchor="ctr">
                    <a:lnB w="9525" cap="flat" cmpd="sng" algn="ctr">
                      <a:solidFill>
                        <a:srgbClr val="D9DEE6"/>
                      </a:solidFill>
                    </a:lnB>
                    <a:solidFill>
                      <a:srgbClr val="FFFFFF"/>
                    </a:solidFill>
                  </a:tcPr>
                </a:tc>
              </a:tr>
              <a:tr h="512064">
                <a:tc>
                  <a:txBody>
                    <a:bodyPr wrap="square"/>
                    <a:lstStyle/>
                    <a:p>
                      <a:pPr algn="l">
                        <a:spcBef>
                          <a:spcPts val="0"/>
                        </a:spcBef>
                        <a:spcAft>
                          <a:spcPts val="0"/>
                        </a:spcAft>
                      </a:pPr>
                      <a:r>
                        <a:rPr sz="1300" b="1" i="0">
                          <a:solidFill>
                            <a:srgbClr val="1B2430"/>
                          </a:solidFill>
                          <a:latin typeface="Calibri"/>
                        </a:rPr>
                        <a:t>Chọn checkpoint</a:t>
                      </a:r>
                    </a:p>
                  </a:txBody>
                  <a:tcPr marL="91440" marR="91440" marT="36576" marB="36576" anchor="ctr">
                    <a:lnB w="9525" cap="flat" cmpd="sng" algn="ctr">
                      <a:solidFill>
                        <a:srgbClr val="D9DEE6"/>
                      </a:solidFill>
                    </a:lnB>
                    <a:solidFill>
                      <a:srgbClr val="FFFFFF"/>
                    </a:solidFill>
                  </a:tcPr>
                </a:tc>
                <a:tc>
                  <a:txBody>
                    <a:bodyPr wrap="square"/>
                    <a:lstStyle/>
                    <a:p>
                      <a:pPr algn="l">
                        <a:spcBef>
                          <a:spcPts val="0"/>
                        </a:spcBef>
                        <a:spcAft>
                          <a:spcPts val="0"/>
                        </a:spcAft>
                      </a:pPr>
                      <a:r>
                        <a:rPr sz="1300" b="0" i="0">
                          <a:solidFill>
                            <a:srgbClr val="1B2430"/>
                          </a:solidFill>
                          <a:latin typeface="Calibri"/>
                        </a:rPr>
                        <a:t>epoch có Dice 3D validation cao nhất</a:t>
                      </a:r>
                    </a:p>
                  </a:txBody>
                  <a:tcPr marL="91440" marR="91440" marT="36576" marB="36576" anchor="ctr">
                    <a:lnB w="9525" cap="flat" cmpd="sng" algn="ctr">
                      <a:solidFill>
                        <a:srgbClr val="D9DEE6"/>
                      </a:solidFill>
                    </a:lnB>
                    <a:solidFill>
                      <a:srgbClr val="FFFFFF"/>
                    </a:solidFill>
                  </a:tcPr>
                </a:tc>
              </a:tr>
            </a:tbl>
          </a:graphicData>
        </a:graphic>
      </p:graphicFrame>
      <p:sp>
        <p:nvSpPr>
          <p:cNvPr id="5" name="matrix-head"/>
          <p:cNvSpPr txBox="1"/>
          <p:nvPr/>
        </p:nvSpPr>
        <p:spPr>
          <a:xfrm>
            <a:off x="8046719" y="1645920"/>
            <a:ext cx="1168298" cy="457200"/>
          </a:xfrm>
          <a:prstGeom prst="rect">
            <a:avLst/>
          </a:prstGeom>
          <a:noFill/>
        </p:spPr>
        <p:txBody>
          <a:bodyPr wrap="square" lIns="0" rIns="0" tIns="0" bIns="0" anchor="t">
            <a:noAutofit/>
          </a:bodyPr>
          <a:lstStyle/>
          <a:p>
            <a:pPr algn="ctr">
              <a:spcBef>
                <a:spcPts val="0"/>
              </a:spcBef>
              <a:spcAft>
                <a:spcPts val="0"/>
              </a:spcAft>
            </a:pPr>
            <a:r>
              <a:rPr sz="1500" b="1" i="0">
                <a:solidFill>
                  <a:srgbClr val="1B2430"/>
                </a:solidFill>
                <a:latin typeface="Calibri"/>
              </a:rPr>
              <a:t>25 %</a:t>
            </a:r>
          </a:p>
          <a:p>
            <a:pPr algn="ctr">
              <a:spcBef>
                <a:spcPts val="0"/>
              </a:spcBef>
              <a:spcAft>
                <a:spcPts val="0"/>
              </a:spcAft>
            </a:pPr>
            <a:r>
              <a:rPr sz="1200" b="0" i="0">
                <a:solidFill>
                  <a:srgbClr val="6B7482"/>
                </a:solidFill>
                <a:latin typeface="Calibri"/>
              </a:rPr>
              <a:t>20 case</a:t>
            </a:r>
          </a:p>
        </p:txBody>
      </p:sp>
      <p:sp>
        <p:nvSpPr>
          <p:cNvPr id="6" name="matrix-head"/>
          <p:cNvSpPr txBox="1"/>
          <p:nvPr/>
        </p:nvSpPr>
        <p:spPr>
          <a:xfrm>
            <a:off x="9306458" y="1645920"/>
            <a:ext cx="1168298" cy="457200"/>
          </a:xfrm>
          <a:prstGeom prst="rect">
            <a:avLst/>
          </a:prstGeom>
          <a:noFill/>
        </p:spPr>
        <p:txBody>
          <a:bodyPr wrap="square" lIns="0" rIns="0" tIns="0" bIns="0" anchor="t">
            <a:noAutofit/>
          </a:bodyPr>
          <a:lstStyle/>
          <a:p>
            <a:pPr algn="ctr">
              <a:spcBef>
                <a:spcPts val="0"/>
              </a:spcBef>
              <a:spcAft>
                <a:spcPts val="0"/>
              </a:spcAft>
            </a:pPr>
            <a:r>
              <a:rPr sz="1500" b="1" i="0">
                <a:solidFill>
                  <a:srgbClr val="1B2430"/>
                </a:solidFill>
                <a:latin typeface="Calibri"/>
              </a:rPr>
              <a:t>50 %</a:t>
            </a:r>
          </a:p>
          <a:p>
            <a:pPr algn="ctr">
              <a:spcBef>
                <a:spcPts val="0"/>
              </a:spcBef>
              <a:spcAft>
                <a:spcPts val="0"/>
              </a:spcAft>
            </a:pPr>
            <a:r>
              <a:rPr sz="1200" b="0" i="0">
                <a:solidFill>
                  <a:srgbClr val="6B7482"/>
                </a:solidFill>
                <a:latin typeface="Calibri"/>
              </a:rPr>
              <a:t>38 case</a:t>
            </a:r>
          </a:p>
        </p:txBody>
      </p:sp>
      <p:sp>
        <p:nvSpPr>
          <p:cNvPr id="7" name="matrix-head"/>
          <p:cNvSpPr txBox="1"/>
          <p:nvPr/>
        </p:nvSpPr>
        <p:spPr>
          <a:xfrm>
            <a:off x="10566196" y="1645920"/>
            <a:ext cx="1168298" cy="457200"/>
          </a:xfrm>
          <a:prstGeom prst="rect">
            <a:avLst/>
          </a:prstGeom>
          <a:noFill/>
        </p:spPr>
        <p:txBody>
          <a:bodyPr wrap="square" lIns="0" rIns="0" tIns="0" bIns="0" anchor="t">
            <a:noAutofit/>
          </a:bodyPr>
          <a:lstStyle/>
          <a:p>
            <a:pPr algn="ctr">
              <a:spcBef>
                <a:spcPts val="0"/>
              </a:spcBef>
              <a:spcAft>
                <a:spcPts val="0"/>
              </a:spcAft>
            </a:pPr>
            <a:r>
              <a:rPr sz="1500" b="1" i="0">
                <a:solidFill>
                  <a:srgbClr val="1B2430"/>
                </a:solidFill>
                <a:latin typeface="Calibri"/>
              </a:rPr>
              <a:t>100 %</a:t>
            </a:r>
          </a:p>
          <a:p>
            <a:pPr algn="ctr">
              <a:spcBef>
                <a:spcPts val="0"/>
              </a:spcBef>
              <a:spcAft>
                <a:spcPts val="0"/>
              </a:spcAft>
            </a:pPr>
            <a:r>
              <a:rPr sz="1200" b="0" i="0">
                <a:solidFill>
                  <a:srgbClr val="6B7482"/>
                </a:solidFill>
                <a:latin typeface="Calibri"/>
              </a:rPr>
              <a:t>78 case</a:t>
            </a:r>
          </a:p>
        </p:txBody>
      </p:sp>
      <p:sp>
        <p:nvSpPr>
          <p:cNvPr id="8" name="matrix-row"/>
          <p:cNvSpPr txBox="1"/>
          <p:nvPr/>
        </p:nvSpPr>
        <p:spPr>
          <a:xfrm>
            <a:off x="6858000" y="2194560"/>
            <a:ext cx="1097280" cy="1051560"/>
          </a:xfrm>
          <a:prstGeom prst="rect">
            <a:avLst/>
          </a:prstGeom>
          <a:noFill/>
        </p:spPr>
        <p:txBody>
          <a:bodyPr wrap="square" lIns="0" rIns="0" tIns="0" bIns="0" anchor="ctr">
            <a:noAutofit/>
          </a:bodyPr>
          <a:lstStyle/>
          <a:p>
            <a:pPr algn="l">
              <a:spcBef>
                <a:spcPts val="0"/>
              </a:spcBef>
              <a:spcAft>
                <a:spcPts val="600"/>
              </a:spcAft>
            </a:pPr>
            <a:r>
              <a:rPr sz="1600" b="1" i="0">
                <a:solidFill>
                  <a:srgbClr val="184F95"/>
                </a:solidFill>
                <a:latin typeface="Calibri"/>
              </a:rPr>
              <a:t>DINOv2</a:t>
            </a:r>
          </a:p>
        </p:txBody>
      </p:sp>
      <p:sp>
        <p:nvSpPr>
          <p:cNvPr id="9" name="card:run"/>
          <p:cNvSpPr/>
          <p:nvPr/>
        </p:nvSpPr>
        <p:spPr>
          <a:xfrm>
            <a:off x="8046719" y="2194560"/>
            <a:ext cx="1168298" cy="1051560"/>
          </a:xfrm>
          <a:prstGeom prst="roundRect">
            <a:avLst>
              <a:gd name="adj" fmla="val 6000"/>
            </a:avLst>
          </a:prstGeom>
          <a:solidFill>
            <a:srgbClr val="FFFFFF"/>
          </a:solidFill>
          <a:ln w="12700">
            <a:solidFill>
              <a:srgbClr val="D9DEE6"/>
            </a:solidFill>
          </a:ln>
        </p:spPr>
        <p:txBody>
          <a:bodyPr rtlCol="0" anchor="ctr" wrap="square" lIns="54864" rIns="54864" tIns="43891" bIns="43891">
            <a:noAutofit/>
          </a:bodyPr>
          <a:lstStyle/>
          <a:p>
            <a:pPr algn="ctr">
              <a:spcBef>
                <a:spcPts val="0"/>
              </a:spcBef>
              <a:spcAft>
                <a:spcPts val="0"/>
              </a:spcAft>
            </a:pPr>
            <a:r>
              <a:rPr sz="2200" b="1" i="0">
                <a:solidFill>
                  <a:srgbClr val="1B2430"/>
                </a:solidFill>
                <a:latin typeface="Calibri"/>
              </a:rPr>
              <a:t>0,558</a:t>
            </a:r>
          </a:p>
          <a:p>
            <a:pPr algn="ctr">
              <a:spcBef>
                <a:spcPts val="0"/>
              </a:spcBef>
              <a:spcAft>
                <a:spcPts val="0"/>
              </a:spcAft>
            </a:pPr>
            <a:r>
              <a:rPr sz="1150" b="0" i="0">
                <a:solidFill>
                  <a:srgbClr val="6B7482"/>
                </a:solidFill>
                <a:latin typeface="Calibri"/>
              </a:rPr>
              <a:t>[0,505; 0,607]</a:t>
            </a:r>
          </a:p>
        </p:txBody>
      </p:sp>
      <p:sp>
        <p:nvSpPr>
          <p:cNvPr id="10" name="card:run"/>
          <p:cNvSpPr/>
          <p:nvPr/>
        </p:nvSpPr>
        <p:spPr>
          <a:xfrm>
            <a:off x="9306458" y="2194560"/>
            <a:ext cx="1168298" cy="1051560"/>
          </a:xfrm>
          <a:prstGeom prst="roundRect">
            <a:avLst>
              <a:gd name="adj" fmla="val 6000"/>
            </a:avLst>
          </a:prstGeom>
          <a:solidFill>
            <a:srgbClr val="FFFFFF"/>
          </a:solidFill>
          <a:ln w="12700">
            <a:solidFill>
              <a:srgbClr val="D9DEE6"/>
            </a:solidFill>
          </a:ln>
        </p:spPr>
        <p:txBody>
          <a:bodyPr rtlCol="0" anchor="ctr" wrap="square" lIns="54864" rIns="54864" tIns="43891" bIns="43891">
            <a:noAutofit/>
          </a:bodyPr>
          <a:lstStyle/>
          <a:p>
            <a:pPr algn="ctr">
              <a:spcBef>
                <a:spcPts val="0"/>
              </a:spcBef>
              <a:spcAft>
                <a:spcPts val="0"/>
              </a:spcAft>
            </a:pPr>
            <a:r>
              <a:rPr sz="2200" b="1" i="0">
                <a:solidFill>
                  <a:srgbClr val="1B2430"/>
                </a:solidFill>
                <a:latin typeface="Calibri"/>
              </a:rPr>
              <a:t>0,616</a:t>
            </a:r>
          </a:p>
          <a:p>
            <a:pPr algn="ctr">
              <a:spcBef>
                <a:spcPts val="0"/>
              </a:spcBef>
              <a:spcAft>
                <a:spcPts val="0"/>
              </a:spcAft>
            </a:pPr>
            <a:r>
              <a:rPr sz="1150" b="0" i="0">
                <a:solidFill>
                  <a:srgbClr val="6B7482"/>
                </a:solidFill>
                <a:latin typeface="Calibri"/>
              </a:rPr>
              <a:t>[0,567; 0,660]</a:t>
            </a:r>
          </a:p>
        </p:txBody>
      </p:sp>
      <p:sp>
        <p:nvSpPr>
          <p:cNvPr id="11" name="card:run"/>
          <p:cNvSpPr/>
          <p:nvPr/>
        </p:nvSpPr>
        <p:spPr>
          <a:xfrm>
            <a:off x="10566196" y="2194560"/>
            <a:ext cx="1168298" cy="1051560"/>
          </a:xfrm>
          <a:prstGeom prst="roundRect">
            <a:avLst>
              <a:gd name="adj" fmla="val 6000"/>
            </a:avLst>
          </a:prstGeom>
          <a:solidFill>
            <a:srgbClr val="FFFFFF"/>
          </a:solidFill>
          <a:ln w="12700">
            <a:solidFill>
              <a:srgbClr val="D9DEE6"/>
            </a:solidFill>
          </a:ln>
        </p:spPr>
        <p:txBody>
          <a:bodyPr rtlCol="0" anchor="ctr" wrap="square" lIns="54864" rIns="54864" tIns="43891" bIns="43891">
            <a:noAutofit/>
          </a:bodyPr>
          <a:lstStyle/>
          <a:p>
            <a:pPr algn="ctr">
              <a:spcBef>
                <a:spcPts val="0"/>
              </a:spcBef>
              <a:spcAft>
                <a:spcPts val="0"/>
              </a:spcAft>
            </a:pPr>
            <a:r>
              <a:rPr sz="2200" b="1" i="0">
                <a:solidFill>
                  <a:srgbClr val="1B2430"/>
                </a:solidFill>
                <a:latin typeface="Calibri"/>
              </a:rPr>
              <a:t>0,639</a:t>
            </a:r>
          </a:p>
          <a:p>
            <a:pPr algn="ctr">
              <a:spcBef>
                <a:spcPts val="0"/>
              </a:spcBef>
              <a:spcAft>
                <a:spcPts val="0"/>
              </a:spcAft>
            </a:pPr>
            <a:r>
              <a:rPr sz="1150" b="0" i="0">
                <a:solidFill>
                  <a:srgbClr val="6B7482"/>
                </a:solidFill>
                <a:latin typeface="Calibri"/>
              </a:rPr>
              <a:t>[0,594; 0,677]</a:t>
            </a:r>
          </a:p>
        </p:txBody>
      </p:sp>
      <p:sp>
        <p:nvSpPr>
          <p:cNvPr id="12" name="matrix-row"/>
          <p:cNvSpPr txBox="1"/>
          <p:nvPr/>
        </p:nvSpPr>
        <p:spPr>
          <a:xfrm>
            <a:off x="6858000" y="3337560"/>
            <a:ext cx="1097280" cy="1051560"/>
          </a:xfrm>
          <a:prstGeom prst="rect">
            <a:avLst/>
          </a:prstGeom>
          <a:noFill/>
        </p:spPr>
        <p:txBody>
          <a:bodyPr wrap="square" lIns="0" rIns="0" tIns="0" bIns="0" anchor="ctr">
            <a:noAutofit/>
          </a:bodyPr>
          <a:lstStyle/>
          <a:p>
            <a:pPr algn="l">
              <a:spcBef>
                <a:spcPts val="0"/>
              </a:spcBef>
              <a:spcAft>
                <a:spcPts val="600"/>
              </a:spcAft>
            </a:pPr>
            <a:r>
              <a:rPr sz="1600" b="1" i="0">
                <a:solidFill>
                  <a:srgbClr val="184F95"/>
                </a:solidFill>
                <a:latin typeface="Calibri"/>
              </a:rPr>
              <a:t>UNet</a:t>
            </a:r>
          </a:p>
        </p:txBody>
      </p:sp>
      <p:sp>
        <p:nvSpPr>
          <p:cNvPr id="13" name="card:unet-placeholder"/>
          <p:cNvSpPr/>
          <p:nvPr/>
        </p:nvSpPr>
        <p:spPr>
          <a:xfrm>
            <a:off x="8046719" y="3337560"/>
            <a:ext cx="1168298" cy="1051560"/>
          </a:xfrm>
          <a:prstGeom prst="roundRect">
            <a:avLst>
              <a:gd name="adj" fmla="val 6000"/>
            </a:avLst>
          </a:prstGeom>
          <a:solidFill>
            <a:srgbClr val="E8F0FB"/>
          </a:solidFill>
          <a:ln w="15875">
            <a:solidFill>
              <a:srgbClr val="184F95"/>
            </a:solidFill>
            <a:prstDash val="dash"/>
          </a:ln>
        </p:spPr>
        <p:txBody>
          <a:bodyPr rtlCol="0" anchor="ctr" wrap="square" lIns="73152" rIns="73152" tIns="58521" bIns="58521">
            <a:noAutofit/>
          </a:bodyPr>
          <a:lstStyle/>
          <a:p>
            <a:pPr algn="ctr">
              <a:spcBef>
                <a:spcPts val="0"/>
              </a:spcBef>
              <a:spcAft>
                <a:spcPts val="0"/>
              </a:spcAft>
            </a:pPr>
            <a:r>
              <a:rPr sz="1200" b="1" i="0">
                <a:solidFill>
                  <a:srgbClr val="184F95"/>
                </a:solidFill>
                <a:latin typeface="Calibri"/>
              </a:rPr>
              <a:t>CHỜ KẾT QUẢ UNET (Khánh)</a:t>
            </a:r>
          </a:p>
        </p:txBody>
      </p:sp>
      <p:sp>
        <p:nvSpPr>
          <p:cNvPr id="14" name="card:unet-placeholder"/>
          <p:cNvSpPr/>
          <p:nvPr/>
        </p:nvSpPr>
        <p:spPr>
          <a:xfrm>
            <a:off x="9306458" y="3337560"/>
            <a:ext cx="1168298" cy="1051560"/>
          </a:xfrm>
          <a:prstGeom prst="roundRect">
            <a:avLst>
              <a:gd name="adj" fmla="val 6000"/>
            </a:avLst>
          </a:prstGeom>
          <a:solidFill>
            <a:srgbClr val="E8F0FB"/>
          </a:solidFill>
          <a:ln w="15875">
            <a:solidFill>
              <a:srgbClr val="184F95"/>
            </a:solidFill>
            <a:prstDash val="dash"/>
          </a:ln>
        </p:spPr>
        <p:txBody>
          <a:bodyPr rtlCol="0" anchor="ctr" wrap="square" lIns="73152" rIns="73152" tIns="58521" bIns="58521">
            <a:noAutofit/>
          </a:bodyPr>
          <a:lstStyle/>
          <a:p>
            <a:pPr algn="ctr">
              <a:spcBef>
                <a:spcPts val="0"/>
              </a:spcBef>
              <a:spcAft>
                <a:spcPts val="0"/>
              </a:spcAft>
            </a:pPr>
            <a:r>
              <a:rPr sz="1200" b="1" i="0">
                <a:solidFill>
                  <a:srgbClr val="184F95"/>
                </a:solidFill>
                <a:latin typeface="Calibri"/>
              </a:rPr>
              <a:t>CHỜ KẾT QUẢ UNET (Khánh)</a:t>
            </a:r>
          </a:p>
        </p:txBody>
      </p:sp>
      <p:sp>
        <p:nvSpPr>
          <p:cNvPr id="15" name="card:unet-placeholder"/>
          <p:cNvSpPr/>
          <p:nvPr/>
        </p:nvSpPr>
        <p:spPr>
          <a:xfrm>
            <a:off x="10566196" y="3337560"/>
            <a:ext cx="1168298" cy="1051560"/>
          </a:xfrm>
          <a:prstGeom prst="roundRect">
            <a:avLst>
              <a:gd name="adj" fmla="val 6000"/>
            </a:avLst>
          </a:prstGeom>
          <a:solidFill>
            <a:srgbClr val="E8F0FB"/>
          </a:solidFill>
          <a:ln w="15875">
            <a:solidFill>
              <a:srgbClr val="184F95"/>
            </a:solidFill>
            <a:prstDash val="dash"/>
          </a:ln>
        </p:spPr>
        <p:txBody>
          <a:bodyPr rtlCol="0" anchor="ctr" wrap="square" lIns="73152" rIns="73152" tIns="58521" bIns="58521">
            <a:noAutofit/>
          </a:bodyPr>
          <a:lstStyle/>
          <a:p>
            <a:pPr algn="ctr">
              <a:spcBef>
                <a:spcPts val="0"/>
              </a:spcBef>
              <a:spcAft>
                <a:spcPts val="0"/>
              </a:spcAft>
            </a:pPr>
            <a:r>
              <a:rPr sz="1200" b="1" i="0">
                <a:solidFill>
                  <a:srgbClr val="184F95"/>
                </a:solidFill>
                <a:latin typeface="Calibri"/>
              </a:rPr>
              <a:t>CHỜ KẾT QUẢ UNET (Khánh)</a:t>
            </a:r>
          </a:p>
        </p:txBody>
      </p:sp>
      <p:sp>
        <p:nvSpPr>
          <p:cNvPr id="16" name="card:pp"/>
          <p:cNvSpPr/>
          <p:nvPr/>
        </p:nvSpPr>
        <p:spPr>
          <a:xfrm>
            <a:off x="6858000" y="4663440"/>
            <a:ext cx="4785055" cy="868680"/>
          </a:xfrm>
          <a:prstGeom prst="roundRect">
            <a:avLst>
              <a:gd name="adj" fmla="val 6000"/>
            </a:avLst>
          </a:prstGeom>
          <a:solidFill>
            <a:srgbClr val="FDEEE7"/>
          </a:solidFill>
          <a:ln>
            <a:noFill/>
          </a:ln>
        </p:spPr>
        <p:txBody>
          <a:bodyPr rtlCol="0" anchor="ctr" wrap="square" lIns="164592" rIns="164592" tIns="131673" bIns="131673">
            <a:noAutofit/>
          </a:bodyPr>
          <a:lstStyle/>
          <a:p>
            <a:pPr algn="l">
              <a:spcBef>
                <a:spcPts val="0"/>
              </a:spcBef>
              <a:spcAft>
                <a:spcPts val="200"/>
              </a:spcAft>
            </a:pPr>
            <a:r>
              <a:rPr sz="1600" b="1" i="0">
                <a:solidFill>
                  <a:srgbClr val="1B2430"/>
                </a:solidFill>
                <a:latin typeface="Calibri"/>
              </a:rPr>
              <a:t>DINOv2 100 % + PP-4</a:t>
            </a:r>
            <a:r>
              <a:rPr sz="1600" b="0" i="0">
                <a:solidFill>
                  <a:srgbClr val="1B2430"/>
                </a:solidFill>
                <a:latin typeface="Calibri"/>
              </a:rPr>
              <a:t>: 0,659</a:t>
            </a:r>
          </a:p>
          <a:p>
            <a:pPr algn="l">
              <a:spcBef>
                <a:spcPts val="0"/>
              </a:spcBef>
              <a:spcAft>
                <a:spcPts val="0"/>
              </a:spcAft>
            </a:pPr>
            <a:r>
              <a:rPr sz="1250" b="0" i="0">
                <a:solidFill>
                  <a:srgbClr val="4A5565"/>
                </a:solidFill>
                <a:latin typeface="Calibri"/>
              </a:rPr>
              <a:t>không huấn luyện thêm: hậu xử lý áp lên dự đoán của DINOv2 100 %</a:t>
            </a:r>
          </a:p>
        </p:txBody>
      </p:sp>
      <p:sp>
        <p:nvSpPr>
          <p:cNvPr id="17" name="caption"/>
          <p:cNvSpPr txBox="1"/>
          <p:nvPr/>
        </p:nvSpPr>
        <p:spPr>
          <a:xfrm>
            <a:off x="6858000" y="5669280"/>
            <a:ext cx="4785055" cy="548640"/>
          </a:xfrm>
          <a:prstGeom prst="rect">
            <a:avLst/>
          </a:prstGeom>
          <a:noFill/>
        </p:spPr>
        <p:txBody>
          <a:bodyPr wrap="square" lIns="0" rIns="0" tIns="0" bIns="0" anchor="t">
            <a:noAutofit/>
          </a:bodyPr>
          <a:lstStyle/>
          <a:p>
            <a:pPr algn="l">
              <a:spcBef>
                <a:spcPts val="0"/>
              </a:spcBef>
              <a:spcAft>
                <a:spcPts val="600"/>
              </a:spcAft>
            </a:pPr>
            <a:r>
              <a:rPr sz="1200" b="0" i="0">
                <a:solidFill>
                  <a:srgbClr val="6B7482"/>
                </a:solidFill>
                <a:latin typeface="Calibri"/>
              </a:rPr>
              <a:t>Ô: Dice 3D trung bình trên holdout và CI 95 %.</a:t>
            </a:r>
          </a:p>
        </p:txBody>
      </p:sp>
      <p:sp>
        <p:nvSpPr>
          <p:cNvPr id="18" name="source"/>
          <p:cNvSpPr txBox="1"/>
          <p:nvPr/>
        </p:nvSpPr>
        <p:spPr>
          <a:xfrm>
            <a:off x="548640" y="6089904"/>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Nguồn: management/adr/ADR_ML_001.md; số trong ô lấy từ results_aggregate.json.</a:t>
            </a:r>
          </a:p>
        </p:txBody>
      </p:sp>
      <p:sp>
        <p:nvSpPr>
          <p:cNvPr id="19"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20"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Dice 3D trung bình cao nhất: DINOv2 100 % + PP-4, 0,659 (n = 54)</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HỌC MÁY · KẾT QUẢ</a:t>
            </a:r>
          </a:p>
        </p:txBody>
      </p:sp>
      <p:graphicFrame>
        <p:nvGraphicFramePr>
          <p:cNvPr id="4" name="table"/>
          <p:cNvGraphicFramePr>
            <a:graphicFrameLocks noGrp="1"/>
          </p:cNvGraphicFramePr>
          <p:nvPr/>
        </p:nvGraphicFramePr>
        <p:xfrm>
          <a:off x="548640" y="1645920"/>
          <a:ext cx="11091672" cy="2359152"/>
        </p:xfrm>
        <a:graphic>
          <a:graphicData uri="http://schemas.openxmlformats.org/drawingml/2006/table">
            <a:tbl>
              <a:tblPr firstRow="1" bandRow="0">
                <a:tableStyleId>{2D5ABB26-0587-4C30-8999-92F81FD0307C}</a:tableStyleId>
              </a:tblPr>
              <a:tblGrid>
                <a:gridCol w="3017520"/>
                <a:gridCol w="2834640"/>
                <a:gridCol w="2194560"/>
                <a:gridCol w="822960"/>
                <a:gridCol w="914400"/>
                <a:gridCol w="1307592"/>
              </a:tblGrid>
              <a:tr h="457200">
                <a:tc>
                  <a:txBody>
                    <a:bodyPr wrap="square"/>
                    <a:lstStyle/>
                    <a:p>
                      <a:pPr algn="l">
                        <a:spcBef>
                          <a:spcPts val="0"/>
                        </a:spcBef>
                        <a:spcAft>
                          <a:spcPts val="0"/>
                        </a:spcAft>
                      </a:pPr>
                      <a:r>
                        <a:rPr sz="1400" b="1" i="0">
                          <a:solidFill>
                            <a:srgbClr val="FFFFFF"/>
                          </a:solidFill>
                          <a:latin typeface="Calibri"/>
                        </a:rPr>
                        <a:t>Run</a:t>
                      </a:r>
                    </a:p>
                  </a:txBody>
                  <a:tcPr marL="91440" marR="91440" marT="36576" marB="36576" anchor="ctr">
                    <a:lnB w="9525" cap="flat" cmpd="sng" algn="ctr">
                      <a:solidFill>
                        <a:srgbClr val="D9DEE6"/>
                      </a:solidFill>
                    </a:lnB>
                    <a:solidFill>
                      <a:srgbClr val="184F95"/>
                    </a:solidFill>
                  </a:tcPr>
                </a:tc>
                <a:tc>
                  <a:txBody>
                    <a:bodyPr wrap="square"/>
                    <a:lstStyle/>
                    <a:p>
                      <a:pPr algn="l">
                        <a:spcBef>
                          <a:spcPts val="0"/>
                        </a:spcBef>
                        <a:spcAft>
                          <a:spcPts val="0"/>
                        </a:spcAft>
                      </a:pPr>
                      <a:r>
                        <a:rPr sz="1400" b="1" i="0">
                          <a:solidFill>
                            <a:srgbClr val="FFFFFF"/>
                          </a:solidFill>
                          <a:latin typeface="Calibri"/>
                        </a:rPr>
                        <a:t>Dice 3D TB [CI 95 %]</a:t>
                      </a:r>
                    </a:p>
                  </a:txBody>
                  <a:tcPr marL="91440" marR="91440" marT="36576" marB="36576" anchor="ctr">
                    <a:lnB w="9525" cap="flat" cmpd="sng" algn="ctr">
                      <a:solidFill>
                        <a:srgbClr val="D9DEE6"/>
                      </a:solidFill>
                    </a:lnB>
                    <a:solidFill>
                      <a:srgbClr val="184F95"/>
                    </a:solidFill>
                  </a:tcPr>
                </a:tc>
                <a:tc>
                  <a:txBody>
                    <a:bodyPr wrap="square"/>
                    <a:lstStyle/>
                    <a:p>
                      <a:pPr algn="l">
                        <a:spcBef>
                          <a:spcPts val="0"/>
                        </a:spcBef>
                        <a:spcAft>
                          <a:spcPts val="0"/>
                        </a:spcAft>
                      </a:pPr>
                      <a:r>
                        <a:rPr sz="1400" b="1" i="0">
                          <a:solidFill>
                            <a:srgbClr val="FFFFFF"/>
                          </a:solidFill>
                          <a:latin typeface="Calibri"/>
                        </a:rPr>
                        <a:t>Trung vị (Q1–Q3)</a:t>
                      </a:r>
                    </a:p>
                  </a:txBody>
                  <a:tcPr marL="91440" marR="91440" marT="36576" marB="36576" anchor="ctr">
                    <a:lnB w="9525" cap="flat" cmpd="sng" algn="ctr">
                      <a:solidFill>
                        <a:srgbClr val="D9DEE6"/>
                      </a:solidFill>
                    </a:lnB>
                    <a:solidFill>
                      <a:srgbClr val="184F95"/>
                    </a:solidFill>
                  </a:tcPr>
                </a:tc>
                <a:tc>
                  <a:txBody>
                    <a:bodyPr wrap="square"/>
                    <a:lstStyle/>
                    <a:p>
                      <a:pPr algn="r">
                        <a:spcBef>
                          <a:spcPts val="0"/>
                        </a:spcBef>
                        <a:spcAft>
                          <a:spcPts val="0"/>
                        </a:spcAft>
                      </a:pPr>
                      <a:r>
                        <a:rPr sz="1400" b="1" i="0">
                          <a:solidFill>
                            <a:srgbClr val="FFFFFF"/>
                          </a:solidFill>
                          <a:latin typeface="Calibri"/>
                        </a:rPr>
                        <a:t>SD</a:t>
                      </a:r>
                    </a:p>
                  </a:txBody>
                  <a:tcPr marL="91440" marR="91440" marT="36576" marB="36576" anchor="ctr">
                    <a:lnB w="9525" cap="flat" cmpd="sng" algn="ctr">
                      <a:solidFill>
                        <a:srgbClr val="D9DEE6"/>
                      </a:solidFill>
                    </a:lnB>
                    <a:solidFill>
                      <a:srgbClr val="184F95"/>
                    </a:solidFill>
                  </a:tcPr>
                </a:tc>
                <a:tc>
                  <a:txBody>
                    <a:bodyPr wrap="square"/>
                    <a:lstStyle/>
                    <a:p>
                      <a:pPr algn="r">
                        <a:spcBef>
                          <a:spcPts val="0"/>
                        </a:spcBef>
                        <a:spcAft>
                          <a:spcPts val="0"/>
                        </a:spcAft>
                      </a:pPr>
                      <a:r>
                        <a:rPr sz="1400" b="1" i="0">
                          <a:solidFill>
                            <a:srgbClr val="FFFFFF"/>
                          </a:solidFill>
                          <a:latin typeface="Calibri"/>
                        </a:rPr>
                        <a:t>IoU TB</a:t>
                      </a:r>
                    </a:p>
                  </a:txBody>
                  <a:tcPr marL="91440" marR="91440" marT="36576" marB="36576" anchor="ctr">
                    <a:lnB w="9525" cap="flat" cmpd="sng" algn="ctr">
                      <a:solidFill>
                        <a:srgbClr val="D9DEE6"/>
                      </a:solidFill>
                    </a:lnB>
                    <a:solidFill>
                      <a:srgbClr val="184F95"/>
                    </a:solidFill>
                  </a:tcPr>
                </a:tc>
                <a:tc>
                  <a:txBody>
                    <a:bodyPr wrap="square"/>
                    <a:lstStyle/>
                    <a:p>
                      <a:pPr algn="r">
                        <a:spcBef>
                          <a:spcPts val="0"/>
                        </a:spcBef>
                        <a:spcAft>
                          <a:spcPts val="0"/>
                        </a:spcAft>
                      </a:pPr>
                      <a:r>
                        <a:rPr sz="1400" b="1" i="0">
                          <a:solidFill>
                            <a:srgbClr val="FFFFFF"/>
                          </a:solidFill>
                          <a:latin typeface="Calibri"/>
                        </a:rPr>
                        <a:t>Sai lệch thể tích TB</a:t>
                      </a:r>
                    </a:p>
                  </a:txBody>
                  <a:tcPr marL="91440" marR="91440" marT="36576" marB="36576" anchor="ctr">
                    <a:lnB w="9525" cap="flat" cmpd="sng" algn="ctr">
                      <a:solidFill>
                        <a:srgbClr val="D9DEE6"/>
                      </a:solidFill>
                    </a:lnB>
                    <a:solidFill>
                      <a:srgbClr val="184F95"/>
                    </a:solidFill>
                  </a:tcPr>
                </a:tc>
              </a:tr>
              <a:tr h="475488">
                <a:tc>
                  <a:txBody>
                    <a:bodyPr wrap="square"/>
                    <a:lstStyle/>
                    <a:p>
                      <a:pPr algn="l">
                        <a:spcBef>
                          <a:spcPts val="0"/>
                        </a:spcBef>
                        <a:spcAft>
                          <a:spcPts val="0"/>
                        </a:spcAft>
                      </a:pPr>
                      <a:r>
                        <a:rPr sz="1400" b="1" i="0">
                          <a:solidFill>
                            <a:srgbClr val="1B2430"/>
                          </a:solidFill>
                          <a:latin typeface="Calibri"/>
                        </a:rPr>
                        <a:t>DINOv2 25 %</a:t>
                      </a:r>
                    </a:p>
                  </a:txBody>
                  <a:tcPr marL="91440" marR="91440" marT="36576" marB="36576" anchor="ctr">
                    <a:lnB w="9525" cap="flat" cmpd="sng" algn="ctr">
                      <a:solidFill>
                        <a:srgbClr val="D9DEE6"/>
                      </a:solidFill>
                    </a:lnB>
                    <a:solidFill>
                      <a:srgbClr val="FFFFFF"/>
                    </a:solidFill>
                  </a:tcPr>
                </a:tc>
                <a:tc>
                  <a:txBody>
                    <a:bodyPr wrap="square"/>
                    <a:lstStyle/>
                    <a:p>
                      <a:pPr algn="l">
                        <a:spcBef>
                          <a:spcPts val="0"/>
                        </a:spcBef>
                        <a:spcAft>
                          <a:spcPts val="0"/>
                        </a:spcAft>
                      </a:pPr>
                      <a:r>
                        <a:rPr sz="1400" b="1" i="0">
                          <a:solidFill>
                            <a:srgbClr val="1B2430"/>
                          </a:solidFill>
                          <a:latin typeface="Calibri"/>
                        </a:rPr>
                        <a:t>0,558</a:t>
                      </a:r>
                      <a:r>
                        <a:rPr sz="1400" b="0" i="0">
                          <a:solidFill>
                            <a:srgbClr val="1B2430"/>
                          </a:solidFill>
                          <a:latin typeface="Calibri"/>
                        </a:rPr>
                        <a:t>  [0,505; 0,607]</a:t>
                      </a:r>
                    </a:p>
                  </a:txBody>
                  <a:tcPr marL="91440" marR="91440" marT="36576" marB="36576" anchor="ctr">
                    <a:lnB w="9525" cap="flat" cmpd="sng" algn="ctr">
                      <a:solidFill>
                        <a:srgbClr val="D9DEE6"/>
                      </a:solidFill>
                    </a:lnB>
                    <a:solidFill>
                      <a:srgbClr val="FFFFFF"/>
                    </a:solidFill>
                  </a:tcPr>
                </a:tc>
                <a:tc>
                  <a:txBody>
                    <a:bodyPr wrap="square"/>
                    <a:lstStyle/>
                    <a:p>
                      <a:pPr algn="l">
                        <a:spcBef>
                          <a:spcPts val="0"/>
                        </a:spcBef>
                        <a:spcAft>
                          <a:spcPts val="0"/>
                        </a:spcAft>
                      </a:pPr>
                      <a:r>
                        <a:rPr sz="1400" b="0" i="0">
                          <a:solidFill>
                            <a:srgbClr val="1B2430"/>
                          </a:solidFill>
                          <a:latin typeface="Calibri"/>
                        </a:rPr>
                        <a:t>0,604 (0,523–0,688)</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400" b="0" i="0">
                          <a:solidFill>
                            <a:srgbClr val="1B2430"/>
                          </a:solidFill>
                          <a:latin typeface="Calibri"/>
                        </a:rPr>
                        <a:t>0,194</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400" b="0" i="0">
                          <a:solidFill>
                            <a:srgbClr val="1B2430"/>
                          </a:solidFill>
                          <a:latin typeface="Calibri"/>
                        </a:rPr>
                        <a:t>0,409</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400" b="0" i="0">
                          <a:solidFill>
                            <a:srgbClr val="1B2430"/>
                          </a:solidFill>
                          <a:latin typeface="Calibri"/>
                        </a:rPr>
                        <a:t>+19,2 %</a:t>
                      </a:r>
                    </a:p>
                  </a:txBody>
                  <a:tcPr marL="91440" marR="91440" marT="36576" marB="36576" anchor="ctr">
                    <a:lnB w="9525" cap="flat" cmpd="sng" algn="ctr">
                      <a:solidFill>
                        <a:srgbClr val="D9DEE6"/>
                      </a:solidFill>
                    </a:lnB>
                    <a:solidFill>
                      <a:srgbClr val="FFFFFF"/>
                    </a:solidFill>
                  </a:tcPr>
                </a:tc>
              </a:tr>
              <a:tr h="475488">
                <a:tc>
                  <a:txBody>
                    <a:bodyPr wrap="square"/>
                    <a:lstStyle/>
                    <a:p>
                      <a:pPr algn="l">
                        <a:spcBef>
                          <a:spcPts val="0"/>
                        </a:spcBef>
                        <a:spcAft>
                          <a:spcPts val="0"/>
                        </a:spcAft>
                      </a:pPr>
                      <a:r>
                        <a:rPr sz="1400" b="1" i="0">
                          <a:solidFill>
                            <a:srgbClr val="1B2430"/>
                          </a:solidFill>
                          <a:latin typeface="Calibri"/>
                        </a:rPr>
                        <a:t>DINOv2 50 %</a:t>
                      </a:r>
                    </a:p>
                  </a:txBody>
                  <a:tcPr marL="91440" marR="91440" marT="36576" marB="36576" anchor="ctr">
                    <a:lnB w="9525" cap="flat" cmpd="sng" algn="ctr">
                      <a:solidFill>
                        <a:srgbClr val="D9DEE6"/>
                      </a:solidFill>
                    </a:lnB>
                    <a:solidFill>
                      <a:srgbClr val="FFFFFF"/>
                    </a:solidFill>
                  </a:tcPr>
                </a:tc>
                <a:tc>
                  <a:txBody>
                    <a:bodyPr wrap="square"/>
                    <a:lstStyle/>
                    <a:p>
                      <a:pPr algn="l">
                        <a:spcBef>
                          <a:spcPts val="0"/>
                        </a:spcBef>
                        <a:spcAft>
                          <a:spcPts val="0"/>
                        </a:spcAft>
                      </a:pPr>
                      <a:r>
                        <a:rPr sz="1400" b="1" i="0">
                          <a:solidFill>
                            <a:srgbClr val="1B2430"/>
                          </a:solidFill>
                          <a:latin typeface="Calibri"/>
                        </a:rPr>
                        <a:t>0,616</a:t>
                      </a:r>
                      <a:r>
                        <a:rPr sz="1400" b="0" i="0">
                          <a:solidFill>
                            <a:srgbClr val="1B2430"/>
                          </a:solidFill>
                          <a:latin typeface="Calibri"/>
                        </a:rPr>
                        <a:t>  [0,567; 0,660]</a:t>
                      </a:r>
                    </a:p>
                  </a:txBody>
                  <a:tcPr marL="91440" marR="91440" marT="36576" marB="36576" anchor="ctr">
                    <a:lnB w="9525" cap="flat" cmpd="sng" algn="ctr">
                      <a:solidFill>
                        <a:srgbClr val="D9DEE6"/>
                      </a:solidFill>
                    </a:lnB>
                    <a:solidFill>
                      <a:srgbClr val="FFFFFF"/>
                    </a:solidFill>
                  </a:tcPr>
                </a:tc>
                <a:tc>
                  <a:txBody>
                    <a:bodyPr wrap="square"/>
                    <a:lstStyle/>
                    <a:p>
                      <a:pPr algn="l">
                        <a:spcBef>
                          <a:spcPts val="0"/>
                        </a:spcBef>
                        <a:spcAft>
                          <a:spcPts val="0"/>
                        </a:spcAft>
                      </a:pPr>
                      <a:r>
                        <a:rPr sz="1400" b="0" i="0">
                          <a:solidFill>
                            <a:srgbClr val="1B2430"/>
                          </a:solidFill>
                          <a:latin typeface="Calibri"/>
                        </a:rPr>
                        <a:t>0,668 (0,581–0,726)</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400" b="0" i="0">
                          <a:solidFill>
                            <a:srgbClr val="1B2430"/>
                          </a:solidFill>
                          <a:latin typeface="Calibri"/>
                        </a:rPr>
                        <a:t>0,174</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400" b="0" i="0">
                          <a:solidFill>
                            <a:srgbClr val="1B2430"/>
                          </a:solidFill>
                          <a:latin typeface="Calibri"/>
                        </a:rPr>
                        <a:t>0,464</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400" b="0" i="0">
                          <a:solidFill>
                            <a:srgbClr val="1B2430"/>
                          </a:solidFill>
                          <a:latin typeface="Calibri"/>
                        </a:rPr>
                        <a:t>+12,5 %</a:t>
                      </a:r>
                    </a:p>
                  </a:txBody>
                  <a:tcPr marL="91440" marR="91440" marT="36576" marB="36576" anchor="ctr">
                    <a:lnB w="9525" cap="flat" cmpd="sng" algn="ctr">
                      <a:solidFill>
                        <a:srgbClr val="D9DEE6"/>
                      </a:solidFill>
                    </a:lnB>
                    <a:solidFill>
                      <a:srgbClr val="FFFFFF"/>
                    </a:solidFill>
                  </a:tcPr>
                </a:tc>
              </a:tr>
              <a:tr h="475488">
                <a:tc>
                  <a:txBody>
                    <a:bodyPr wrap="square"/>
                    <a:lstStyle/>
                    <a:p>
                      <a:pPr algn="l">
                        <a:spcBef>
                          <a:spcPts val="0"/>
                        </a:spcBef>
                        <a:spcAft>
                          <a:spcPts val="0"/>
                        </a:spcAft>
                      </a:pPr>
                      <a:r>
                        <a:rPr sz="1400" b="1" i="0">
                          <a:solidFill>
                            <a:srgbClr val="1B2430"/>
                          </a:solidFill>
                          <a:latin typeface="Calibri"/>
                        </a:rPr>
                        <a:t>DINOv2 100 %</a:t>
                      </a:r>
                    </a:p>
                  </a:txBody>
                  <a:tcPr marL="91440" marR="91440" marT="36576" marB="36576" anchor="ctr">
                    <a:lnB w="9525" cap="flat" cmpd="sng" algn="ctr">
                      <a:solidFill>
                        <a:srgbClr val="D9DEE6"/>
                      </a:solidFill>
                    </a:lnB>
                    <a:solidFill>
                      <a:srgbClr val="FFFFFF"/>
                    </a:solidFill>
                  </a:tcPr>
                </a:tc>
                <a:tc>
                  <a:txBody>
                    <a:bodyPr wrap="square"/>
                    <a:lstStyle/>
                    <a:p>
                      <a:pPr algn="l">
                        <a:spcBef>
                          <a:spcPts val="0"/>
                        </a:spcBef>
                        <a:spcAft>
                          <a:spcPts val="0"/>
                        </a:spcAft>
                      </a:pPr>
                      <a:r>
                        <a:rPr sz="1400" b="1" i="0">
                          <a:solidFill>
                            <a:srgbClr val="1B2430"/>
                          </a:solidFill>
                          <a:latin typeface="Calibri"/>
                        </a:rPr>
                        <a:t>0,639</a:t>
                      </a:r>
                      <a:r>
                        <a:rPr sz="1400" b="0" i="0">
                          <a:solidFill>
                            <a:srgbClr val="1B2430"/>
                          </a:solidFill>
                          <a:latin typeface="Calibri"/>
                        </a:rPr>
                        <a:t>  [0,594; 0,677]</a:t>
                      </a:r>
                    </a:p>
                  </a:txBody>
                  <a:tcPr marL="91440" marR="91440" marT="36576" marB="36576" anchor="ctr">
                    <a:lnB w="9525" cap="flat" cmpd="sng" algn="ctr">
                      <a:solidFill>
                        <a:srgbClr val="D9DEE6"/>
                      </a:solidFill>
                    </a:lnB>
                    <a:solidFill>
                      <a:srgbClr val="FFFFFF"/>
                    </a:solidFill>
                  </a:tcPr>
                </a:tc>
                <a:tc>
                  <a:txBody>
                    <a:bodyPr wrap="square"/>
                    <a:lstStyle/>
                    <a:p>
                      <a:pPr algn="l">
                        <a:spcBef>
                          <a:spcPts val="0"/>
                        </a:spcBef>
                        <a:spcAft>
                          <a:spcPts val="0"/>
                        </a:spcAft>
                      </a:pPr>
                      <a:r>
                        <a:rPr sz="1400" b="0" i="0">
                          <a:solidFill>
                            <a:srgbClr val="1B2430"/>
                          </a:solidFill>
                          <a:latin typeface="Calibri"/>
                        </a:rPr>
                        <a:t>0,679 (0,579–0,740)</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400" b="0" i="0">
                          <a:solidFill>
                            <a:srgbClr val="1B2430"/>
                          </a:solidFill>
                          <a:latin typeface="Calibri"/>
                        </a:rPr>
                        <a:t>0,154</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400" b="0" i="0">
                          <a:solidFill>
                            <a:srgbClr val="1B2430"/>
                          </a:solidFill>
                          <a:latin typeface="Calibri"/>
                        </a:rPr>
                        <a:t>0,485</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400" b="0" i="0">
                          <a:solidFill>
                            <a:srgbClr val="1B2430"/>
                          </a:solidFill>
                          <a:latin typeface="Calibri"/>
                        </a:rPr>
                        <a:t>+14,9 %</a:t>
                      </a:r>
                    </a:p>
                  </a:txBody>
                  <a:tcPr marL="91440" marR="91440" marT="36576" marB="36576" anchor="ctr">
                    <a:lnB w="9525" cap="flat" cmpd="sng" algn="ctr">
                      <a:solidFill>
                        <a:srgbClr val="D9DEE6"/>
                      </a:solidFill>
                    </a:lnB>
                    <a:solidFill>
                      <a:srgbClr val="FFFFFF"/>
                    </a:solidFill>
                  </a:tcPr>
                </a:tc>
              </a:tr>
              <a:tr h="475488">
                <a:tc>
                  <a:txBody>
                    <a:bodyPr wrap="square"/>
                    <a:lstStyle/>
                    <a:p>
                      <a:pPr algn="l">
                        <a:spcBef>
                          <a:spcPts val="0"/>
                        </a:spcBef>
                        <a:spcAft>
                          <a:spcPts val="0"/>
                        </a:spcAft>
                      </a:pPr>
                      <a:r>
                        <a:rPr sz="1400" b="1" i="0">
                          <a:solidFill>
                            <a:srgbClr val="1B2430"/>
                          </a:solidFill>
                          <a:latin typeface="Calibri"/>
                        </a:rPr>
                        <a:t>DINOv2 100 % + PP-4</a:t>
                      </a:r>
                    </a:p>
                  </a:txBody>
                  <a:tcPr marL="91440" marR="91440" marT="36576" marB="36576" anchor="ctr">
                    <a:lnB w="9525" cap="flat" cmpd="sng" algn="ctr">
                      <a:solidFill>
                        <a:srgbClr val="D9DEE6"/>
                      </a:solidFill>
                    </a:lnB>
                    <a:solidFill>
                      <a:srgbClr val="E8F0FB"/>
                    </a:solidFill>
                  </a:tcPr>
                </a:tc>
                <a:tc>
                  <a:txBody>
                    <a:bodyPr wrap="square"/>
                    <a:lstStyle/>
                    <a:p>
                      <a:pPr algn="l">
                        <a:spcBef>
                          <a:spcPts val="0"/>
                        </a:spcBef>
                        <a:spcAft>
                          <a:spcPts val="0"/>
                        </a:spcAft>
                      </a:pPr>
                      <a:r>
                        <a:rPr sz="1400" b="1" i="0">
                          <a:solidFill>
                            <a:srgbClr val="1B2430"/>
                          </a:solidFill>
                          <a:latin typeface="Calibri"/>
                        </a:rPr>
                        <a:t>0,659</a:t>
                      </a:r>
                      <a:r>
                        <a:rPr sz="1400" b="0" i="0">
                          <a:solidFill>
                            <a:srgbClr val="1B2430"/>
                          </a:solidFill>
                          <a:latin typeface="Calibri"/>
                        </a:rPr>
                        <a:t>  [0,612; 0,699]</a:t>
                      </a:r>
                    </a:p>
                  </a:txBody>
                  <a:tcPr marL="91440" marR="91440" marT="36576" marB="36576" anchor="ctr">
                    <a:lnB w="9525" cap="flat" cmpd="sng" algn="ctr">
                      <a:solidFill>
                        <a:srgbClr val="D9DEE6"/>
                      </a:solidFill>
                    </a:lnB>
                    <a:solidFill>
                      <a:srgbClr val="E8F0FB"/>
                    </a:solidFill>
                  </a:tcPr>
                </a:tc>
                <a:tc>
                  <a:txBody>
                    <a:bodyPr wrap="square"/>
                    <a:lstStyle/>
                    <a:p>
                      <a:pPr algn="l">
                        <a:spcBef>
                          <a:spcPts val="0"/>
                        </a:spcBef>
                        <a:spcAft>
                          <a:spcPts val="0"/>
                        </a:spcAft>
                      </a:pPr>
                      <a:r>
                        <a:rPr sz="1400" b="0" i="0">
                          <a:solidFill>
                            <a:srgbClr val="1B2430"/>
                          </a:solidFill>
                          <a:latin typeface="Calibri"/>
                        </a:rPr>
                        <a:t>0,701 (0,581–0,766)</a:t>
                      </a:r>
                    </a:p>
                  </a:txBody>
                  <a:tcPr marL="91440" marR="91440" marT="36576" marB="36576" anchor="ctr">
                    <a:lnB w="9525" cap="flat" cmpd="sng" algn="ctr">
                      <a:solidFill>
                        <a:srgbClr val="D9DEE6"/>
                      </a:solidFill>
                    </a:lnB>
                    <a:solidFill>
                      <a:srgbClr val="E8F0FB"/>
                    </a:solidFill>
                  </a:tcPr>
                </a:tc>
                <a:tc>
                  <a:txBody>
                    <a:bodyPr wrap="square"/>
                    <a:lstStyle/>
                    <a:p>
                      <a:pPr algn="r">
                        <a:spcBef>
                          <a:spcPts val="0"/>
                        </a:spcBef>
                        <a:spcAft>
                          <a:spcPts val="0"/>
                        </a:spcAft>
                      </a:pPr>
                      <a:r>
                        <a:rPr sz="1400" b="0" i="0">
                          <a:solidFill>
                            <a:srgbClr val="1B2430"/>
                          </a:solidFill>
                          <a:latin typeface="Calibri"/>
                        </a:rPr>
                        <a:t>0,164</a:t>
                      </a:r>
                    </a:p>
                  </a:txBody>
                  <a:tcPr marL="91440" marR="91440" marT="36576" marB="36576" anchor="ctr">
                    <a:lnB w="9525" cap="flat" cmpd="sng" algn="ctr">
                      <a:solidFill>
                        <a:srgbClr val="D9DEE6"/>
                      </a:solidFill>
                    </a:lnB>
                    <a:solidFill>
                      <a:srgbClr val="E8F0FB"/>
                    </a:solidFill>
                  </a:tcPr>
                </a:tc>
                <a:tc>
                  <a:txBody>
                    <a:bodyPr wrap="square"/>
                    <a:lstStyle/>
                    <a:p>
                      <a:pPr algn="r">
                        <a:spcBef>
                          <a:spcPts val="0"/>
                        </a:spcBef>
                        <a:spcAft>
                          <a:spcPts val="0"/>
                        </a:spcAft>
                      </a:pPr>
                      <a:r>
                        <a:rPr sz="1400" b="0" i="0">
                          <a:solidFill>
                            <a:srgbClr val="1B2430"/>
                          </a:solidFill>
                          <a:latin typeface="Calibri"/>
                        </a:rPr>
                        <a:t>0,510</a:t>
                      </a:r>
                    </a:p>
                  </a:txBody>
                  <a:tcPr marL="91440" marR="91440" marT="36576" marB="36576" anchor="ctr">
                    <a:lnB w="9525" cap="flat" cmpd="sng" algn="ctr">
                      <a:solidFill>
                        <a:srgbClr val="D9DEE6"/>
                      </a:solidFill>
                    </a:lnB>
                    <a:solidFill>
                      <a:srgbClr val="E8F0FB"/>
                    </a:solidFill>
                  </a:tcPr>
                </a:tc>
                <a:tc>
                  <a:txBody>
                    <a:bodyPr wrap="square"/>
                    <a:lstStyle/>
                    <a:p>
                      <a:pPr algn="r">
                        <a:spcBef>
                          <a:spcPts val="0"/>
                        </a:spcBef>
                        <a:spcAft>
                          <a:spcPts val="0"/>
                        </a:spcAft>
                      </a:pPr>
                      <a:r>
                        <a:rPr sz="1400" b="0" i="0">
                          <a:solidFill>
                            <a:srgbClr val="1B2430"/>
                          </a:solidFill>
                          <a:latin typeface="Calibri"/>
                        </a:rPr>
                        <a:t>+1,4 %</a:t>
                      </a:r>
                    </a:p>
                  </a:txBody>
                  <a:tcPr marL="91440" marR="91440" marT="36576" marB="36576" anchor="ctr">
                    <a:lnB w="9525" cap="flat" cmpd="sng" algn="ctr">
                      <a:solidFill>
                        <a:srgbClr val="D9DEE6"/>
                      </a:solidFill>
                    </a:lnB>
                    <a:solidFill>
                      <a:srgbClr val="E8F0FB"/>
                    </a:solidFill>
                  </a:tcPr>
                </a:tc>
              </a:tr>
            </a:tbl>
          </a:graphicData>
        </a:graphic>
      </p:graphicFrame>
      <p:sp>
        <p:nvSpPr>
          <p:cNvPr id="5" name="card:unet-placeholder"/>
          <p:cNvSpPr/>
          <p:nvPr/>
        </p:nvSpPr>
        <p:spPr>
          <a:xfrm>
            <a:off x="548640" y="4279392"/>
            <a:ext cx="11094415" cy="822960"/>
          </a:xfrm>
          <a:prstGeom prst="roundRect">
            <a:avLst>
              <a:gd name="adj" fmla="val 6000"/>
            </a:avLst>
          </a:prstGeom>
          <a:solidFill>
            <a:srgbClr val="E8F0FB"/>
          </a:solidFill>
          <a:ln w="19050">
            <a:solidFill>
              <a:srgbClr val="184F95"/>
            </a:solidFill>
            <a:prstDash val="dash"/>
          </a:ln>
        </p:spPr>
        <p:txBody>
          <a:bodyPr rtlCol="0" anchor="ctr" wrap="square" lIns="128016" rIns="128016" tIns="102412" bIns="102412">
            <a:noAutofit/>
          </a:bodyPr>
          <a:lstStyle/>
          <a:p>
            <a:pPr algn="ctr">
              <a:spcBef>
                <a:spcPts val="0"/>
              </a:spcBef>
              <a:spcAft>
                <a:spcPts val="400"/>
              </a:spcAft>
            </a:pPr>
            <a:r>
              <a:rPr sz="1800" b="1" i="0">
                <a:solidFill>
                  <a:srgbClr val="184F95"/>
                </a:solidFill>
                <a:latin typeface="Calibri"/>
              </a:rPr>
              <a:t>CHỜ KẾT QUẢ UNET (Khánh)</a:t>
            </a:r>
          </a:p>
          <a:p>
            <a:pPr algn="ctr">
              <a:spcBef>
                <a:spcPts val="0"/>
              </a:spcBef>
              <a:spcAft>
                <a:spcPts val="0"/>
              </a:spcAft>
            </a:pPr>
            <a:r>
              <a:rPr sz="1400" b="0" i="0">
                <a:solidFill>
                  <a:srgbClr val="4A5565"/>
                </a:solidFill>
                <a:latin typeface="Calibri"/>
              </a:rPr>
              <a:t>Ba run UNet (25 %, 50 %, 100 %) sẽ xuất hiện trong bảng này khi có kết quả holdout.</a:t>
            </a:r>
          </a:p>
        </p:txBody>
      </p:sp>
      <p:sp>
        <p:nvSpPr>
          <p:cNvPr id="6" name="source"/>
          <p:cNvSpPr txBox="1"/>
          <p:nvPr/>
        </p:nvSpPr>
        <p:spPr>
          <a:xfrm>
            <a:off x="548640" y="6053328"/>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Hàng được tô = Dice cao nhất. Sai lệch thể tích = (V dự đoán − V ground truth) / V ground truth, theo voxel. Nguồn: results_aggregate.json (n = 54).</a:t>
            </a:r>
          </a:p>
        </p:txBody>
      </p:sp>
      <p:sp>
        <p:nvSpPr>
          <p:cNvPr id="7"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8"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CI của từng run chồng nhau, nên cần so sánh cặp theo case</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HỌC MÁY · KẾT QUẢ</a:t>
            </a:r>
          </a:p>
        </p:txBody>
      </p:sp>
      <p:pic>
        <p:nvPicPr>
          <p:cNvPr id="4" name="figure" descr="Dice 3D trung bình và khoảng tin cậy 95 % theo từng run"/>
          <p:cNvPicPr>
            <a:picLocks noChangeAspect="1"/>
          </p:cNvPicPr>
          <p:nvPr/>
        </p:nvPicPr>
        <p:blipFill>
          <a:blip r:embed="rId3"/>
          <a:stretch>
            <a:fillRect/>
          </a:stretch>
        </p:blipFill>
        <p:spPr>
          <a:xfrm>
            <a:off x="548640" y="1600200"/>
            <a:ext cx="7802880" cy="4389120"/>
          </a:xfrm>
          <a:prstGeom prst="rect">
            <a:avLst/>
          </a:prstGeom>
        </p:spPr>
      </p:pic>
      <p:sp>
        <p:nvSpPr>
          <p:cNvPr id="5" name="tile"/>
          <p:cNvSpPr/>
          <p:nvPr/>
        </p:nvSpPr>
        <p:spPr>
          <a:xfrm>
            <a:off x="8641080" y="1645920"/>
            <a:ext cx="3001975" cy="1645920"/>
          </a:xfrm>
          <a:prstGeom prst="roundRect">
            <a:avLst>
              <a:gd name="adj" fmla="val 6000"/>
            </a:avLst>
          </a:prstGeom>
          <a:solidFill>
            <a:srgbClr val="FFFFFF"/>
          </a:solidFill>
          <a:ln w="12700">
            <a:solidFill>
              <a:srgbClr val="D9DEE6"/>
            </a:solidFill>
          </a:ln>
        </p:spPr>
        <p:txBody>
          <a:bodyPr rtlCol="0" anchor="ctr" wrap="square" lIns="164592" rIns="164592" tIns="131673" bIns="131673">
            <a:noAutofit/>
          </a:bodyPr>
          <a:lstStyle/>
          <a:p>
            <a:pPr algn="l">
              <a:spcBef>
                <a:spcPts val="0"/>
              </a:spcBef>
              <a:spcAft>
                <a:spcPts val="200"/>
              </a:spcAft>
            </a:pPr>
            <a:r>
              <a:rPr sz="3600" b="1" i="0">
                <a:solidFill>
                  <a:srgbClr val="EB6834"/>
                </a:solidFill>
                <a:latin typeface="Calibri"/>
              </a:rPr>
              <a:t>0,659</a:t>
            </a:r>
          </a:p>
          <a:p>
            <a:pPr algn="l">
              <a:spcBef>
                <a:spcPts val="0"/>
              </a:spcBef>
              <a:spcAft>
                <a:spcPts val="200"/>
              </a:spcAft>
            </a:pPr>
            <a:r>
              <a:rPr sz="1400" b="0" i="0">
                <a:solidFill>
                  <a:srgbClr val="1B2430"/>
                </a:solidFill>
                <a:latin typeface="Calibri"/>
              </a:rPr>
              <a:t>Dice 3D TB cao nhất: DINOv2 100 % + PP-4</a:t>
            </a:r>
          </a:p>
          <a:p>
            <a:pPr algn="l">
              <a:spcBef>
                <a:spcPts val="0"/>
              </a:spcBef>
              <a:spcAft>
                <a:spcPts val="0"/>
              </a:spcAft>
            </a:pPr>
            <a:r>
              <a:rPr sz="1200" b="0" i="0">
                <a:solidFill>
                  <a:srgbClr val="6B7482"/>
                </a:solidFill>
                <a:latin typeface="Calibri"/>
              </a:rPr>
              <a:t>CI 95 % [0,612; 0,699]</a:t>
            </a:r>
          </a:p>
        </p:txBody>
      </p:sp>
      <p:sp>
        <p:nvSpPr>
          <p:cNvPr id="6" name="bullets"/>
          <p:cNvSpPr txBox="1"/>
          <p:nvPr/>
        </p:nvSpPr>
        <p:spPr>
          <a:xfrm>
            <a:off x="8641080" y="3474720"/>
            <a:ext cx="3001975" cy="2468880"/>
          </a:xfrm>
          <a:prstGeom prst="rect">
            <a:avLst/>
          </a:prstGeom>
          <a:noFill/>
        </p:spPr>
        <p:txBody>
          <a:bodyPr wrap="square" lIns="0" rIns="0" tIns="0" bIns="0" anchor="t">
            <a:noAutofit/>
          </a:bodyPr>
          <a:lstStyle/>
          <a:p>
            <a:pPr algn="l" marL="219456" indent="-219456">
              <a:spcBef>
                <a:spcPts val="0"/>
              </a:spcBef>
              <a:spcAft>
                <a:spcPts val="800"/>
              </a:spcAft>
              <a:buClr>
                <a:srgbClr val="2A78D6"/>
              </a:buClr>
              <a:buFont typeface="Arial"/>
              <a:buChar char="•"/>
            </a:pPr>
            <a:r>
              <a:rPr sz="1400" b="0" i="0">
                <a:solidFill>
                  <a:srgbClr val="1B2430"/>
                </a:solidFill>
                <a:latin typeface="Calibri"/>
              </a:rPr>
              <a:t>Các run xếp từ ít đến nhiều dữ liệu, rồi đến bản hậu xử lý; điểm là trung bình, vạch là CI 95 %.</a:t>
            </a:r>
          </a:p>
          <a:p>
            <a:pPr algn="l" marL="219456" indent="-219456">
              <a:spcBef>
                <a:spcPts val="0"/>
              </a:spcBef>
              <a:spcAft>
                <a:spcPts val="800"/>
              </a:spcAft>
              <a:buClr>
                <a:srgbClr val="2A78D6"/>
              </a:buClr>
              <a:buFont typeface="Arial"/>
              <a:buChar char="•"/>
            </a:pPr>
            <a:r>
              <a:rPr sz="1400" b="0" i="0">
                <a:solidFill>
                  <a:srgbClr val="1B2430"/>
                </a:solidFill>
                <a:latin typeface="Calibri"/>
              </a:rPr>
              <a:t>5 trong 6 cặp run có CI chồng nhau: nhìn riêng từng CI không đủ để kết luận.</a:t>
            </a:r>
          </a:p>
          <a:p>
            <a:pPr algn="l" marL="219456" indent="-219456">
              <a:spcBef>
                <a:spcPts val="0"/>
              </a:spcBef>
              <a:spcAft>
                <a:spcPts val="800"/>
              </a:spcAft>
              <a:buClr>
                <a:srgbClr val="2A78D6"/>
              </a:buClr>
              <a:buFont typeface="Arial"/>
              <a:buChar char="•"/>
            </a:pPr>
            <a:r>
              <a:rPr sz="1400" b="0" i="0">
                <a:solidFill>
                  <a:srgbClr val="1B2430"/>
                </a:solidFill>
                <a:latin typeface="Calibri"/>
              </a:rPr>
              <a:t>Phép so sánh đúng là so sánh cặp theo từng case (slide sau).</a:t>
            </a:r>
          </a:p>
        </p:txBody>
      </p:sp>
      <p:sp>
        <p:nvSpPr>
          <p:cNvPr id="7" name="source"/>
          <p:cNvSpPr txBox="1"/>
          <p:nvPr/>
        </p:nvSpPr>
        <p:spPr>
          <a:xfrm>
            <a:off x="548640" y="6053328"/>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Nguồn: results_aggregate.json (n = 54); hình sinh bởi tools/report/build_report_assets.py.</a:t>
            </a:r>
          </a:p>
        </p:txBody>
      </p:sp>
      <p:sp>
        <p:nvSpPr>
          <p:cNvPr id="8"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9"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Ít dữ liệu hơn thì Dice thấp hơn; mức tăng chủ yếu ở nửa đầu</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HỌC MÁY · KẾT QUẢ</a:t>
            </a:r>
          </a:p>
        </p:txBody>
      </p:sp>
      <p:pic>
        <p:nvPicPr>
          <p:cNvPr id="4" name="figure" descr="Dice 3D trung bình theo số case huấn luyện hiệu dụng, vùng mờ là CI 95 %"/>
          <p:cNvPicPr>
            <a:picLocks noChangeAspect="1"/>
          </p:cNvPicPr>
          <p:nvPr/>
        </p:nvPicPr>
        <p:blipFill>
          <a:blip r:embed="rId3"/>
          <a:stretch>
            <a:fillRect/>
          </a:stretch>
        </p:blipFill>
        <p:spPr>
          <a:xfrm>
            <a:off x="548640" y="1600200"/>
            <a:ext cx="7802880" cy="4389120"/>
          </a:xfrm>
          <a:prstGeom prst="rect">
            <a:avLst/>
          </a:prstGeom>
        </p:spPr>
      </p:pic>
      <p:sp>
        <p:nvSpPr>
          <p:cNvPr id="5" name="bullets"/>
          <p:cNvSpPr txBox="1"/>
          <p:nvPr/>
        </p:nvSpPr>
        <p:spPr>
          <a:xfrm>
            <a:off x="8641080" y="1645920"/>
            <a:ext cx="3001975" cy="4297680"/>
          </a:xfrm>
          <a:prstGeom prst="rect">
            <a:avLst/>
          </a:prstGeom>
          <a:noFill/>
        </p:spPr>
        <p:txBody>
          <a:bodyPr wrap="square" lIns="0" rIns="0" tIns="0" bIns="0" anchor="t">
            <a:noAutofit/>
          </a:bodyPr>
          <a:lstStyle/>
          <a:p>
            <a:pPr algn="l" marL="219456" indent="-219456">
              <a:spcBef>
                <a:spcPts val="0"/>
              </a:spcBef>
              <a:spcAft>
                <a:spcPts val="800"/>
              </a:spcAft>
              <a:buClr>
                <a:srgbClr val="2A78D6"/>
              </a:buClr>
              <a:buFont typeface="Arial"/>
              <a:buChar char="•"/>
            </a:pPr>
            <a:r>
              <a:rPr sz="1400" b="0" i="0">
                <a:solidFill>
                  <a:srgbClr val="1B2430"/>
                </a:solidFill>
                <a:latin typeface="Calibri"/>
              </a:rPr>
              <a:t>Họ DINOv2, 20 → 78 case: Dice +0,081 [+0,047; +0,118], CI không chứa 0.</a:t>
            </a:r>
          </a:p>
          <a:p>
            <a:pPr algn="l" marL="219456" indent="-219456">
              <a:spcBef>
                <a:spcPts val="0"/>
              </a:spcBef>
              <a:spcAft>
                <a:spcPts val="800"/>
              </a:spcAft>
              <a:buClr>
                <a:srgbClr val="2A78D6"/>
              </a:buClr>
              <a:buFont typeface="Arial"/>
              <a:buChar char="•"/>
            </a:pPr>
            <a:r>
              <a:rPr sz="1400" b="0" i="0">
                <a:solidFill>
                  <a:srgbClr val="1B2430"/>
                </a:solidFill>
                <a:latin typeface="Calibri"/>
              </a:rPr>
              <a:t>25 % → 50 %: +0,057 [+0,036; +0,083]</a:t>
            </a:r>
          </a:p>
          <a:p>
            <a:pPr algn="l" marL="219456" indent="-219456">
              <a:spcBef>
                <a:spcPts val="0"/>
              </a:spcBef>
              <a:spcAft>
                <a:spcPts val="800"/>
              </a:spcAft>
              <a:buClr>
                <a:srgbClr val="2A78D6"/>
              </a:buClr>
              <a:buFont typeface="Arial"/>
              <a:buChar char="•"/>
            </a:pPr>
            <a:r>
              <a:rPr sz="1400" b="0" i="0">
                <a:solidFill>
                  <a:srgbClr val="1B2430"/>
                </a:solidFill>
                <a:latin typeface="Calibri"/>
              </a:rPr>
              <a:t>50 % → 100 %: +0,023 [−0,001; +0,051] (CI chạm 0)</a:t>
            </a:r>
          </a:p>
          <a:p>
            <a:pPr algn="l" marL="219456" indent="-219456">
              <a:spcBef>
                <a:spcPts val="0"/>
              </a:spcBef>
              <a:spcAft>
                <a:spcPts val="800"/>
              </a:spcAft>
              <a:buClr>
                <a:srgbClr val="2A78D6"/>
              </a:buClr>
              <a:buFont typeface="Arial"/>
              <a:buChar char="•"/>
            </a:pPr>
            <a:r>
              <a:rPr sz="1400" b="0" i="0">
                <a:solidFill>
                  <a:srgbClr val="1B2430"/>
                </a:solidFill>
                <a:latin typeface="Calibri"/>
              </a:rPr>
              <a:t>Mỗi mức là một run, một seed: chênh lệch gồm cả phương sai giữa các lần chạy.</a:t>
            </a:r>
          </a:p>
        </p:txBody>
      </p:sp>
      <p:sp>
        <p:nvSpPr>
          <p:cNvPr id="6" name="card:unet-placeholder"/>
          <p:cNvSpPr/>
          <p:nvPr/>
        </p:nvSpPr>
        <p:spPr>
          <a:xfrm>
            <a:off x="8641080" y="5074920"/>
            <a:ext cx="3001975" cy="868680"/>
          </a:xfrm>
          <a:prstGeom prst="roundRect">
            <a:avLst>
              <a:gd name="adj" fmla="val 6000"/>
            </a:avLst>
          </a:prstGeom>
          <a:solidFill>
            <a:srgbClr val="E8F0FB"/>
          </a:solidFill>
          <a:ln w="19050">
            <a:solidFill>
              <a:srgbClr val="184F95"/>
            </a:solidFill>
            <a:prstDash val="dash"/>
          </a:ln>
        </p:spPr>
        <p:txBody>
          <a:bodyPr rtlCol="0" anchor="ctr" wrap="square" lIns="128016" rIns="128016" tIns="102412" bIns="102412">
            <a:noAutofit/>
          </a:bodyPr>
          <a:lstStyle/>
          <a:p>
            <a:pPr algn="ctr">
              <a:spcBef>
                <a:spcPts val="0"/>
              </a:spcBef>
              <a:spcAft>
                <a:spcPts val="400"/>
              </a:spcAft>
            </a:pPr>
            <a:r>
              <a:rPr sz="1500" b="1" i="0">
                <a:solidFill>
                  <a:srgbClr val="184F95"/>
                </a:solidFill>
                <a:latin typeface="Calibri"/>
              </a:rPr>
              <a:t>CHỜ KẾT QUẢ UNET (Khánh)</a:t>
            </a:r>
          </a:p>
          <a:p>
            <a:pPr algn="ctr">
              <a:spcBef>
                <a:spcPts val="0"/>
              </a:spcBef>
              <a:spcAft>
                <a:spcPts val="0"/>
              </a:spcAft>
            </a:pPr>
            <a:r>
              <a:rPr sz="1200" b="0" i="0">
                <a:solidFill>
                  <a:srgbClr val="4A5565"/>
                </a:solidFill>
                <a:latin typeface="Calibri"/>
              </a:rPr>
              <a:t>họ UNet sẽ thành đường thứ hai trong hình</a:t>
            </a:r>
          </a:p>
        </p:txBody>
      </p:sp>
      <p:sp>
        <p:nvSpPr>
          <p:cNvPr id="7" name="source"/>
          <p:cNvSpPr txBox="1"/>
          <p:nvPr/>
        </p:nvSpPr>
        <p:spPr>
          <a:xfrm>
            <a:off x="548640" y="6053328"/>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Nguồn: results_aggregate.json (n = 54); hình sinh bởi tools/report/build_report_assets.py.</a:t>
            </a:r>
          </a:p>
        </p:txBody>
      </p:sp>
      <p:sp>
        <p:nvSpPr>
          <p:cNvPr id="8"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9"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So sánh cặp từng case: delta Dice kèm CI 95 %</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HỌC MÁY · KẾT QUẢ</a:t>
            </a:r>
          </a:p>
        </p:txBody>
      </p:sp>
      <p:pic>
        <p:nvPicPr>
          <p:cNvPr id="4" name="figure" descr="Biểu đồ forest: delta Dice trung bình theo cặp run, kèm CI 95 %"/>
          <p:cNvPicPr>
            <a:picLocks noChangeAspect="1"/>
          </p:cNvPicPr>
          <p:nvPr/>
        </p:nvPicPr>
        <p:blipFill>
          <a:blip r:embed="rId3"/>
          <a:stretch>
            <a:fillRect/>
          </a:stretch>
        </p:blipFill>
        <p:spPr>
          <a:xfrm>
            <a:off x="548640" y="1600200"/>
            <a:ext cx="7802880" cy="4389120"/>
          </a:xfrm>
          <a:prstGeom prst="rect">
            <a:avLst/>
          </a:prstGeom>
        </p:spPr>
      </p:pic>
      <p:sp>
        <p:nvSpPr>
          <p:cNvPr id="5" name="bullets"/>
          <p:cNvSpPr txBox="1"/>
          <p:nvPr/>
        </p:nvSpPr>
        <p:spPr>
          <a:xfrm>
            <a:off x="8641080" y="1645920"/>
            <a:ext cx="3001975" cy="4297680"/>
          </a:xfrm>
          <a:prstGeom prst="rect">
            <a:avLst/>
          </a:prstGeom>
          <a:noFill/>
        </p:spPr>
        <p:txBody>
          <a:bodyPr wrap="square" lIns="0" rIns="0" tIns="0" bIns="0" anchor="t">
            <a:noAutofit/>
          </a:bodyPr>
          <a:lstStyle/>
          <a:p>
            <a:pPr algn="l" marL="219456" indent="-219456">
              <a:spcBef>
                <a:spcPts val="0"/>
              </a:spcBef>
              <a:spcAft>
                <a:spcPts val="800"/>
              </a:spcAft>
              <a:buClr>
                <a:srgbClr val="2A78D6"/>
              </a:buClr>
              <a:buFont typeface="Arial"/>
              <a:buChar char="•"/>
            </a:pPr>
            <a:r>
              <a:rPr sz="1400" b="0" i="0">
                <a:solidFill>
                  <a:srgbClr val="1B2430"/>
                </a:solidFill>
                <a:latin typeface="Calibri"/>
              </a:rPr>
              <a:t>Chấm đặc: CI không chứa 0. Chấm rỗng: CI chứa 0, chưa khẳng định được.</a:t>
            </a:r>
          </a:p>
          <a:p>
            <a:pPr algn="l" marL="219456" indent="-219456">
              <a:spcBef>
                <a:spcPts val="0"/>
              </a:spcBef>
              <a:spcAft>
                <a:spcPts val="800"/>
              </a:spcAft>
              <a:buClr>
                <a:srgbClr val="2A78D6"/>
              </a:buClr>
              <a:buFont typeface="Arial"/>
              <a:buChar char="•"/>
            </a:pPr>
            <a:r>
              <a:rPr sz="1400" b="0" i="0">
                <a:solidFill>
                  <a:srgbClr val="1B2430"/>
                </a:solidFill>
                <a:latin typeface="Calibri"/>
              </a:rPr>
              <a:t>Hậu xử lý: +0,020 [+0,015; +0,026]; 45/54 case tốt hơn.</a:t>
            </a:r>
          </a:p>
          <a:p>
            <a:pPr algn="l" marL="219456" indent="-219456">
              <a:spcBef>
                <a:spcPts val="0"/>
              </a:spcBef>
              <a:spcAft>
                <a:spcPts val="800"/>
              </a:spcAft>
              <a:buClr>
                <a:srgbClr val="2A78D6"/>
              </a:buClr>
              <a:buFont typeface="Arial"/>
              <a:buChar char="•"/>
            </a:pPr>
            <a:r>
              <a:rPr sz="1400" b="0" i="0">
                <a:solidFill>
                  <a:srgbClr val="1B2430"/>
                </a:solidFill>
                <a:latin typeface="Calibri"/>
              </a:rPr>
              <a:t>DINOv2 50 % → DINOv2 100 %: CI chạm hoặc chứa 0.</a:t>
            </a:r>
          </a:p>
          <a:p>
            <a:pPr algn="l" marL="219456" indent="-219456">
              <a:spcBef>
                <a:spcPts val="0"/>
              </a:spcBef>
              <a:spcAft>
                <a:spcPts val="800"/>
              </a:spcAft>
              <a:buClr>
                <a:srgbClr val="2A78D6"/>
              </a:buClr>
              <a:buFont typeface="Arial"/>
              <a:buChar char="•"/>
            </a:pPr>
            <a:r>
              <a:rPr sz="1400" b="0" i="0">
                <a:solidFill>
                  <a:srgbClr val="1B2430"/>
                </a:solidFill>
                <a:latin typeface="Calibri"/>
              </a:rPr>
              <a:t>Không hiệu chỉnh đa so sánh; mỗi mức dữ liệu một seed.</a:t>
            </a:r>
          </a:p>
        </p:txBody>
      </p:sp>
      <p:sp>
        <p:nvSpPr>
          <p:cNvPr id="6" name="source"/>
          <p:cNvSpPr txBox="1"/>
          <p:nvPr/>
        </p:nvSpPr>
        <p:spPr>
          <a:xfrm>
            <a:off x="548640" y="6053328"/>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Nguồn: results_aggregate.json (n = 54); hình sinh bởi tools/report/build_report_assets.py.</a:t>
            </a:r>
          </a:p>
        </p:txBody>
      </p:sp>
      <p:sp>
        <p:nvSpPr>
          <p:cNvPr id="7"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8"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RQ-A: UNet so với DINOv2 khi giảm dữ liệu</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HỌC MÁY · SO SÁNH MÔ HÌNH</a:t>
            </a:r>
          </a:p>
        </p:txBody>
      </p:sp>
      <p:sp>
        <p:nvSpPr>
          <p:cNvPr id="4" name="card:unet-placeholder"/>
          <p:cNvSpPr/>
          <p:nvPr/>
        </p:nvSpPr>
        <p:spPr>
          <a:xfrm>
            <a:off x="548640" y="1645920"/>
            <a:ext cx="11094415" cy="2011680"/>
          </a:xfrm>
          <a:prstGeom prst="roundRect">
            <a:avLst>
              <a:gd name="adj" fmla="val 6000"/>
            </a:avLst>
          </a:prstGeom>
          <a:solidFill>
            <a:srgbClr val="E8F0FB"/>
          </a:solidFill>
          <a:ln w="19050">
            <a:solidFill>
              <a:srgbClr val="184F95"/>
            </a:solidFill>
            <a:prstDash val="dash"/>
          </a:ln>
        </p:spPr>
        <p:txBody>
          <a:bodyPr rtlCol="0" anchor="ctr" wrap="square" lIns="128016" rIns="128016" tIns="102412" bIns="102412">
            <a:noAutofit/>
          </a:bodyPr>
          <a:lstStyle/>
          <a:p>
            <a:pPr algn="ctr">
              <a:spcBef>
                <a:spcPts val="0"/>
              </a:spcBef>
              <a:spcAft>
                <a:spcPts val="400"/>
              </a:spcAft>
            </a:pPr>
            <a:r>
              <a:rPr sz="3000" b="1" i="0">
                <a:solidFill>
                  <a:srgbClr val="184F95"/>
                </a:solidFill>
                <a:latin typeface="Calibri"/>
              </a:rPr>
              <a:t>CHỜ KẾT QUẢ UNET (Khánh)</a:t>
            </a:r>
          </a:p>
          <a:p>
            <a:pPr algn="ctr">
              <a:spcBef>
                <a:spcPts val="0"/>
              </a:spcBef>
              <a:spcAft>
                <a:spcPts val="0"/>
              </a:spcAft>
            </a:pPr>
            <a:r>
              <a:rPr sz="1800" b="0" i="0">
                <a:solidFill>
                  <a:srgbClr val="4A5565"/>
                </a:solidFill>
                <a:latin typeface="Calibri"/>
              </a:rPr>
              <a:t>Chưa có run UNet nào trong results_aggregate.json. Câu hỏi RQ-A chưa trả lời được.</a:t>
            </a:r>
          </a:p>
        </p:txBody>
      </p:sp>
      <p:sp>
        <p:nvSpPr>
          <p:cNvPr id="5" name="card"/>
          <p:cNvSpPr/>
          <p:nvPr/>
        </p:nvSpPr>
        <p:spPr>
          <a:xfrm>
            <a:off x="548640" y="3931920"/>
            <a:ext cx="3576218" cy="2011680"/>
          </a:xfrm>
          <a:prstGeom prst="roundRect">
            <a:avLst>
              <a:gd name="adj" fmla="val 6000"/>
            </a:avLst>
          </a:prstGeom>
          <a:solidFill>
            <a:srgbClr val="FFFFFF"/>
          </a:solidFill>
          <a:ln w="12700">
            <a:solidFill>
              <a:srgbClr val="D9DEE6"/>
            </a:solidFill>
          </a:ln>
        </p:spPr>
        <p:txBody>
          <a:bodyPr rtlCol="0" anchor="t" wrap="square" lIns="182880" rIns="182880" tIns="146304" bIns="146304">
            <a:noAutofit/>
          </a:bodyPr>
          <a:lstStyle/>
          <a:p>
            <a:pPr algn="l">
              <a:spcBef>
                <a:spcPts val="0"/>
              </a:spcBef>
              <a:spcAft>
                <a:spcPts val="600"/>
              </a:spcAft>
            </a:pPr>
            <a:r>
              <a:rPr sz="1700" b="1" i="0">
                <a:solidFill>
                  <a:srgbClr val="184F95"/>
                </a:solidFill>
                <a:latin typeface="Calibri"/>
              </a:rPr>
              <a:t>Sẽ hiện ở đây</a:t>
            </a:r>
          </a:p>
          <a:p>
            <a:pPr algn="l" marL="219456" indent="-219456">
              <a:spcBef>
                <a:spcPts val="0"/>
              </a:spcBef>
              <a:spcAft>
                <a:spcPts val="400"/>
              </a:spcAft>
              <a:buClr>
                <a:srgbClr val="2A78D6"/>
              </a:buClr>
              <a:buFont typeface="Arial"/>
              <a:buChar char="•"/>
            </a:pPr>
            <a:r>
              <a:rPr sz="1400" b="0" i="0">
                <a:solidFill>
                  <a:srgbClr val="1B2430"/>
                </a:solidFill>
                <a:latin typeface="Calibri"/>
              </a:rPr>
              <a:t>Dice 3D của ba mức × hai mô hình</a:t>
            </a:r>
          </a:p>
          <a:p>
            <a:pPr algn="l" marL="219456" indent="-219456">
              <a:spcBef>
                <a:spcPts val="0"/>
              </a:spcBef>
              <a:spcAft>
                <a:spcPts val="400"/>
              </a:spcAft>
              <a:buClr>
                <a:srgbClr val="2A78D6"/>
              </a:buClr>
              <a:buFont typeface="Arial"/>
              <a:buChar char="•"/>
            </a:pPr>
            <a:r>
              <a:rPr sz="1400" b="0" i="0">
                <a:solidFill>
                  <a:srgbClr val="1B2430"/>
                </a:solidFill>
                <a:latin typeface="Calibri"/>
              </a:rPr>
              <a:t>Delta cặp UNet − DINOv2 tại từng mức, kèm CI 95 %</a:t>
            </a:r>
          </a:p>
        </p:txBody>
      </p:sp>
      <p:sp>
        <p:nvSpPr>
          <p:cNvPr id="6" name="card"/>
          <p:cNvSpPr/>
          <p:nvPr/>
        </p:nvSpPr>
        <p:spPr>
          <a:xfrm>
            <a:off x="4307738" y="3931920"/>
            <a:ext cx="3576218" cy="2011680"/>
          </a:xfrm>
          <a:prstGeom prst="roundRect">
            <a:avLst>
              <a:gd name="adj" fmla="val 6000"/>
            </a:avLst>
          </a:prstGeom>
          <a:solidFill>
            <a:srgbClr val="FFFFFF"/>
          </a:solidFill>
          <a:ln w="12700">
            <a:solidFill>
              <a:srgbClr val="D9DEE6"/>
            </a:solidFill>
          </a:ln>
        </p:spPr>
        <p:txBody>
          <a:bodyPr rtlCol="0" anchor="t" wrap="square" lIns="182880" rIns="182880" tIns="146304" bIns="146304">
            <a:noAutofit/>
          </a:bodyPr>
          <a:lstStyle/>
          <a:p>
            <a:pPr algn="l">
              <a:spcBef>
                <a:spcPts val="0"/>
              </a:spcBef>
              <a:spcAft>
                <a:spcPts val="600"/>
              </a:spcAft>
            </a:pPr>
            <a:r>
              <a:rPr sz="1700" b="1" i="0">
                <a:solidFill>
                  <a:srgbClr val="184F95"/>
                </a:solidFill>
                <a:latin typeface="Calibri"/>
              </a:rPr>
              <a:t>Cách điền tự động</a:t>
            </a:r>
          </a:p>
          <a:p>
            <a:pPr algn="l" marL="219456" indent="-219456">
              <a:spcBef>
                <a:spcPts val="0"/>
              </a:spcBef>
              <a:spcAft>
                <a:spcPts val="400"/>
              </a:spcAft>
              <a:buClr>
                <a:srgbClr val="2A78D6"/>
              </a:buClr>
              <a:buFont typeface="Arial"/>
              <a:buChar char="•"/>
            </a:pPr>
            <a:r>
              <a:rPr sz="1400" b="0" i="0">
                <a:solidFill>
                  <a:srgbClr val="1B2430"/>
                </a:solidFill>
                <a:latin typeface="Calibri"/>
              </a:rPr>
              <a:t>Thêm EXP-U-* vào --runs và chạy lại tools/report/build_all.py</a:t>
            </a:r>
          </a:p>
          <a:p>
            <a:pPr algn="l" marL="219456" indent="-219456">
              <a:spcBef>
                <a:spcPts val="0"/>
              </a:spcBef>
              <a:spcAft>
                <a:spcPts val="400"/>
              </a:spcAft>
              <a:buClr>
                <a:srgbClr val="2A78D6"/>
              </a:buClr>
              <a:buFont typeface="Arial"/>
              <a:buChar char="•"/>
            </a:pPr>
            <a:r>
              <a:rPr sz="1400" b="0" i="0">
                <a:solidFill>
                  <a:srgbClr val="1B2430"/>
                </a:solidFill>
                <a:latin typeface="Calibri"/>
              </a:rPr>
              <a:t>Không sửa slide bằng tay</a:t>
            </a:r>
          </a:p>
        </p:txBody>
      </p:sp>
      <p:sp>
        <p:nvSpPr>
          <p:cNvPr id="7" name="card"/>
          <p:cNvSpPr/>
          <p:nvPr/>
        </p:nvSpPr>
        <p:spPr>
          <a:xfrm>
            <a:off x="8066836" y="3931920"/>
            <a:ext cx="3576218" cy="2011680"/>
          </a:xfrm>
          <a:prstGeom prst="roundRect">
            <a:avLst>
              <a:gd name="adj" fmla="val 6000"/>
            </a:avLst>
          </a:prstGeom>
          <a:solidFill>
            <a:srgbClr val="FFFFFF"/>
          </a:solidFill>
          <a:ln w="12700">
            <a:solidFill>
              <a:srgbClr val="D9DEE6"/>
            </a:solidFill>
          </a:ln>
        </p:spPr>
        <p:txBody>
          <a:bodyPr rtlCol="0" anchor="t" wrap="square" lIns="182880" rIns="182880" tIns="146304" bIns="146304">
            <a:noAutofit/>
          </a:bodyPr>
          <a:lstStyle/>
          <a:p>
            <a:pPr algn="l">
              <a:spcBef>
                <a:spcPts val="0"/>
              </a:spcBef>
              <a:spcAft>
                <a:spcPts val="600"/>
              </a:spcAft>
            </a:pPr>
            <a:r>
              <a:rPr sz="1700" b="1" i="0">
                <a:solidFill>
                  <a:srgbClr val="184F95"/>
                </a:solidFill>
                <a:latin typeface="Calibri"/>
              </a:rPr>
              <a:t>Lịch và rủi ro</a:t>
            </a:r>
          </a:p>
          <a:p>
            <a:pPr algn="l" marL="219456" indent="-219456">
              <a:spcBef>
                <a:spcPts val="0"/>
              </a:spcBef>
              <a:spcAft>
                <a:spcPts val="400"/>
              </a:spcAft>
              <a:buClr>
                <a:srgbClr val="2A78D6"/>
              </a:buClr>
              <a:buFont typeface="Arial"/>
              <a:buChar char="•"/>
            </a:pPr>
            <a:r>
              <a:rPr sz="1400" b="0" i="0">
                <a:solidFill>
                  <a:srgbClr val="1B2430"/>
                </a:solidFill>
                <a:latin typeface="Calibri"/>
              </a:rPr>
              <a:t>UNet 3/3 dự kiến 24/10 tối</a:t>
            </a:r>
          </a:p>
          <a:p>
            <a:pPr algn="l" marL="219456" indent="-219456">
              <a:spcBef>
                <a:spcPts val="0"/>
              </a:spcBef>
              <a:spcAft>
                <a:spcPts val="400"/>
              </a:spcAft>
              <a:buClr>
                <a:srgbClr val="2A78D6"/>
              </a:buClr>
              <a:buFont typeface="Arial"/>
              <a:buChar char="•"/>
            </a:pPr>
            <a:r>
              <a:rPr sz="1400" b="0" i="0">
                <a:solidFill>
                  <a:srgbClr val="1B2430"/>
                </a:solidFill>
                <a:latin typeface="Calibri"/>
              </a:rPr>
              <a:t>Đường găng: UNet trên RTX 4050 (Khánh) → đánh giá holdout UNet → H10 đủ → TC-E2E-001 → báo cáo</a:t>
            </a:r>
          </a:p>
        </p:txBody>
      </p:sp>
      <p:sp>
        <p:nvSpPr>
          <p:cNvPr id="8" name="source"/>
          <p:cNvSpPr txBox="1"/>
          <p:nvPr/>
        </p:nvSpPr>
        <p:spPr>
          <a:xfrm>
            <a:off x="548640" y="6053328"/>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Nguồn: management/day40/REPLAN_TO_2026-10-31.md; ADR-ML-001; DR-016a.</a:t>
            </a:r>
          </a:p>
        </p:txBody>
      </p:sp>
      <p:sp>
        <p:nvSpPr>
          <p:cNvPr id="9"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10"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Từ voxel đến mặt nạ: chuẩn hoá theo volume, hai biến thể tách bạch</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XỬ LÝ ẢNH · CHUẨN HOÁ VÀ RESIZE</a:t>
            </a:r>
          </a:p>
        </p:txBody>
      </p:sp>
      <p:sp>
        <p:nvSpPr>
          <p:cNvPr id="4" name="card"/>
          <p:cNvSpPr/>
          <p:nvPr/>
        </p:nvSpPr>
        <p:spPr>
          <a:xfrm>
            <a:off x="548640" y="1645920"/>
            <a:ext cx="2499283" cy="1691640"/>
          </a:xfrm>
          <a:prstGeom prst="roundRect">
            <a:avLst>
              <a:gd name="adj" fmla="val 6000"/>
            </a:avLst>
          </a:prstGeom>
          <a:solidFill>
            <a:srgbClr val="FFFFFF"/>
          </a:solidFill>
          <a:ln w="12700">
            <a:solidFill>
              <a:srgbClr val="D9DEE6"/>
            </a:solidFill>
          </a:ln>
        </p:spPr>
        <p:txBody>
          <a:bodyPr rtlCol="0" anchor="t" wrap="square" lIns="146304" rIns="146304" tIns="117043" bIns="117043">
            <a:noAutofit/>
          </a:bodyPr>
          <a:lstStyle/>
          <a:p>
            <a:pPr algn="l">
              <a:spcBef>
                <a:spcPts val="0"/>
              </a:spcBef>
              <a:spcAft>
                <a:spcPts val="500"/>
              </a:spcAft>
            </a:pPr>
            <a:r>
              <a:rPr sz="1700" b="1" i="0">
                <a:solidFill>
                  <a:srgbClr val="184F95"/>
                </a:solidFill>
                <a:latin typeface="Calibri"/>
              </a:rPr>
              <a:t>1 · Volume NRRD</a:t>
            </a:r>
          </a:p>
          <a:p>
            <a:pPr algn="l">
              <a:spcBef>
                <a:spcPts val="0"/>
              </a:spcBef>
              <a:spcAft>
                <a:spcPts val="600"/>
              </a:spcAft>
            </a:pPr>
            <a:r>
              <a:rPr sz="1500" b="0" i="0">
                <a:solidFill>
                  <a:srgbClr val="1B2430"/>
                </a:solidFill>
                <a:latin typeface="Calibri"/>
              </a:rPr>
              <a:t>mảng [z, y, x]; tách thành lát theo trục z</a:t>
            </a:r>
          </a:p>
        </p:txBody>
      </p:sp>
      <p:sp>
        <p:nvSpPr>
          <p:cNvPr id="5" name="card"/>
          <p:cNvSpPr/>
          <p:nvPr/>
        </p:nvSpPr>
        <p:spPr>
          <a:xfrm>
            <a:off x="3413683" y="1645920"/>
            <a:ext cx="2499283" cy="1691640"/>
          </a:xfrm>
          <a:prstGeom prst="roundRect">
            <a:avLst>
              <a:gd name="adj" fmla="val 6000"/>
            </a:avLst>
          </a:prstGeom>
          <a:solidFill>
            <a:srgbClr val="FFFFFF"/>
          </a:solidFill>
          <a:ln w="12700">
            <a:solidFill>
              <a:srgbClr val="D9DEE6"/>
            </a:solidFill>
          </a:ln>
        </p:spPr>
        <p:txBody>
          <a:bodyPr rtlCol="0" anchor="t" wrap="square" lIns="146304" rIns="146304" tIns="117043" bIns="117043">
            <a:noAutofit/>
          </a:bodyPr>
          <a:lstStyle/>
          <a:p>
            <a:pPr algn="l">
              <a:spcBef>
                <a:spcPts val="0"/>
              </a:spcBef>
              <a:spcAft>
                <a:spcPts val="500"/>
              </a:spcAft>
            </a:pPr>
            <a:r>
              <a:rPr sz="1700" b="1" i="0">
                <a:solidFill>
                  <a:srgbClr val="184F95"/>
                </a:solidFill>
                <a:latin typeface="Calibri"/>
              </a:rPr>
              <a:t>2 · Chuẩn hoá</a:t>
            </a:r>
          </a:p>
          <a:p>
            <a:pPr algn="l">
              <a:spcBef>
                <a:spcPts val="0"/>
              </a:spcBef>
              <a:spcAft>
                <a:spcPts val="600"/>
              </a:spcAft>
            </a:pPr>
            <a:r>
              <a:rPr sz="1500" b="0" i="0">
                <a:solidFill>
                  <a:srgbClr val="1B2430"/>
                </a:solidFill>
                <a:latin typeface="Calibri"/>
              </a:rPr>
              <a:t>cắt theo phân vị 0,5–99,5 của từng volume, rồi chia về [0, 1]; không dùng thống kê cohort</a:t>
            </a:r>
          </a:p>
        </p:txBody>
      </p:sp>
      <p:sp>
        <p:nvSpPr>
          <p:cNvPr id="6" name="card"/>
          <p:cNvSpPr/>
          <p:nvPr/>
        </p:nvSpPr>
        <p:spPr>
          <a:xfrm>
            <a:off x="6278727" y="1645920"/>
            <a:ext cx="2499283" cy="1691640"/>
          </a:xfrm>
          <a:prstGeom prst="roundRect">
            <a:avLst>
              <a:gd name="adj" fmla="val 6000"/>
            </a:avLst>
          </a:prstGeom>
          <a:solidFill>
            <a:srgbClr val="FFFFFF"/>
          </a:solidFill>
          <a:ln w="12700">
            <a:solidFill>
              <a:srgbClr val="D9DEE6"/>
            </a:solidFill>
          </a:ln>
        </p:spPr>
        <p:txBody>
          <a:bodyPr rtlCol="0" anchor="t" wrap="square" lIns="146304" rIns="146304" tIns="117043" bIns="117043">
            <a:noAutofit/>
          </a:bodyPr>
          <a:lstStyle/>
          <a:p>
            <a:pPr algn="l">
              <a:spcBef>
                <a:spcPts val="0"/>
              </a:spcBef>
              <a:spcAft>
                <a:spcPts val="500"/>
              </a:spcAft>
            </a:pPr>
            <a:r>
              <a:rPr sz="1700" b="1" i="0">
                <a:solidFill>
                  <a:srgbClr val="184F95"/>
                </a:solidFill>
                <a:latin typeface="Calibri"/>
              </a:rPr>
              <a:t>3 · Resize về 560×560</a:t>
            </a:r>
          </a:p>
          <a:p>
            <a:pPr algn="l">
              <a:spcBef>
                <a:spcPts val="0"/>
              </a:spcBef>
              <a:spcAft>
                <a:spcPts val="600"/>
              </a:spcAft>
            </a:pPr>
            <a:r>
              <a:rPr sz="1500" b="0" i="0">
                <a:solidFill>
                  <a:srgbClr val="1B2430"/>
                </a:solidFill>
                <a:latin typeface="Calibri"/>
              </a:rPr>
              <a:t>ảnh: bilinear + antialias · mask: nearest-exact, giữ nguyên nhãn</a:t>
            </a:r>
          </a:p>
        </p:txBody>
      </p:sp>
      <p:sp>
        <p:nvSpPr>
          <p:cNvPr id="7" name="card"/>
          <p:cNvSpPr/>
          <p:nvPr/>
        </p:nvSpPr>
        <p:spPr>
          <a:xfrm>
            <a:off x="9143771" y="1645920"/>
            <a:ext cx="2499283" cy="1691640"/>
          </a:xfrm>
          <a:prstGeom prst="roundRect">
            <a:avLst>
              <a:gd name="adj" fmla="val 6000"/>
            </a:avLst>
          </a:prstGeom>
          <a:solidFill>
            <a:srgbClr val="FFFFFF"/>
          </a:solidFill>
          <a:ln w="12700">
            <a:solidFill>
              <a:srgbClr val="D9DEE6"/>
            </a:solidFill>
          </a:ln>
        </p:spPr>
        <p:txBody>
          <a:bodyPr rtlCol="0" anchor="t" wrap="square" lIns="146304" rIns="146304" tIns="117043" bIns="117043">
            <a:noAutofit/>
          </a:bodyPr>
          <a:lstStyle/>
          <a:p>
            <a:pPr algn="l">
              <a:spcBef>
                <a:spcPts val="0"/>
              </a:spcBef>
              <a:spcAft>
                <a:spcPts val="500"/>
              </a:spcAft>
            </a:pPr>
            <a:r>
              <a:rPr sz="1700" b="1" i="0">
                <a:solidFill>
                  <a:srgbClr val="184F95"/>
                </a:solidFill>
                <a:latin typeface="Calibri"/>
              </a:rPr>
              <a:t>4 · Mô hình</a:t>
            </a:r>
          </a:p>
          <a:p>
            <a:pPr algn="l">
              <a:spcBef>
                <a:spcPts val="0"/>
              </a:spcBef>
              <a:spcAft>
                <a:spcPts val="600"/>
              </a:spcAft>
            </a:pPr>
            <a:r>
              <a:rPr sz="1500" b="0" i="0">
                <a:solidFill>
                  <a:srgbClr val="1B2430"/>
                </a:solidFill>
                <a:latin typeface="Calibri"/>
              </a:rPr>
              <a:t>DINOv2 hoặc UNet cho ra logits trên từng lát</a:t>
            </a:r>
          </a:p>
        </p:txBody>
      </p:sp>
      <p:sp>
        <p:nvSpPr>
          <p:cNvPr id="8" name="card"/>
          <p:cNvSpPr/>
          <p:nvPr/>
        </p:nvSpPr>
        <p:spPr>
          <a:xfrm>
            <a:off x="9143771" y="3840480"/>
            <a:ext cx="2499283" cy="1691640"/>
          </a:xfrm>
          <a:prstGeom prst="roundRect">
            <a:avLst>
              <a:gd name="adj" fmla="val 6000"/>
            </a:avLst>
          </a:prstGeom>
          <a:solidFill>
            <a:srgbClr val="FFFFFF"/>
          </a:solidFill>
          <a:ln w="12700">
            <a:solidFill>
              <a:srgbClr val="D9DEE6"/>
            </a:solidFill>
          </a:ln>
        </p:spPr>
        <p:txBody>
          <a:bodyPr rtlCol="0" anchor="t" wrap="square" lIns="146304" rIns="146304" tIns="117043" bIns="117043">
            <a:noAutofit/>
          </a:bodyPr>
          <a:lstStyle/>
          <a:p>
            <a:pPr algn="l">
              <a:spcBef>
                <a:spcPts val="0"/>
              </a:spcBef>
              <a:spcAft>
                <a:spcPts val="500"/>
              </a:spcAft>
            </a:pPr>
            <a:r>
              <a:rPr sz="1700" b="1" i="0">
                <a:solidFill>
                  <a:srgbClr val="184F95"/>
                </a:solidFill>
                <a:latin typeface="Calibri"/>
              </a:rPr>
              <a:t>5 · Về kích thước gốc</a:t>
            </a:r>
          </a:p>
          <a:p>
            <a:pPr algn="l">
              <a:spcBef>
                <a:spcPts val="0"/>
              </a:spcBef>
              <a:spcAft>
                <a:spcPts val="600"/>
              </a:spcAft>
            </a:pPr>
            <a:r>
              <a:rPr sz="1500" b="0" i="0">
                <a:solidFill>
                  <a:srgbClr val="1B2430"/>
                </a:solidFill>
                <a:latin typeface="Calibri"/>
              </a:rPr>
              <a:t>logits resize bilinear về lát gốc, ngưỡng 0,5 → mặt nạ THÔ (bất biến)</a:t>
            </a:r>
          </a:p>
        </p:txBody>
      </p:sp>
      <p:sp>
        <p:nvSpPr>
          <p:cNvPr id="9" name="card"/>
          <p:cNvSpPr/>
          <p:nvPr/>
        </p:nvSpPr>
        <p:spPr>
          <a:xfrm>
            <a:off x="6278727" y="3840480"/>
            <a:ext cx="2499283" cy="1691640"/>
          </a:xfrm>
          <a:prstGeom prst="roundRect">
            <a:avLst>
              <a:gd name="adj" fmla="val 6000"/>
            </a:avLst>
          </a:prstGeom>
          <a:solidFill>
            <a:srgbClr val="FDEEE7"/>
          </a:solidFill>
          <a:ln w="12700">
            <a:solidFill>
              <a:srgbClr val="D9DEE6"/>
            </a:solidFill>
          </a:ln>
        </p:spPr>
        <p:txBody>
          <a:bodyPr rtlCol="0" anchor="t" wrap="square" lIns="146304" rIns="146304" tIns="117043" bIns="117043">
            <a:noAutofit/>
          </a:bodyPr>
          <a:lstStyle/>
          <a:p>
            <a:pPr algn="l">
              <a:spcBef>
                <a:spcPts val="0"/>
              </a:spcBef>
              <a:spcAft>
                <a:spcPts val="500"/>
              </a:spcAft>
            </a:pPr>
            <a:r>
              <a:rPr sz="1700" b="1" i="0">
                <a:solidFill>
                  <a:srgbClr val="184F95"/>
                </a:solidFill>
                <a:latin typeface="Calibri"/>
              </a:rPr>
              <a:t>6 · Hậu xử lý PP-4</a:t>
            </a:r>
          </a:p>
          <a:p>
            <a:pPr algn="l">
              <a:spcBef>
                <a:spcPts val="0"/>
              </a:spcBef>
              <a:spcAft>
                <a:spcPts val="600"/>
              </a:spcAft>
            </a:pPr>
            <a:r>
              <a:rPr sz="1500" b="0" i="0">
                <a:solidFill>
                  <a:srgbClr val="1B2430"/>
                </a:solidFill>
                <a:latin typeface="Calibri"/>
              </a:rPr>
              <a:t>mở hình thái 3D (khối 3×3×3, 1 lần), rồi giữ thành phần liên thông 26 lớn nhất</a:t>
            </a:r>
          </a:p>
        </p:txBody>
      </p:sp>
      <p:sp>
        <p:nvSpPr>
          <p:cNvPr id="10" name="card"/>
          <p:cNvSpPr/>
          <p:nvPr/>
        </p:nvSpPr>
        <p:spPr>
          <a:xfrm>
            <a:off x="3413683" y="3840480"/>
            <a:ext cx="2499283" cy="1691640"/>
          </a:xfrm>
          <a:prstGeom prst="roundRect">
            <a:avLst>
              <a:gd name="adj" fmla="val 6000"/>
            </a:avLst>
          </a:prstGeom>
          <a:solidFill>
            <a:srgbClr val="FFFFFF"/>
          </a:solidFill>
          <a:ln w="12700">
            <a:solidFill>
              <a:srgbClr val="D9DEE6"/>
            </a:solidFill>
          </a:ln>
        </p:spPr>
        <p:txBody>
          <a:bodyPr rtlCol="0" anchor="t" wrap="square" lIns="146304" rIns="146304" tIns="117043" bIns="117043">
            <a:noAutofit/>
          </a:bodyPr>
          <a:lstStyle/>
          <a:p>
            <a:pPr algn="l">
              <a:spcBef>
                <a:spcPts val="0"/>
              </a:spcBef>
              <a:spcAft>
                <a:spcPts val="500"/>
              </a:spcAft>
            </a:pPr>
            <a:r>
              <a:rPr sz="1700" b="1" i="0">
                <a:solidFill>
                  <a:srgbClr val="184F95"/>
                </a:solidFill>
                <a:latin typeface="Calibri"/>
              </a:rPr>
              <a:t>7 · Khối 3D và chỉ số</a:t>
            </a:r>
          </a:p>
          <a:p>
            <a:pPr algn="l">
              <a:spcBef>
                <a:spcPts val="0"/>
              </a:spcBef>
              <a:spcAft>
                <a:spcPts val="600"/>
              </a:spcAft>
            </a:pPr>
            <a:r>
              <a:rPr sz="1500" b="0" i="0">
                <a:solidFill>
                  <a:srgbClr val="1B2430"/>
                </a:solidFill>
                <a:latin typeface="Calibri"/>
              </a:rPr>
              <a:t>xếp lát thành khối; Dice, IoU, sai lệch thể tích tính theo từng case</a:t>
            </a:r>
          </a:p>
        </p:txBody>
      </p:sp>
      <p:sp>
        <p:nvSpPr>
          <p:cNvPr id="11" name="card"/>
          <p:cNvSpPr/>
          <p:nvPr/>
        </p:nvSpPr>
        <p:spPr>
          <a:xfrm>
            <a:off x="548640" y="3840480"/>
            <a:ext cx="2499283" cy="1691640"/>
          </a:xfrm>
          <a:prstGeom prst="roundRect">
            <a:avLst>
              <a:gd name="adj" fmla="val 6000"/>
            </a:avLst>
          </a:prstGeom>
          <a:solidFill>
            <a:srgbClr val="FFFFFF"/>
          </a:solidFill>
          <a:ln w="12700">
            <a:solidFill>
              <a:srgbClr val="D9DEE6"/>
            </a:solidFill>
          </a:ln>
        </p:spPr>
        <p:txBody>
          <a:bodyPr rtlCol="0" anchor="t" wrap="square" lIns="146304" rIns="146304" tIns="117043" bIns="117043">
            <a:noAutofit/>
          </a:bodyPr>
          <a:lstStyle/>
          <a:p>
            <a:pPr algn="l">
              <a:spcBef>
                <a:spcPts val="0"/>
              </a:spcBef>
              <a:spcAft>
                <a:spcPts val="500"/>
              </a:spcAft>
            </a:pPr>
            <a:r>
              <a:rPr sz="1700" b="1" i="0">
                <a:solidFill>
                  <a:srgbClr val="184F95"/>
                </a:solidFill>
                <a:latin typeface="Calibri"/>
              </a:rPr>
              <a:t>8 · Bề mặt L0</a:t>
            </a:r>
          </a:p>
          <a:p>
            <a:pPr algn="l">
              <a:spcBef>
                <a:spcPts val="0"/>
              </a:spcBef>
              <a:spcAft>
                <a:spcPts val="600"/>
              </a:spcAft>
            </a:pPr>
            <a:r>
              <a:rPr sz="1500" b="0" i="0">
                <a:solidFill>
                  <a:srgbClr val="1B2430"/>
                </a:solidFill>
                <a:latin typeface="Calibri"/>
              </a:rPr>
              <a:t>mesh giữ ánh xạ voxel ↔ thế giới; 2D ↔ 3D dùng chung hợp đồng hình học</a:t>
            </a:r>
          </a:p>
        </p:txBody>
      </p:sp>
      <p:cxnSp>
        <p:nvCxnSpPr>
          <p:cNvPr id="12" name="arrow"/>
          <p:cNvCxnSpPr/>
          <p:nvPr/>
        </p:nvCxnSpPr>
        <p:spPr>
          <a:xfrm>
            <a:off x="3075355" y="2491740"/>
            <a:ext cx="310896" cy="0"/>
          </a:xfrm>
          <a:prstGeom prst="line">
            <a:avLst/>
          </a:prstGeom>
          <a:ln w="25400">
            <a:solidFill>
              <a:srgbClr val="184F95"/>
            </a:solidFill>
            <a:tailEnd type="triangle"/>
          </a:ln>
        </p:spPr>
      </p:cxnSp>
      <p:cxnSp>
        <p:nvCxnSpPr>
          <p:cNvPr id="13" name="arrow"/>
          <p:cNvCxnSpPr/>
          <p:nvPr/>
        </p:nvCxnSpPr>
        <p:spPr>
          <a:xfrm>
            <a:off x="5940399" y="2491740"/>
            <a:ext cx="310896" cy="0"/>
          </a:xfrm>
          <a:prstGeom prst="line">
            <a:avLst/>
          </a:prstGeom>
          <a:ln w="25400">
            <a:solidFill>
              <a:srgbClr val="184F95"/>
            </a:solidFill>
            <a:tailEnd type="triangle"/>
          </a:ln>
        </p:spPr>
      </p:cxnSp>
      <p:cxnSp>
        <p:nvCxnSpPr>
          <p:cNvPr id="14" name="arrow"/>
          <p:cNvCxnSpPr/>
          <p:nvPr/>
        </p:nvCxnSpPr>
        <p:spPr>
          <a:xfrm>
            <a:off x="8805443" y="2491740"/>
            <a:ext cx="310896" cy="0"/>
          </a:xfrm>
          <a:prstGeom prst="line">
            <a:avLst/>
          </a:prstGeom>
          <a:ln w="25400">
            <a:solidFill>
              <a:srgbClr val="184F95"/>
            </a:solidFill>
            <a:tailEnd type="triangle"/>
          </a:ln>
        </p:spPr>
      </p:cxnSp>
      <p:cxnSp>
        <p:nvCxnSpPr>
          <p:cNvPr id="15" name="arrow"/>
          <p:cNvCxnSpPr/>
          <p:nvPr/>
        </p:nvCxnSpPr>
        <p:spPr>
          <a:xfrm>
            <a:off x="10393413" y="3364992"/>
            <a:ext cx="0" cy="448056"/>
          </a:xfrm>
          <a:prstGeom prst="line">
            <a:avLst/>
          </a:prstGeom>
          <a:ln w="25400">
            <a:solidFill>
              <a:srgbClr val="184F95"/>
            </a:solidFill>
            <a:tailEnd type="triangle"/>
          </a:ln>
        </p:spPr>
      </p:cxnSp>
      <p:cxnSp>
        <p:nvCxnSpPr>
          <p:cNvPr id="16" name="arrow"/>
          <p:cNvCxnSpPr/>
          <p:nvPr/>
        </p:nvCxnSpPr>
        <p:spPr>
          <a:xfrm flipH="1">
            <a:off x="8805443" y="4686300"/>
            <a:ext cx="310896" cy="0"/>
          </a:xfrm>
          <a:prstGeom prst="line">
            <a:avLst/>
          </a:prstGeom>
          <a:ln w="25400">
            <a:solidFill>
              <a:srgbClr val="184F95"/>
            </a:solidFill>
            <a:tailEnd type="triangle"/>
          </a:ln>
        </p:spPr>
      </p:cxnSp>
      <p:cxnSp>
        <p:nvCxnSpPr>
          <p:cNvPr id="17" name="arrow"/>
          <p:cNvCxnSpPr/>
          <p:nvPr/>
        </p:nvCxnSpPr>
        <p:spPr>
          <a:xfrm flipH="1">
            <a:off x="5940399" y="4686300"/>
            <a:ext cx="310896" cy="0"/>
          </a:xfrm>
          <a:prstGeom prst="line">
            <a:avLst/>
          </a:prstGeom>
          <a:ln w="25400">
            <a:solidFill>
              <a:srgbClr val="184F95"/>
            </a:solidFill>
            <a:tailEnd type="triangle"/>
          </a:ln>
        </p:spPr>
      </p:cxnSp>
      <p:cxnSp>
        <p:nvCxnSpPr>
          <p:cNvPr id="18" name="arrow"/>
          <p:cNvCxnSpPr/>
          <p:nvPr/>
        </p:nvCxnSpPr>
        <p:spPr>
          <a:xfrm flipH="1">
            <a:off x="3075355" y="4686300"/>
            <a:ext cx="310896" cy="0"/>
          </a:xfrm>
          <a:prstGeom prst="line">
            <a:avLst/>
          </a:prstGeom>
          <a:ln w="25400">
            <a:solidFill>
              <a:srgbClr val="184F95"/>
            </a:solidFill>
            <a:tailEnd type="triangle"/>
          </a:ln>
        </p:spPr>
      </p:cxnSp>
      <p:sp>
        <p:nvSpPr>
          <p:cNvPr id="19" name="source"/>
          <p:cNvSpPr txBox="1"/>
          <p:nvPr/>
        </p:nvSpPr>
        <p:spPr>
          <a:xfrm>
            <a:off x="548640" y="6053328"/>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Nguồn: docs/specs/v1.0/07, management/adr/ADR_ML_001.md (ml-preproc-1.0.0), DR-011.</a:t>
            </a:r>
          </a:p>
        </p:txBody>
      </p:sp>
      <p:sp>
        <p:nvSpPr>
          <p:cNvPr id="20"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21"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Hậu xử lý được chọn từ danh sách khai báo trước, chỉ trên validation</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XỬ LÝ ẢNH · GATE-IMG-01</a:t>
            </a:r>
          </a:p>
        </p:txBody>
      </p:sp>
      <p:pic>
        <p:nvPicPr>
          <p:cNvPr id="4" name="figure" descr="Dice 3D trung bình trên validation của sáu ứng viên hậu xử lý"/>
          <p:cNvPicPr>
            <a:picLocks noChangeAspect="1"/>
          </p:cNvPicPr>
          <p:nvPr/>
        </p:nvPicPr>
        <p:blipFill>
          <a:blip r:embed="rId3"/>
          <a:stretch>
            <a:fillRect/>
          </a:stretch>
        </p:blipFill>
        <p:spPr>
          <a:xfrm>
            <a:off x="548640" y="1600200"/>
            <a:ext cx="7498079" cy="4217670"/>
          </a:xfrm>
          <a:prstGeom prst="rect">
            <a:avLst/>
          </a:prstGeom>
        </p:spPr>
      </p:pic>
      <p:sp>
        <p:nvSpPr>
          <p:cNvPr id="5" name="bullets"/>
          <p:cNvSpPr txBox="1"/>
          <p:nvPr/>
        </p:nvSpPr>
        <p:spPr>
          <a:xfrm>
            <a:off x="8321040" y="1645920"/>
            <a:ext cx="3322015" cy="4297680"/>
          </a:xfrm>
          <a:prstGeom prst="rect">
            <a:avLst/>
          </a:prstGeom>
          <a:noFill/>
        </p:spPr>
        <p:txBody>
          <a:bodyPr wrap="square" lIns="0" rIns="0" tIns="0" bIns="0" anchor="t">
            <a:noAutofit/>
          </a:bodyPr>
          <a:lstStyle/>
          <a:p>
            <a:pPr algn="l" marL="219456" indent="-219456">
              <a:spcBef>
                <a:spcPts val="0"/>
              </a:spcBef>
              <a:spcAft>
                <a:spcPts val="800"/>
              </a:spcAft>
              <a:buClr>
                <a:srgbClr val="2A78D6"/>
              </a:buClr>
              <a:buFont typeface="Arial"/>
              <a:buChar char="•"/>
            </a:pPr>
            <a:r>
              <a:rPr sz="1400" b="0" i="0">
                <a:solidFill>
                  <a:srgbClr val="1B2430"/>
                </a:solidFill>
                <a:latin typeface="Calibri"/>
              </a:rPr>
              <a:t>Danh sách ứng viên và luật chọn ghi vào repo (#91) trước khi chạy.</a:t>
            </a:r>
          </a:p>
          <a:p>
            <a:pPr algn="l" marL="219456" indent="-219456">
              <a:spcBef>
                <a:spcPts val="0"/>
              </a:spcBef>
              <a:spcAft>
                <a:spcPts val="800"/>
              </a:spcAft>
              <a:buClr>
                <a:srgbClr val="2A78D6"/>
              </a:buClr>
              <a:buFont typeface="Arial"/>
              <a:buChar char="•"/>
            </a:pPr>
            <a:r>
              <a:rPr sz="1400" b="0" i="0">
                <a:solidFill>
                  <a:srgbClr val="1B2430"/>
                </a:solidFill>
                <a:latin typeface="Calibri"/>
              </a:rPr>
              <a:t>Chọn trên 20 case validation; hoà trong 0,001 thì lấy mã thấp.</a:t>
            </a:r>
          </a:p>
          <a:p>
            <a:pPr algn="l" marL="219456" indent="-219456">
              <a:spcBef>
                <a:spcPts val="0"/>
              </a:spcBef>
              <a:spcAft>
                <a:spcPts val="800"/>
              </a:spcAft>
              <a:buClr>
                <a:srgbClr val="2A78D6"/>
              </a:buClr>
              <a:buFont typeface="Arial"/>
              <a:buChar char="•"/>
            </a:pPr>
            <a:r>
              <a:rPr sz="1400" b="0" i="0">
                <a:solidFill>
                  <a:srgbClr val="1B2430"/>
                </a:solidFill>
                <a:latin typeface="Calibri"/>
              </a:rPr>
              <a:t>Thắng: PP-4, mở hình thái 3D (khối 3×3×3, 1 lần), rồi giữ thành phần liên thông 26 lớn nhất.</a:t>
            </a:r>
          </a:p>
          <a:p>
            <a:pPr algn="l" marL="219456" indent="-219456">
              <a:spcBef>
                <a:spcPts val="0"/>
              </a:spcBef>
              <a:spcAft>
                <a:spcPts val="800"/>
              </a:spcAft>
              <a:buClr>
                <a:srgbClr val="2A78D6"/>
              </a:buClr>
              <a:buFont typeface="Arial"/>
              <a:buChar char="•"/>
            </a:pPr>
            <a:r>
              <a:rPr sz="1400" b="0" i="0">
                <a:solidFill>
                  <a:srgbClr val="1B2430"/>
                </a:solidFill>
                <a:latin typeface="Calibri"/>
              </a:rPr>
              <a:t>Đóng băng bằng sha256, áp nguyên cho holdout, không chỉnh theo case.</a:t>
            </a:r>
          </a:p>
        </p:txBody>
      </p:sp>
      <p:sp>
        <p:nvSpPr>
          <p:cNvPr id="6" name="source"/>
          <p:cNvSpPr txBox="1"/>
          <p:nvPr/>
        </p:nvSpPr>
        <p:spPr>
          <a:xfrm>
            <a:off x="548640" y="6053328"/>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Số validation dùng để chọn, không phải kết quả. Nguồn: management/day39/gate_img_01/SELECTION.md, results_aggregate.json.</a:t>
            </a:r>
          </a:p>
        </p:txBody>
      </p:sp>
      <p:sp>
        <p:nvSpPr>
          <p:cNvPr id="7"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8"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PP-4 bớt dương tính giả và gần như xoá sai lệch thể tích</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XỬ LÝ ẢNH · TÁC ĐỘNG CỦA HẬU XỬ LÝ</a:t>
            </a:r>
          </a:p>
        </p:txBody>
      </p:sp>
      <p:sp>
        <p:nvSpPr>
          <p:cNvPr id="4" name="tile"/>
          <p:cNvSpPr/>
          <p:nvPr/>
        </p:nvSpPr>
        <p:spPr>
          <a:xfrm>
            <a:off x="548640" y="1645920"/>
            <a:ext cx="2602153" cy="2011680"/>
          </a:xfrm>
          <a:prstGeom prst="roundRect">
            <a:avLst>
              <a:gd name="adj" fmla="val 6000"/>
            </a:avLst>
          </a:prstGeom>
          <a:solidFill>
            <a:srgbClr val="FFFFFF"/>
          </a:solidFill>
          <a:ln w="12700">
            <a:solidFill>
              <a:srgbClr val="D9DEE6"/>
            </a:solidFill>
          </a:ln>
        </p:spPr>
        <p:txBody>
          <a:bodyPr rtlCol="0" anchor="ctr" wrap="square" lIns="164592" rIns="164592" tIns="131673" bIns="131673">
            <a:noAutofit/>
          </a:bodyPr>
          <a:lstStyle/>
          <a:p>
            <a:pPr algn="l">
              <a:spcBef>
                <a:spcPts val="0"/>
              </a:spcBef>
              <a:spcAft>
                <a:spcPts val="200"/>
              </a:spcAft>
            </a:pPr>
            <a:r>
              <a:rPr sz="3600" b="1" i="0">
                <a:solidFill>
                  <a:srgbClr val="EB6834"/>
                </a:solidFill>
                <a:latin typeface="Calibri"/>
              </a:rPr>
              <a:t>+0,020</a:t>
            </a:r>
          </a:p>
          <a:p>
            <a:pPr algn="l">
              <a:spcBef>
                <a:spcPts val="0"/>
              </a:spcBef>
              <a:spcAft>
                <a:spcPts val="200"/>
              </a:spcAft>
            </a:pPr>
            <a:r>
              <a:rPr sz="1400" b="0" i="0">
                <a:solidFill>
                  <a:srgbClr val="1B2430"/>
                </a:solidFill>
                <a:latin typeface="Calibri"/>
              </a:rPr>
              <a:t>Δ Dice 3D trung bình</a:t>
            </a:r>
          </a:p>
          <a:p>
            <a:pPr algn="l">
              <a:spcBef>
                <a:spcPts val="0"/>
              </a:spcBef>
              <a:spcAft>
                <a:spcPts val="0"/>
              </a:spcAft>
            </a:pPr>
            <a:r>
              <a:rPr sz="1200" b="0" i="0">
                <a:solidFill>
                  <a:srgbClr val="6B7482"/>
                </a:solidFill>
                <a:latin typeface="Calibri"/>
              </a:rPr>
              <a:t>CI 95 % [+0,015; +0,026]</a:t>
            </a:r>
          </a:p>
        </p:txBody>
      </p:sp>
      <p:sp>
        <p:nvSpPr>
          <p:cNvPr id="5" name="tile"/>
          <p:cNvSpPr/>
          <p:nvPr/>
        </p:nvSpPr>
        <p:spPr>
          <a:xfrm>
            <a:off x="3379393" y="1645920"/>
            <a:ext cx="2602153" cy="2011680"/>
          </a:xfrm>
          <a:prstGeom prst="roundRect">
            <a:avLst>
              <a:gd name="adj" fmla="val 6000"/>
            </a:avLst>
          </a:prstGeom>
          <a:solidFill>
            <a:srgbClr val="FFFFFF"/>
          </a:solidFill>
          <a:ln w="12700">
            <a:solidFill>
              <a:srgbClr val="D9DEE6"/>
            </a:solidFill>
          </a:ln>
        </p:spPr>
        <p:txBody>
          <a:bodyPr rtlCol="0" anchor="ctr" wrap="square" lIns="164592" rIns="164592" tIns="131673" bIns="131673">
            <a:noAutofit/>
          </a:bodyPr>
          <a:lstStyle/>
          <a:p>
            <a:pPr algn="l">
              <a:spcBef>
                <a:spcPts val="0"/>
              </a:spcBef>
              <a:spcAft>
                <a:spcPts val="200"/>
              </a:spcAft>
            </a:pPr>
            <a:r>
              <a:rPr sz="3600" b="1" i="0">
                <a:solidFill>
                  <a:srgbClr val="EB6834"/>
                </a:solidFill>
                <a:latin typeface="Calibri"/>
              </a:rPr>
              <a:t>45 / 54</a:t>
            </a:r>
          </a:p>
          <a:p>
            <a:pPr algn="l">
              <a:spcBef>
                <a:spcPts val="0"/>
              </a:spcBef>
              <a:spcAft>
                <a:spcPts val="200"/>
              </a:spcAft>
            </a:pPr>
            <a:r>
              <a:rPr sz="1400" b="0" i="0">
                <a:solidFill>
                  <a:srgbClr val="1B2430"/>
                </a:solidFill>
                <a:latin typeface="Calibri"/>
              </a:rPr>
              <a:t>case được cải thiện</a:t>
            </a:r>
          </a:p>
          <a:p>
            <a:pPr algn="l">
              <a:spcBef>
                <a:spcPts val="0"/>
              </a:spcBef>
              <a:spcAft>
                <a:spcPts val="0"/>
              </a:spcAft>
            </a:pPr>
            <a:r>
              <a:rPr sz="1200" b="0" i="0">
                <a:solidFill>
                  <a:srgbClr val="6B7482"/>
                </a:solidFill>
                <a:latin typeface="Calibri"/>
              </a:rPr>
              <a:t>9 case xấu đi nhẹ</a:t>
            </a:r>
          </a:p>
        </p:txBody>
      </p:sp>
      <p:sp>
        <p:nvSpPr>
          <p:cNvPr id="6" name="tile"/>
          <p:cNvSpPr/>
          <p:nvPr/>
        </p:nvSpPr>
        <p:spPr>
          <a:xfrm>
            <a:off x="6210147" y="1645920"/>
            <a:ext cx="2602153" cy="2011680"/>
          </a:xfrm>
          <a:prstGeom prst="roundRect">
            <a:avLst>
              <a:gd name="adj" fmla="val 6000"/>
            </a:avLst>
          </a:prstGeom>
          <a:solidFill>
            <a:srgbClr val="FFFFFF"/>
          </a:solidFill>
          <a:ln w="12700">
            <a:solidFill>
              <a:srgbClr val="D9DEE6"/>
            </a:solidFill>
          </a:ln>
        </p:spPr>
        <p:txBody>
          <a:bodyPr rtlCol="0" anchor="ctr" wrap="square" lIns="164592" rIns="164592" tIns="131673" bIns="131673">
            <a:noAutofit/>
          </a:bodyPr>
          <a:lstStyle/>
          <a:p>
            <a:pPr algn="l">
              <a:spcBef>
                <a:spcPts val="0"/>
              </a:spcBef>
              <a:spcAft>
                <a:spcPts val="200"/>
              </a:spcAft>
            </a:pPr>
            <a:r>
              <a:rPr sz="3600" b="1" i="0">
                <a:solidFill>
                  <a:srgbClr val="EB6834"/>
                </a:solidFill>
                <a:latin typeface="Calibri"/>
              </a:rPr>
              <a:t>−25 %</a:t>
            </a:r>
          </a:p>
          <a:p>
            <a:pPr algn="l">
              <a:spcBef>
                <a:spcPts val="0"/>
              </a:spcBef>
              <a:spcAft>
                <a:spcPts val="200"/>
              </a:spcAft>
            </a:pPr>
            <a:r>
              <a:rPr sz="1400" b="0" i="0">
                <a:solidFill>
                  <a:srgbClr val="1B2430"/>
                </a:solidFill>
                <a:latin typeface="Calibri"/>
              </a:rPr>
              <a:t>voxel dương tính giả TB</a:t>
            </a:r>
          </a:p>
          <a:p>
            <a:pPr algn="l">
              <a:spcBef>
                <a:spcPts val="0"/>
              </a:spcBef>
              <a:spcAft>
                <a:spcPts val="0"/>
              </a:spcAft>
            </a:pPr>
            <a:r>
              <a:rPr sz="1200" b="0" i="0">
                <a:solidFill>
                  <a:srgbClr val="6B7482"/>
                </a:solidFill>
                <a:latin typeface="Calibri"/>
              </a:rPr>
              <a:t>95 990 → 71 956</a:t>
            </a:r>
          </a:p>
        </p:txBody>
      </p:sp>
      <p:sp>
        <p:nvSpPr>
          <p:cNvPr id="7" name="tile"/>
          <p:cNvSpPr/>
          <p:nvPr/>
        </p:nvSpPr>
        <p:spPr>
          <a:xfrm>
            <a:off x="9040901" y="1645920"/>
            <a:ext cx="2602153" cy="2011680"/>
          </a:xfrm>
          <a:prstGeom prst="roundRect">
            <a:avLst>
              <a:gd name="adj" fmla="val 6000"/>
            </a:avLst>
          </a:prstGeom>
          <a:solidFill>
            <a:srgbClr val="FFFFFF"/>
          </a:solidFill>
          <a:ln w="12700">
            <a:solidFill>
              <a:srgbClr val="D9DEE6"/>
            </a:solidFill>
          </a:ln>
        </p:spPr>
        <p:txBody>
          <a:bodyPr rtlCol="0" anchor="ctr" wrap="square" lIns="164592" rIns="164592" tIns="131673" bIns="131673">
            <a:noAutofit/>
          </a:bodyPr>
          <a:lstStyle/>
          <a:p>
            <a:pPr algn="l">
              <a:spcBef>
                <a:spcPts val="0"/>
              </a:spcBef>
              <a:spcAft>
                <a:spcPts val="200"/>
              </a:spcAft>
            </a:pPr>
            <a:r>
              <a:rPr sz="2600" b="1" i="0">
                <a:solidFill>
                  <a:srgbClr val="EB6834"/>
                </a:solidFill>
                <a:latin typeface="Calibri"/>
              </a:rPr>
              <a:t>+14,9 → +1,4 %</a:t>
            </a:r>
          </a:p>
          <a:p>
            <a:pPr algn="l">
              <a:spcBef>
                <a:spcPts val="0"/>
              </a:spcBef>
              <a:spcAft>
                <a:spcPts val="200"/>
              </a:spcAft>
            </a:pPr>
            <a:r>
              <a:rPr sz="1400" b="0" i="0">
                <a:solidFill>
                  <a:srgbClr val="1B2430"/>
                </a:solidFill>
                <a:latin typeface="Calibri"/>
              </a:rPr>
              <a:t>sai lệch thể tích TB</a:t>
            </a:r>
          </a:p>
          <a:p>
            <a:pPr algn="l">
              <a:spcBef>
                <a:spcPts val="0"/>
              </a:spcBef>
              <a:spcAft>
                <a:spcPts val="0"/>
              </a:spcAft>
            </a:pPr>
            <a:r>
              <a:rPr sz="1200" b="0" i="0">
                <a:solidFill>
                  <a:srgbClr val="6B7482"/>
                </a:solidFill>
                <a:latin typeface="Calibri"/>
              </a:rPr>
              <a:t>RVE theo voxel</a:t>
            </a:r>
          </a:p>
        </p:txBody>
      </p:sp>
      <p:sp>
        <p:nvSpPr>
          <p:cNvPr id="8" name="bullets"/>
          <p:cNvSpPr txBox="1"/>
          <p:nvPr/>
        </p:nvSpPr>
        <p:spPr>
          <a:xfrm>
            <a:off x="548640" y="3977639"/>
            <a:ext cx="11094415" cy="2011680"/>
          </a:xfrm>
          <a:prstGeom prst="rect">
            <a:avLst/>
          </a:prstGeom>
          <a:noFill/>
        </p:spPr>
        <p:txBody>
          <a:bodyPr wrap="square" lIns="0" rIns="0" tIns="0" bIns="0" anchor="t">
            <a:noAutofit/>
          </a:bodyPr>
          <a:lstStyle/>
          <a:p>
            <a:pPr algn="l" marL="219456" indent="-219456">
              <a:spcBef>
                <a:spcPts val="0"/>
              </a:spcBef>
              <a:spcAft>
                <a:spcPts val="900"/>
              </a:spcAft>
              <a:buClr>
                <a:srgbClr val="2A78D6"/>
              </a:buClr>
              <a:buFont typeface="Arial"/>
              <a:buChar char="•"/>
            </a:pPr>
            <a:r>
              <a:rPr sz="1600" b="0" i="0">
                <a:solidFill>
                  <a:srgbClr val="1B2430"/>
                </a:solidFill>
                <a:latin typeface="Calibri"/>
              </a:rPr>
              <a:t>PP-4: mở hình thái 3D (khối 3×3×3, 1 lần), rồi giữ thành phần liên thông 26 lớn nhất.</a:t>
            </a:r>
          </a:p>
          <a:p>
            <a:pPr algn="l" marL="219456" indent="-219456">
              <a:spcBef>
                <a:spcPts val="0"/>
              </a:spcBef>
              <a:spcAft>
                <a:spcPts val="900"/>
              </a:spcAft>
              <a:buClr>
                <a:srgbClr val="2A78D6"/>
              </a:buClr>
              <a:buFont typeface="Arial"/>
              <a:buChar char="•"/>
            </a:pPr>
            <a:r>
              <a:rPr sz="1600" b="0" i="0">
                <a:solidFill>
                  <a:srgbClr val="1B2430"/>
                </a:solidFill>
                <a:latin typeface="Calibri"/>
              </a:rPr>
              <a:t>Âm tính giả đổi +6,2 % (74 753 → 79 416 voxel): hậu xử lý là một đánh đổi, không miễn phí.</a:t>
            </a:r>
          </a:p>
          <a:p>
            <a:pPr algn="l" marL="219456" indent="-219456">
              <a:spcBef>
                <a:spcPts val="0"/>
              </a:spcBef>
              <a:spcAft>
                <a:spcPts val="900"/>
              </a:spcAft>
              <a:buClr>
                <a:srgbClr val="2A78D6"/>
              </a:buClr>
              <a:buFont typeface="Arial"/>
              <a:buChar char="•"/>
            </a:pPr>
            <a:r>
              <a:rPr sz="1600" b="0" i="0">
                <a:solidFill>
                  <a:srgbClr val="1B2430"/>
                </a:solidFill>
                <a:latin typeface="Calibri"/>
              </a:rPr>
              <a:t>Cấu hình chọn trên validation (+0,0218); holdout xác nhận hướng và độ lớn.</a:t>
            </a:r>
          </a:p>
          <a:p>
            <a:pPr algn="l" marL="219456" indent="-219456">
              <a:spcBef>
                <a:spcPts val="0"/>
              </a:spcBef>
              <a:spcAft>
                <a:spcPts val="900"/>
              </a:spcAft>
              <a:buClr>
                <a:srgbClr val="2A78D6"/>
              </a:buClr>
              <a:buFont typeface="Arial"/>
              <a:buChar char="•"/>
            </a:pPr>
            <a:r>
              <a:rPr sz="1600" b="0" i="0">
                <a:solidFill>
                  <a:srgbClr val="1B2430"/>
                </a:solidFill>
                <a:latin typeface="Calibri"/>
              </a:rPr>
              <a:t>Dice 2D trung bình theo lát tăng 0,426 → 0,482: PP-4 xoá dự đoán thừa ở hai đầu stack (profile theo lát: phần Khoa học dữ liệu).</a:t>
            </a:r>
          </a:p>
          <a:p>
            <a:pPr algn="l" marL="219456" indent="-219456">
              <a:spcBef>
                <a:spcPts val="0"/>
              </a:spcBef>
              <a:spcAft>
                <a:spcPts val="900"/>
              </a:spcAft>
              <a:buClr>
                <a:srgbClr val="2A78D6"/>
              </a:buClr>
              <a:buFont typeface="Arial"/>
              <a:buChar char="•"/>
            </a:pPr>
            <a:r>
              <a:rPr sz="1600" b="0" i="0">
                <a:solidFill>
                  <a:srgbClr val="1B2430"/>
                </a:solidFill>
                <a:latin typeface="Calibri"/>
              </a:rPr>
              <a:t>Không giả định xử lý ảnh luôn giúp (spec 07 §5): báo cáo cả case xấu đi.</a:t>
            </a:r>
          </a:p>
        </p:txBody>
      </p:sp>
      <p:sp>
        <p:nvSpPr>
          <p:cNvPr id="9" name="source"/>
          <p:cNvSpPr txBox="1"/>
          <p:nvPr/>
        </p:nvSpPr>
        <p:spPr>
          <a:xfrm>
            <a:off x="548640" y="6053328"/>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FP/FN tính theo voxel, trung bình theo case, mặt nạ thô so với đã xử lý. Nguồn: results_aggregate.json (fp_voxels_mean, rve_percent_mean).</a:t>
            </a:r>
          </a:p>
        </p:txBody>
      </p:sp>
      <p:sp>
        <p:nvSpPr>
          <p:cNvPr id="10"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11"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Bề mặt 3D: chỉ mức L0 giữ đúng lát được chọn trong ±1</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XỬ LÝ ẢNH · TÁI DỰNG 3D</a:t>
            </a:r>
          </a:p>
        </p:txBody>
      </p:sp>
      <p:graphicFrame>
        <p:nvGraphicFramePr>
          <p:cNvPr id="4" name="table"/>
          <p:cNvGraphicFramePr>
            <a:graphicFrameLocks noGrp="1"/>
          </p:cNvGraphicFramePr>
          <p:nvPr/>
        </p:nvGraphicFramePr>
        <p:xfrm>
          <a:off x="548640" y="1645920"/>
          <a:ext cx="11091671" cy="2240280"/>
        </p:xfrm>
        <a:graphic>
          <a:graphicData uri="http://schemas.openxmlformats.org/drawingml/2006/table">
            <a:tbl>
              <a:tblPr firstRow="1" bandRow="0">
                <a:tableStyleId>{2D5ABB26-0587-4C30-8999-92F81FD0307C}</a:tableStyleId>
              </a:tblPr>
              <a:tblGrid>
                <a:gridCol w="1188720"/>
                <a:gridCol w="2743200"/>
                <a:gridCol w="3108960"/>
                <a:gridCol w="4050791"/>
              </a:tblGrid>
              <a:tr h="502920">
                <a:tc>
                  <a:txBody>
                    <a:bodyPr wrap="square"/>
                    <a:lstStyle/>
                    <a:p>
                      <a:pPr algn="l">
                        <a:spcBef>
                          <a:spcPts val="0"/>
                        </a:spcBef>
                        <a:spcAft>
                          <a:spcPts val="0"/>
                        </a:spcAft>
                      </a:pPr>
                      <a:r>
                        <a:rPr sz="1500" b="1" i="0">
                          <a:solidFill>
                            <a:srgbClr val="FFFFFF"/>
                          </a:solidFill>
                          <a:latin typeface="Calibri"/>
                        </a:rPr>
                        <a:t>Mức</a:t>
                      </a:r>
                    </a:p>
                  </a:txBody>
                  <a:tcPr marL="91440" marR="91440" marT="36576" marB="36576" anchor="ctr">
                    <a:lnB w="9525" cap="flat" cmpd="sng" algn="ctr">
                      <a:solidFill>
                        <a:srgbClr val="D9DEE6"/>
                      </a:solidFill>
                    </a:lnB>
                    <a:solidFill>
                      <a:srgbClr val="184F95"/>
                    </a:solidFill>
                  </a:tcPr>
                </a:tc>
                <a:tc>
                  <a:txBody>
                    <a:bodyPr wrap="square"/>
                    <a:lstStyle/>
                    <a:p>
                      <a:pPr algn="l">
                        <a:spcBef>
                          <a:spcPts val="0"/>
                        </a:spcBef>
                        <a:spcAft>
                          <a:spcPts val="0"/>
                        </a:spcAft>
                      </a:pPr>
                      <a:r>
                        <a:rPr sz="1500" b="1" i="0">
                          <a:solidFill>
                            <a:srgbClr val="FFFFFF"/>
                          </a:solidFill>
                          <a:latin typeface="Calibri"/>
                        </a:rPr>
                        <a:t>Bề mặt</a:t>
                      </a:r>
                    </a:p>
                  </a:txBody>
                  <a:tcPr marL="91440" marR="91440" marT="36576" marB="36576" anchor="ctr">
                    <a:lnB w="9525" cap="flat" cmpd="sng" algn="ctr">
                      <a:solidFill>
                        <a:srgbClr val="D9DEE6"/>
                      </a:solidFill>
                    </a:lnB>
                    <a:solidFill>
                      <a:srgbClr val="184F95"/>
                    </a:solidFill>
                  </a:tcPr>
                </a:tc>
                <a:tc>
                  <a:txBody>
                    <a:bodyPr wrap="square"/>
                    <a:lstStyle/>
                    <a:p>
                      <a:pPr algn="l">
                        <a:spcBef>
                          <a:spcPts val="0"/>
                        </a:spcBef>
                        <a:spcAft>
                          <a:spcPts val="0"/>
                        </a:spcAft>
                      </a:pPr>
                      <a:r>
                        <a:rPr sz="1500" b="1" i="0">
                          <a:solidFill>
                            <a:srgbClr val="FFFFFF"/>
                          </a:solidFill>
                          <a:latin typeface="Calibri"/>
                        </a:rPr>
                        <a:t>Chọn lát chính xác (offline)</a:t>
                      </a:r>
                    </a:p>
                  </a:txBody>
                  <a:tcPr marL="91440" marR="91440" marT="36576" marB="36576" anchor="ctr">
                    <a:lnB w="9525" cap="flat" cmpd="sng" algn="ctr">
                      <a:solidFill>
                        <a:srgbClr val="D9DEE6"/>
                      </a:solidFill>
                    </a:lnB>
                    <a:solidFill>
                      <a:srgbClr val="184F95"/>
                    </a:solidFill>
                  </a:tcPr>
                </a:tc>
                <a:tc>
                  <a:txBody>
                    <a:bodyPr wrap="square"/>
                    <a:lstStyle/>
                    <a:p>
                      <a:pPr algn="l">
                        <a:spcBef>
                          <a:spcPts val="0"/>
                        </a:spcBef>
                        <a:spcAft>
                          <a:spcPts val="0"/>
                        </a:spcAft>
                      </a:pPr>
                      <a:r>
                        <a:rPr sz="1500" b="1" i="0">
                          <a:solidFill>
                            <a:srgbClr val="FFFFFF"/>
                          </a:solidFill>
                          <a:latin typeface="Calibri"/>
                        </a:rPr>
                        <a:t>Trên thiết bị (A17)</a:t>
                      </a:r>
                    </a:p>
                  </a:txBody>
                  <a:tcPr marL="91440" marR="91440" marT="36576" marB="36576" anchor="ctr">
                    <a:lnB w="9525" cap="flat" cmpd="sng" algn="ctr">
                      <a:solidFill>
                        <a:srgbClr val="D9DEE6"/>
                      </a:solidFill>
                    </a:lnB>
                    <a:solidFill>
                      <a:srgbClr val="184F95"/>
                    </a:solidFill>
                  </a:tcPr>
                </a:tc>
              </a:tr>
              <a:tr h="868680">
                <a:tc>
                  <a:txBody>
                    <a:bodyPr wrap="square"/>
                    <a:lstStyle/>
                    <a:p>
                      <a:pPr algn="l">
                        <a:spcBef>
                          <a:spcPts val="0"/>
                        </a:spcBef>
                        <a:spcAft>
                          <a:spcPts val="0"/>
                        </a:spcAft>
                      </a:pPr>
                      <a:r>
                        <a:rPr sz="1500" b="1" i="0">
                          <a:solidFill>
                            <a:srgbClr val="1B2430"/>
                          </a:solidFill>
                          <a:latin typeface="Calibri"/>
                        </a:rPr>
                        <a:t>L0</a:t>
                      </a:r>
                    </a:p>
                  </a:txBody>
                  <a:tcPr marL="91440" marR="91440" marT="36576" marB="36576" anchor="ctr">
                    <a:lnB w="9525" cap="flat" cmpd="sng" algn="ctr">
                      <a:solidFill>
                        <a:srgbClr val="D9DEE6"/>
                      </a:solidFill>
                    </a:lnB>
                    <a:solidFill>
                      <a:srgbClr val="E8F0FB"/>
                    </a:solidFill>
                  </a:tcPr>
                </a:tc>
                <a:tc>
                  <a:txBody>
                    <a:bodyPr wrap="square"/>
                    <a:lstStyle/>
                    <a:p>
                      <a:pPr algn="l">
                        <a:spcBef>
                          <a:spcPts val="0"/>
                        </a:spcBef>
                        <a:spcAft>
                          <a:spcPts val="0"/>
                        </a:spcAft>
                      </a:pPr>
                      <a:r>
                        <a:rPr sz="1500" b="0" i="0">
                          <a:solidFill>
                            <a:srgbClr val="1B2430"/>
                          </a:solidFill>
                          <a:latin typeface="Calibri"/>
                        </a:rPr>
                        <a:t>voxel, không decimate</a:t>
                      </a:r>
                    </a:p>
                  </a:txBody>
                  <a:tcPr marL="91440" marR="91440" marT="36576" marB="36576" anchor="ctr">
                    <a:lnB w="9525" cap="flat" cmpd="sng" algn="ctr">
                      <a:solidFill>
                        <a:srgbClr val="D9DEE6"/>
                      </a:solidFill>
                    </a:lnB>
                    <a:solidFill>
                      <a:srgbClr val="E8F0FB"/>
                    </a:solidFill>
                  </a:tcPr>
                </a:tc>
                <a:tc>
                  <a:txBody>
                    <a:bodyPr wrap="square"/>
                    <a:lstStyle/>
                    <a:p>
                      <a:pPr algn="l">
                        <a:spcBef>
                          <a:spcPts val="0"/>
                        </a:spcBef>
                        <a:spcAft>
                          <a:spcPts val="0"/>
                        </a:spcAft>
                      </a:pPr>
                      <a:r>
                        <a:rPr sz="1500" b="0" i="0">
                          <a:solidFill>
                            <a:srgbClr val="1B2430"/>
                          </a:solidFill>
                          <a:latin typeface="Calibri"/>
                        </a:rPr>
                        <a:t>tối đa 1 lát, không trượt</a:t>
                      </a:r>
                    </a:p>
                  </a:txBody>
                  <a:tcPr marL="91440" marR="91440" marT="36576" marB="36576" anchor="ctr">
                    <a:lnB w="9525" cap="flat" cmpd="sng" algn="ctr">
                      <a:solidFill>
                        <a:srgbClr val="D9DEE6"/>
                      </a:solidFill>
                    </a:lnB>
                    <a:solidFill>
                      <a:srgbClr val="E8F0FB"/>
                    </a:solidFill>
                  </a:tcPr>
                </a:tc>
                <a:tc>
                  <a:txBody>
                    <a:bodyPr wrap="square"/>
                    <a:lstStyle/>
                    <a:p>
                      <a:pPr algn="l">
                        <a:spcBef>
                          <a:spcPts val="0"/>
                        </a:spcBef>
                        <a:spcAft>
                          <a:spcPts val="0"/>
                        </a:spcAft>
                      </a:pPr>
                      <a:r>
                        <a:rPr sz="1500" b="0" i="0">
                          <a:solidFill>
                            <a:srgbClr val="1B2430"/>
                          </a:solidFill>
                          <a:latin typeface="Calibri"/>
                        </a:rPr>
                        <a:t>đạt B6 (đúng lát), B7, B9 · 59,88 FPS · dừng ≤ 17 ms</a:t>
                      </a:r>
                    </a:p>
                  </a:txBody>
                  <a:tcPr marL="91440" marR="91440" marT="36576" marB="36576" anchor="ctr">
                    <a:lnB w="9525" cap="flat" cmpd="sng" algn="ctr">
                      <a:solidFill>
                        <a:srgbClr val="D9DEE6"/>
                      </a:solidFill>
                    </a:lnB>
                    <a:solidFill>
                      <a:srgbClr val="E8F0FB"/>
                    </a:solidFill>
                  </a:tcPr>
                </a:tc>
              </a:tr>
              <a:tr h="868680">
                <a:tc>
                  <a:txBody>
                    <a:bodyPr wrap="square"/>
                    <a:lstStyle/>
                    <a:p>
                      <a:pPr algn="l">
                        <a:spcBef>
                          <a:spcPts val="0"/>
                        </a:spcBef>
                        <a:spcAft>
                          <a:spcPts val="0"/>
                        </a:spcAft>
                      </a:pPr>
                      <a:r>
                        <a:rPr sz="1500" b="1" i="0">
                          <a:solidFill>
                            <a:srgbClr val="1B2430"/>
                          </a:solidFill>
                          <a:latin typeface="Calibri"/>
                        </a:rPr>
                        <a:t>L1–L4</a:t>
                      </a:r>
                    </a:p>
                  </a:txBody>
                  <a:tcPr marL="91440" marR="91440" marT="36576" marB="36576" anchor="ctr">
                    <a:lnB w="9525" cap="flat" cmpd="sng" algn="ctr">
                      <a:solidFill>
                        <a:srgbClr val="D9DEE6"/>
                      </a:solidFill>
                    </a:lnB>
                    <a:solidFill>
                      <a:srgbClr val="FFFFFF"/>
                    </a:solidFill>
                  </a:tcPr>
                </a:tc>
                <a:tc>
                  <a:txBody>
                    <a:bodyPr wrap="square"/>
                    <a:lstStyle/>
                    <a:p>
                      <a:pPr algn="l">
                        <a:spcBef>
                          <a:spcPts val="0"/>
                        </a:spcBef>
                        <a:spcAft>
                          <a:spcPts val="0"/>
                        </a:spcAft>
                      </a:pPr>
                      <a:r>
                        <a:rPr sz="1500" b="0" i="0">
                          <a:solidFill>
                            <a:srgbClr val="1B2430"/>
                          </a:solidFill>
                          <a:latin typeface="Calibri"/>
                        </a:rPr>
                        <a:t>giảm tam giác (gom đỉnh)</a:t>
                      </a:r>
                    </a:p>
                  </a:txBody>
                  <a:tcPr marL="91440" marR="91440" marT="36576" marB="36576" anchor="ctr">
                    <a:lnB w="9525" cap="flat" cmpd="sng" algn="ctr">
                      <a:solidFill>
                        <a:srgbClr val="D9DEE6"/>
                      </a:solidFill>
                    </a:lnB>
                    <a:solidFill>
                      <a:srgbClr val="FFFFFF"/>
                    </a:solidFill>
                  </a:tcPr>
                </a:tc>
                <a:tc>
                  <a:txBody>
                    <a:bodyPr wrap="square"/>
                    <a:lstStyle/>
                    <a:p>
                      <a:pPr algn="l">
                        <a:spcBef>
                          <a:spcPts val="0"/>
                        </a:spcBef>
                        <a:spcAft>
                          <a:spcPts val="0"/>
                        </a:spcAft>
                      </a:pPr>
                      <a:r>
                        <a:rPr sz="1500" b="0" i="0">
                          <a:solidFill>
                            <a:srgbClr val="1B2430"/>
                          </a:solidFill>
                          <a:latin typeface="Calibri"/>
                        </a:rPr>
                        <a:t>sai tới 29–40 lát</a:t>
                      </a:r>
                    </a:p>
                  </a:txBody>
                  <a:tcPr marL="91440" marR="91440" marT="36576" marB="36576" anchor="ctr">
                    <a:lnB w="9525" cap="flat" cmpd="sng" algn="ctr">
                      <a:solidFill>
                        <a:srgbClr val="D9DEE6"/>
                      </a:solidFill>
                    </a:lnB>
                    <a:solidFill>
                      <a:srgbClr val="FFFFFF"/>
                    </a:solidFill>
                  </a:tcPr>
                </a:tc>
                <a:tc>
                  <a:txBody>
                    <a:bodyPr wrap="square"/>
                    <a:lstStyle/>
                    <a:p>
                      <a:pPr algn="l">
                        <a:spcBef>
                          <a:spcPts val="0"/>
                        </a:spcBef>
                        <a:spcAft>
                          <a:spcPts val="0"/>
                        </a:spcAft>
                      </a:pPr>
                      <a:r>
                        <a:rPr sz="1500" b="0" i="0">
                          <a:solidFill>
                            <a:srgbClr val="1B2430"/>
                          </a:solidFill>
                          <a:latin typeface="Calibri"/>
                        </a:rPr>
                        <a:t>B6 trượt ở cả bốn mức</a:t>
                      </a:r>
                    </a:p>
                  </a:txBody>
                  <a:tcPr marL="91440" marR="91440" marT="36576" marB="36576" anchor="ctr">
                    <a:lnB w="9525" cap="flat" cmpd="sng" algn="ctr">
                      <a:solidFill>
                        <a:srgbClr val="D9DEE6"/>
                      </a:solidFill>
                    </a:lnB>
                    <a:solidFill>
                      <a:srgbClr val="FFFFFF"/>
                    </a:solidFill>
                  </a:tcPr>
                </a:tc>
              </a:tr>
            </a:tbl>
          </a:graphicData>
        </a:graphic>
      </p:graphicFrame>
      <p:sp>
        <p:nvSpPr>
          <p:cNvPr id="5" name="card"/>
          <p:cNvSpPr/>
          <p:nvPr/>
        </p:nvSpPr>
        <p:spPr>
          <a:xfrm>
            <a:off x="548640" y="4069080"/>
            <a:ext cx="5394960" cy="1737360"/>
          </a:xfrm>
          <a:prstGeom prst="roundRect">
            <a:avLst>
              <a:gd name="adj" fmla="val 6000"/>
            </a:avLst>
          </a:prstGeom>
          <a:solidFill>
            <a:srgbClr val="FFFFFF"/>
          </a:solidFill>
          <a:ln w="12700">
            <a:solidFill>
              <a:srgbClr val="D9DEE6"/>
            </a:solidFill>
          </a:ln>
        </p:spPr>
        <p:txBody>
          <a:bodyPr rtlCol="0" anchor="t" wrap="square" lIns="182880" rIns="182880" tIns="146304" bIns="146304">
            <a:noAutofit/>
          </a:bodyPr>
          <a:lstStyle/>
          <a:p>
            <a:pPr algn="l">
              <a:spcBef>
                <a:spcPts val="0"/>
              </a:spcBef>
              <a:spcAft>
                <a:spcPts val="600"/>
              </a:spcAft>
            </a:pPr>
            <a:r>
              <a:rPr sz="1800" b="1" i="0">
                <a:solidFill>
                  <a:srgbClr val="184F95"/>
                </a:solidFill>
                <a:latin typeface="Calibri"/>
              </a:rPr>
              <a:t>Quyết định DR-008c = L0</a:t>
            </a:r>
          </a:p>
          <a:p>
            <a:pPr algn="l">
              <a:spcBef>
                <a:spcPts val="0"/>
              </a:spcBef>
              <a:spcAft>
                <a:spcPts val="600"/>
              </a:spcAft>
            </a:pPr>
            <a:r>
              <a:rPr sz="1400" b="0" i="0">
                <a:solidFill>
                  <a:srgbClr val="1B2430"/>
                </a:solidFill>
                <a:latin typeface="Calibri"/>
              </a:rPr>
              <a:t>Mức nhanh nhất vẫn giữ đúng lát trong ±1. Các mức decimate thất bại cả offline lẫn trên thiết bị, không phải ứng viên.</a:t>
            </a:r>
          </a:p>
        </p:txBody>
      </p:sp>
      <p:sp>
        <p:nvSpPr>
          <p:cNvPr id="6" name="card"/>
          <p:cNvSpPr/>
          <p:nvPr/>
        </p:nvSpPr>
        <p:spPr>
          <a:xfrm>
            <a:off x="6217920" y="4069080"/>
            <a:ext cx="5425135" cy="1737360"/>
          </a:xfrm>
          <a:prstGeom prst="roundRect">
            <a:avLst>
              <a:gd name="adj" fmla="val 6000"/>
            </a:avLst>
          </a:prstGeom>
          <a:solidFill>
            <a:srgbClr val="FFFFFF"/>
          </a:solidFill>
          <a:ln w="12700">
            <a:solidFill>
              <a:srgbClr val="D9DEE6"/>
            </a:solidFill>
          </a:ln>
        </p:spPr>
        <p:txBody>
          <a:bodyPr rtlCol="0" anchor="t" wrap="square" lIns="182880" rIns="182880" tIns="146304" bIns="146304">
            <a:noAutofit/>
          </a:bodyPr>
          <a:lstStyle/>
          <a:p>
            <a:pPr algn="l">
              <a:spcBef>
                <a:spcPts val="0"/>
              </a:spcBef>
              <a:spcAft>
                <a:spcPts val="600"/>
              </a:spcAft>
            </a:pPr>
            <a:r>
              <a:rPr sz="1800" b="1" i="0">
                <a:solidFill>
                  <a:srgbClr val="184F95"/>
                </a:solidFill>
                <a:latin typeface="Calibri"/>
              </a:rPr>
              <a:t>Giới hạn nói thẳng</a:t>
            </a:r>
          </a:p>
          <a:p>
            <a:pPr algn="l">
              <a:spcBef>
                <a:spcPts val="0"/>
              </a:spcBef>
              <a:spcAft>
                <a:spcPts val="600"/>
              </a:spcAft>
            </a:pPr>
            <a:r>
              <a:rPr sz="1400" b="0" i="0">
                <a:solidFill>
                  <a:srgbClr val="1B2430"/>
                </a:solidFill>
                <a:latin typeface="Calibri"/>
              </a:rPr>
              <a:t>Một thiết bị, một phiên, một case huấn luyện. FPS bị trần 60 Hz nên không so được chi phí render giữa các mức. 3D vẫn là mô-đun có điều kiện.</a:t>
            </a:r>
          </a:p>
        </p:txBody>
      </p:sp>
      <p:sp>
        <p:nvSpPr>
          <p:cNvPr id="7" name="source"/>
          <p:cNvSpPr txBox="1"/>
          <p:nvPr/>
        </p:nvSpPr>
        <p:spPr>
          <a:xfrm>
            <a:off x="548640" y="6053328"/>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Nguồn: management/spikes/SPIKE_B_3D/RESULT.md (S-1, 01/10), management/adr/TECH_STACK_ADR.md §3.</a:t>
            </a:r>
          </a:p>
        </p:txBody>
      </p:sp>
      <p:sp>
        <p:nvSpPr>
          <p:cNvPr id="8"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9"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Phân phối trên cohort: vài ca rất thấp kéo trung bình xuống</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KHOA HỌC DỮ LIỆU · PHÂN PHỐI VÀ NGOẠI LỆ</a:t>
            </a:r>
          </a:p>
        </p:txBody>
      </p:sp>
      <p:graphicFrame>
        <p:nvGraphicFramePr>
          <p:cNvPr id="4" name="table"/>
          <p:cNvGraphicFramePr>
            <a:graphicFrameLocks noGrp="1"/>
          </p:cNvGraphicFramePr>
          <p:nvPr/>
        </p:nvGraphicFramePr>
        <p:xfrm>
          <a:off x="548640" y="1645920"/>
          <a:ext cx="7406640" cy="2578608"/>
        </p:xfrm>
        <a:graphic>
          <a:graphicData uri="http://schemas.openxmlformats.org/drawingml/2006/table">
            <a:tbl>
              <a:tblPr firstRow="1" bandRow="0">
                <a:tableStyleId>{2D5ABB26-0587-4C30-8999-92F81FD0307C}</a:tableStyleId>
              </a:tblPr>
              <a:tblGrid>
                <a:gridCol w="2651760"/>
                <a:gridCol w="1097280"/>
                <a:gridCol w="1737360"/>
                <a:gridCol w="731520"/>
                <a:gridCol w="1188720"/>
              </a:tblGrid>
              <a:tr h="457200">
                <a:tc>
                  <a:txBody>
                    <a:bodyPr wrap="square"/>
                    <a:lstStyle/>
                    <a:p>
                      <a:pPr algn="l">
                        <a:spcBef>
                          <a:spcPts val="0"/>
                        </a:spcBef>
                        <a:spcAft>
                          <a:spcPts val="0"/>
                        </a:spcAft>
                      </a:pPr>
                      <a:r>
                        <a:rPr sz="1500" b="1" i="0">
                          <a:solidFill>
                            <a:srgbClr val="FFFFFF"/>
                          </a:solidFill>
                          <a:latin typeface="Calibri"/>
                        </a:rPr>
                        <a:t>Run</a:t>
                      </a:r>
                    </a:p>
                  </a:txBody>
                  <a:tcPr marL="91440" marR="91440" marT="36576" marB="36576" anchor="ctr">
                    <a:lnB w="9525" cap="flat" cmpd="sng" algn="ctr">
                      <a:solidFill>
                        <a:srgbClr val="D9DEE6"/>
                      </a:solidFill>
                    </a:lnB>
                    <a:solidFill>
                      <a:srgbClr val="184F95"/>
                    </a:solidFill>
                  </a:tcPr>
                </a:tc>
                <a:tc>
                  <a:txBody>
                    <a:bodyPr wrap="square"/>
                    <a:lstStyle/>
                    <a:p>
                      <a:pPr algn="r">
                        <a:spcBef>
                          <a:spcPts val="0"/>
                        </a:spcBef>
                        <a:spcAft>
                          <a:spcPts val="0"/>
                        </a:spcAft>
                      </a:pPr>
                      <a:r>
                        <a:rPr sz="1500" b="1" i="0">
                          <a:solidFill>
                            <a:srgbClr val="FFFFFF"/>
                          </a:solidFill>
                          <a:latin typeface="Calibri"/>
                        </a:rPr>
                        <a:t>Trung vị</a:t>
                      </a:r>
                    </a:p>
                  </a:txBody>
                  <a:tcPr marL="91440" marR="91440" marT="36576" marB="36576" anchor="ctr">
                    <a:lnB w="9525" cap="flat" cmpd="sng" algn="ctr">
                      <a:solidFill>
                        <a:srgbClr val="D9DEE6"/>
                      </a:solidFill>
                    </a:lnB>
                    <a:solidFill>
                      <a:srgbClr val="184F95"/>
                    </a:solidFill>
                  </a:tcPr>
                </a:tc>
                <a:tc>
                  <a:txBody>
                    <a:bodyPr wrap="square"/>
                    <a:lstStyle/>
                    <a:p>
                      <a:pPr algn="r">
                        <a:spcBef>
                          <a:spcPts val="0"/>
                        </a:spcBef>
                        <a:spcAft>
                          <a:spcPts val="0"/>
                        </a:spcAft>
                      </a:pPr>
                      <a:r>
                        <a:rPr sz="1500" b="1" i="0">
                          <a:solidFill>
                            <a:srgbClr val="FFFFFF"/>
                          </a:solidFill>
                          <a:latin typeface="Calibri"/>
                        </a:rPr>
                        <a:t>Q1–Q3</a:t>
                      </a:r>
                    </a:p>
                  </a:txBody>
                  <a:tcPr marL="91440" marR="91440" marT="36576" marB="36576" anchor="ctr">
                    <a:lnB w="9525" cap="flat" cmpd="sng" algn="ctr">
                      <a:solidFill>
                        <a:srgbClr val="D9DEE6"/>
                      </a:solidFill>
                    </a:lnB>
                    <a:solidFill>
                      <a:srgbClr val="184F95"/>
                    </a:solidFill>
                  </a:tcPr>
                </a:tc>
                <a:tc>
                  <a:txBody>
                    <a:bodyPr wrap="square"/>
                    <a:lstStyle/>
                    <a:p>
                      <a:pPr algn="r">
                        <a:spcBef>
                          <a:spcPts val="0"/>
                        </a:spcBef>
                        <a:spcAft>
                          <a:spcPts val="0"/>
                        </a:spcAft>
                      </a:pPr>
                      <a:r>
                        <a:rPr sz="1500" b="1" i="0">
                          <a:solidFill>
                            <a:srgbClr val="FFFFFF"/>
                          </a:solidFill>
                          <a:latin typeface="Calibri"/>
                        </a:rPr>
                        <a:t>SD</a:t>
                      </a:r>
                    </a:p>
                  </a:txBody>
                  <a:tcPr marL="91440" marR="91440" marT="36576" marB="36576" anchor="ctr">
                    <a:lnB w="9525" cap="flat" cmpd="sng" algn="ctr">
                      <a:solidFill>
                        <a:srgbClr val="D9DEE6"/>
                      </a:solidFill>
                    </a:lnB>
                    <a:solidFill>
                      <a:srgbClr val="184F95"/>
                    </a:solidFill>
                  </a:tcPr>
                </a:tc>
                <a:tc>
                  <a:txBody>
                    <a:bodyPr wrap="square"/>
                    <a:lstStyle/>
                    <a:p>
                      <a:pPr algn="r">
                        <a:spcBef>
                          <a:spcPts val="0"/>
                        </a:spcBef>
                        <a:spcAft>
                          <a:spcPts val="0"/>
                        </a:spcAft>
                      </a:pPr>
                      <a:r>
                        <a:rPr sz="1500" b="1" i="0">
                          <a:solidFill>
                            <a:srgbClr val="FFFFFF"/>
                          </a:solidFill>
                          <a:latin typeface="Calibri"/>
                        </a:rPr>
                        <a:t>Trung bình</a:t>
                      </a:r>
                    </a:p>
                  </a:txBody>
                  <a:tcPr marL="91440" marR="91440" marT="36576" marB="36576" anchor="ctr">
                    <a:lnB w="9525" cap="flat" cmpd="sng" algn="ctr">
                      <a:solidFill>
                        <a:srgbClr val="D9DEE6"/>
                      </a:solidFill>
                    </a:lnB>
                    <a:solidFill>
                      <a:srgbClr val="184F95"/>
                    </a:solidFill>
                  </a:tcPr>
                </a:tc>
              </a:tr>
              <a:tr h="530352">
                <a:tc>
                  <a:txBody>
                    <a:bodyPr wrap="square"/>
                    <a:lstStyle/>
                    <a:p>
                      <a:pPr algn="l">
                        <a:spcBef>
                          <a:spcPts val="0"/>
                        </a:spcBef>
                        <a:spcAft>
                          <a:spcPts val="0"/>
                        </a:spcAft>
                      </a:pPr>
                      <a:r>
                        <a:rPr sz="1500" b="1" i="0">
                          <a:solidFill>
                            <a:srgbClr val="1B2430"/>
                          </a:solidFill>
                          <a:latin typeface="Calibri"/>
                        </a:rPr>
                        <a:t>DINOv2 25 %</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500" b="0" i="0">
                          <a:solidFill>
                            <a:srgbClr val="1B2430"/>
                          </a:solidFill>
                          <a:latin typeface="Calibri"/>
                        </a:rPr>
                        <a:t>0,604</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500" b="0" i="0">
                          <a:solidFill>
                            <a:srgbClr val="1B2430"/>
                          </a:solidFill>
                          <a:latin typeface="Calibri"/>
                        </a:rPr>
                        <a:t>0,523–0,688</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500" b="0" i="0">
                          <a:solidFill>
                            <a:srgbClr val="1B2430"/>
                          </a:solidFill>
                          <a:latin typeface="Calibri"/>
                        </a:rPr>
                        <a:t>0,194</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500" b="0" i="0">
                          <a:solidFill>
                            <a:srgbClr val="1B2430"/>
                          </a:solidFill>
                          <a:latin typeface="Calibri"/>
                        </a:rPr>
                        <a:t>0,558</a:t>
                      </a:r>
                    </a:p>
                  </a:txBody>
                  <a:tcPr marL="91440" marR="91440" marT="36576" marB="36576" anchor="ctr">
                    <a:lnB w="9525" cap="flat" cmpd="sng" algn="ctr">
                      <a:solidFill>
                        <a:srgbClr val="D9DEE6"/>
                      </a:solidFill>
                    </a:lnB>
                    <a:solidFill>
                      <a:srgbClr val="FFFFFF"/>
                    </a:solidFill>
                  </a:tcPr>
                </a:tc>
              </a:tr>
              <a:tr h="530352">
                <a:tc>
                  <a:txBody>
                    <a:bodyPr wrap="square"/>
                    <a:lstStyle/>
                    <a:p>
                      <a:pPr algn="l">
                        <a:spcBef>
                          <a:spcPts val="0"/>
                        </a:spcBef>
                        <a:spcAft>
                          <a:spcPts val="0"/>
                        </a:spcAft>
                      </a:pPr>
                      <a:r>
                        <a:rPr sz="1500" b="1" i="0">
                          <a:solidFill>
                            <a:srgbClr val="1B2430"/>
                          </a:solidFill>
                          <a:latin typeface="Calibri"/>
                        </a:rPr>
                        <a:t>DINOv2 50 %</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500" b="0" i="0">
                          <a:solidFill>
                            <a:srgbClr val="1B2430"/>
                          </a:solidFill>
                          <a:latin typeface="Calibri"/>
                        </a:rPr>
                        <a:t>0,668</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500" b="0" i="0">
                          <a:solidFill>
                            <a:srgbClr val="1B2430"/>
                          </a:solidFill>
                          <a:latin typeface="Calibri"/>
                        </a:rPr>
                        <a:t>0,581–0,726</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500" b="0" i="0">
                          <a:solidFill>
                            <a:srgbClr val="1B2430"/>
                          </a:solidFill>
                          <a:latin typeface="Calibri"/>
                        </a:rPr>
                        <a:t>0,174</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500" b="0" i="0">
                          <a:solidFill>
                            <a:srgbClr val="1B2430"/>
                          </a:solidFill>
                          <a:latin typeface="Calibri"/>
                        </a:rPr>
                        <a:t>0,616</a:t>
                      </a:r>
                    </a:p>
                  </a:txBody>
                  <a:tcPr marL="91440" marR="91440" marT="36576" marB="36576" anchor="ctr">
                    <a:lnB w="9525" cap="flat" cmpd="sng" algn="ctr">
                      <a:solidFill>
                        <a:srgbClr val="D9DEE6"/>
                      </a:solidFill>
                    </a:lnB>
                    <a:solidFill>
                      <a:srgbClr val="FFFFFF"/>
                    </a:solidFill>
                  </a:tcPr>
                </a:tc>
              </a:tr>
              <a:tr h="530352">
                <a:tc>
                  <a:txBody>
                    <a:bodyPr wrap="square"/>
                    <a:lstStyle/>
                    <a:p>
                      <a:pPr algn="l">
                        <a:spcBef>
                          <a:spcPts val="0"/>
                        </a:spcBef>
                        <a:spcAft>
                          <a:spcPts val="0"/>
                        </a:spcAft>
                      </a:pPr>
                      <a:r>
                        <a:rPr sz="1500" b="1" i="0">
                          <a:solidFill>
                            <a:srgbClr val="1B2430"/>
                          </a:solidFill>
                          <a:latin typeface="Calibri"/>
                        </a:rPr>
                        <a:t>DINOv2 100 %</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500" b="0" i="0">
                          <a:solidFill>
                            <a:srgbClr val="1B2430"/>
                          </a:solidFill>
                          <a:latin typeface="Calibri"/>
                        </a:rPr>
                        <a:t>0,679</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500" b="0" i="0">
                          <a:solidFill>
                            <a:srgbClr val="1B2430"/>
                          </a:solidFill>
                          <a:latin typeface="Calibri"/>
                        </a:rPr>
                        <a:t>0,579–0,740</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500" b="0" i="0">
                          <a:solidFill>
                            <a:srgbClr val="1B2430"/>
                          </a:solidFill>
                          <a:latin typeface="Calibri"/>
                        </a:rPr>
                        <a:t>0,154</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500" b="0" i="0">
                          <a:solidFill>
                            <a:srgbClr val="1B2430"/>
                          </a:solidFill>
                          <a:latin typeface="Calibri"/>
                        </a:rPr>
                        <a:t>0,639</a:t>
                      </a:r>
                    </a:p>
                  </a:txBody>
                  <a:tcPr marL="91440" marR="91440" marT="36576" marB="36576" anchor="ctr">
                    <a:lnB w="9525" cap="flat" cmpd="sng" algn="ctr">
                      <a:solidFill>
                        <a:srgbClr val="D9DEE6"/>
                      </a:solidFill>
                    </a:lnB>
                    <a:solidFill>
                      <a:srgbClr val="FFFFFF"/>
                    </a:solidFill>
                  </a:tcPr>
                </a:tc>
              </a:tr>
              <a:tr h="530352">
                <a:tc>
                  <a:txBody>
                    <a:bodyPr wrap="square"/>
                    <a:lstStyle/>
                    <a:p>
                      <a:pPr algn="l">
                        <a:spcBef>
                          <a:spcPts val="0"/>
                        </a:spcBef>
                        <a:spcAft>
                          <a:spcPts val="0"/>
                        </a:spcAft>
                      </a:pPr>
                      <a:r>
                        <a:rPr sz="1500" b="1" i="0">
                          <a:solidFill>
                            <a:srgbClr val="1B2430"/>
                          </a:solidFill>
                          <a:latin typeface="Calibri"/>
                        </a:rPr>
                        <a:t>DINOv2 100 % + PP-4</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500" b="0" i="0">
                          <a:solidFill>
                            <a:srgbClr val="1B2430"/>
                          </a:solidFill>
                          <a:latin typeface="Calibri"/>
                        </a:rPr>
                        <a:t>0,701</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500" b="0" i="0">
                          <a:solidFill>
                            <a:srgbClr val="1B2430"/>
                          </a:solidFill>
                          <a:latin typeface="Calibri"/>
                        </a:rPr>
                        <a:t>0,581–0,766</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500" b="0" i="0">
                          <a:solidFill>
                            <a:srgbClr val="1B2430"/>
                          </a:solidFill>
                          <a:latin typeface="Calibri"/>
                        </a:rPr>
                        <a:t>0,164</a:t>
                      </a:r>
                    </a:p>
                  </a:txBody>
                  <a:tcPr marL="91440" marR="91440" marT="36576" marB="36576" anchor="ctr">
                    <a:lnB w="9525" cap="flat" cmpd="sng" algn="ctr">
                      <a:solidFill>
                        <a:srgbClr val="D9DEE6"/>
                      </a:solidFill>
                    </a:lnB>
                    <a:solidFill>
                      <a:srgbClr val="FFFFFF"/>
                    </a:solidFill>
                  </a:tcPr>
                </a:tc>
                <a:tc>
                  <a:txBody>
                    <a:bodyPr wrap="square"/>
                    <a:lstStyle/>
                    <a:p>
                      <a:pPr algn="r">
                        <a:spcBef>
                          <a:spcPts val="0"/>
                        </a:spcBef>
                        <a:spcAft>
                          <a:spcPts val="0"/>
                        </a:spcAft>
                      </a:pPr>
                      <a:r>
                        <a:rPr sz="1500" b="0" i="0">
                          <a:solidFill>
                            <a:srgbClr val="1B2430"/>
                          </a:solidFill>
                          <a:latin typeface="Calibri"/>
                        </a:rPr>
                        <a:t>0,659</a:t>
                      </a:r>
                    </a:p>
                  </a:txBody>
                  <a:tcPr marL="91440" marR="91440" marT="36576" marB="36576" anchor="ctr">
                    <a:lnB w="9525" cap="flat" cmpd="sng" algn="ctr">
                      <a:solidFill>
                        <a:srgbClr val="D9DEE6"/>
                      </a:solidFill>
                    </a:lnB>
                    <a:solidFill>
                      <a:srgbClr val="FFFFFF"/>
                    </a:solidFill>
                  </a:tcPr>
                </a:tc>
              </a:tr>
            </a:tbl>
          </a:graphicData>
        </a:graphic>
      </p:graphicFrame>
      <p:sp>
        <p:nvSpPr>
          <p:cNvPr id="5" name="card"/>
          <p:cNvSpPr/>
          <p:nvPr/>
        </p:nvSpPr>
        <p:spPr>
          <a:xfrm>
            <a:off x="548640" y="4498847"/>
            <a:ext cx="7406640" cy="1234440"/>
          </a:xfrm>
          <a:prstGeom prst="roundRect">
            <a:avLst>
              <a:gd name="adj" fmla="val 6000"/>
            </a:avLst>
          </a:prstGeom>
          <a:solidFill>
            <a:srgbClr val="FFFFFF"/>
          </a:solidFill>
          <a:ln w="12700">
            <a:solidFill>
              <a:srgbClr val="D9DEE6"/>
            </a:solidFill>
          </a:ln>
        </p:spPr>
        <p:txBody>
          <a:bodyPr rtlCol="0" anchor="t" wrap="square" lIns="164592" rIns="164592" tIns="131673" bIns="131673">
            <a:noAutofit/>
          </a:bodyPr>
          <a:lstStyle/>
          <a:p>
            <a:pPr algn="l">
              <a:spcBef>
                <a:spcPts val="0"/>
              </a:spcBef>
              <a:spcAft>
                <a:spcPts val="400"/>
              </a:spcAft>
            </a:pPr>
            <a:r>
              <a:rPr sz="1500" b="1" i="0">
                <a:solidFill>
                  <a:srgbClr val="184F95"/>
                </a:solidFill>
                <a:latin typeface="Calibri"/>
              </a:rPr>
              <a:t>Cách đọc</a:t>
            </a:r>
          </a:p>
          <a:p>
            <a:pPr algn="l" marL="219456" indent="-219456">
              <a:spcBef>
                <a:spcPts val="0"/>
              </a:spcBef>
              <a:spcAft>
                <a:spcPts val="300"/>
              </a:spcAft>
              <a:buClr>
                <a:srgbClr val="2A78D6"/>
              </a:buClr>
              <a:buFont typeface="Arial"/>
              <a:buChar char="•"/>
            </a:pPr>
            <a:r>
              <a:rPr sz="1400" b="0" i="0">
                <a:solidFill>
                  <a:srgbClr val="1B2430"/>
                </a:solidFill>
                <a:latin typeface="Calibri"/>
              </a:rPr>
              <a:t>Trung vị cao hơn trung bình ở mọi run: phân phối lệch trái, đuôi là vài ca rất thấp.</a:t>
            </a:r>
          </a:p>
          <a:p>
            <a:pPr algn="l" marL="219456" indent="-219456">
              <a:spcBef>
                <a:spcPts val="0"/>
              </a:spcBef>
              <a:spcAft>
                <a:spcPts val="300"/>
              </a:spcAft>
              <a:buClr>
                <a:srgbClr val="2A78D6"/>
              </a:buClr>
              <a:buFont typeface="Arial"/>
              <a:buChar char="•"/>
            </a:pPr>
            <a:r>
              <a:rPr sz="1400" b="0" i="0">
                <a:solidFill>
                  <a:srgbClr val="1B2430"/>
                </a:solidFill>
                <a:latin typeface="Calibri"/>
              </a:rPr>
              <a:t>SD giảm khi có thêm dữ liệu: 0,194 → 0,154.</a:t>
            </a:r>
          </a:p>
        </p:txBody>
      </p:sp>
      <p:sp>
        <p:nvSpPr>
          <p:cNvPr id="6" name="bullets"/>
          <p:cNvSpPr txBox="1"/>
          <p:nvPr/>
        </p:nvSpPr>
        <p:spPr>
          <a:xfrm>
            <a:off x="8229600" y="1645920"/>
            <a:ext cx="3413455" cy="4297680"/>
          </a:xfrm>
          <a:prstGeom prst="rect">
            <a:avLst/>
          </a:prstGeom>
          <a:noFill/>
        </p:spPr>
        <p:txBody>
          <a:bodyPr wrap="square" lIns="0" rIns="0" tIns="0" bIns="0" anchor="t">
            <a:noAutofit/>
          </a:bodyPr>
          <a:lstStyle/>
          <a:p>
            <a:pPr algn="l" marL="219456" indent="-219456">
              <a:spcBef>
                <a:spcPts val="0"/>
              </a:spcBef>
              <a:spcAft>
                <a:spcPts val="800"/>
              </a:spcAft>
              <a:buClr>
                <a:srgbClr val="2A78D6"/>
              </a:buClr>
              <a:buFont typeface="Arial"/>
              <a:buChar char="•"/>
            </a:pPr>
            <a:r>
              <a:rPr sz="1400" b="0" i="0">
                <a:solidFill>
                  <a:srgbClr val="1B2430"/>
                </a:solidFill>
                <a:latin typeface="Calibri"/>
              </a:rPr>
              <a:t>Luật ngoại lệ DR-010: ba case đánh giá thành công có Dice 3D thấp nhất; hoà thì FP+FN giảm dần, rồi mã case.</a:t>
            </a:r>
          </a:p>
          <a:p>
            <a:pPr algn="l" marL="219456" indent="-219456">
              <a:spcBef>
                <a:spcPts val="0"/>
              </a:spcBef>
              <a:spcAft>
                <a:spcPts val="800"/>
              </a:spcAft>
              <a:buClr>
                <a:srgbClr val="2A78D6"/>
              </a:buClr>
              <a:buFont typeface="Arial"/>
              <a:buChar char="•"/>
            </a:pPr>
            <a:r>
              <a:rPr sz="1400" b="0" i="0">
                <a:solidFill>
                  <a:srgbClr val="1B2430"/>
                </a:solidFill>
                <a:latin typeface="Calibri"/>
              </a:rPr>
              <a:t>App mở thẳng ca ngoại lệ (H2); số theo case không công bố ở đây.</a:t>
            </a:r>
          </a:p>
          <a:p>
            <a:pPr algn="l" marL="219456" indent="-219456">
              <a:spcBef>
                <a:spcPts val="0"/>
              </a:spcBef>
              <a:spcAft>
                <a:spcPts val="800"/>
              </a:spcAft>
              <a:buClr>
                <a:srgbClr val="2A78D6"/>
              </a:buClr>
              <a:buFont typeface="Arial"/>
              <a:buChar char="•"/>
            </a:pPr>
            <a:r>
              <a:rPr sz="1400" b="0" i="0">
                <a:solidFill>
                  <a:srgbClr val="1B2430"/>
                </a:solidFill>
                <a:latin typeface="Calibri"/>
              </a:rPr>
              <a:t>Tập độ nhạy bỏ 1 case nghi trùng bệnh nhân (DR-002b): Dice TB đổi tối đa 0,0036.</a:t>
            </a:r>
          </a:p>
          <a:p>
            <a:pPr algn="l" marL="219456" indent="-219456">
              <a:spcBef>
                <a:spcPts val="0"/>
              </a:spcBef>
              <a:spcAft>
                <a:spcPts val="800"/>
              </a:spcAft>
              <a:buClr>
                <a:srgbClr val="2A78D6"/>
              </a:buClr>
              <a:buFont typeface="Arial"/>
              <a:buChar char="•"/>
            </a:pPr>
            <a:r>
              <a:rPr sz="1400" b="0" i="0">
                <a:solidFill>
                  <a:srgbClr val="1B2430"/>
                </a:solidFill>
                <a:latin typeface="Calibri"/>
              </a:rPr>
              <a:t>Mọi kết luận giữ nguyên trên tập độ nhạy.</a:t>
            </a:r>
          </a:p>
        </p:txBody>
      </p:sp>
      <p:sp>
        <p:nvSpPr>
          <p:cNvPr id="7" name="source"/>
          <p:cNvSpPr txBox="1"/>
          <p:nvPr/>
        </p:nvSpPr>
        <p:spPr>
          <a:xfrm>
            <a:off x="548640" y="6053328"/>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Nguồn: results_aggregate.json (n = 54); luật DR-010 trong management/readiness/OPEN_DECISIONS.md.</a:t>
            </a:r>
          </a:p>
        </p:txBody>
      </p:sp>
      <p:sp>
        <p:nvSpPr>
          <p:cNvPr id="8"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9"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Lỗi theo lát: Dice cao ở giữa stack, về gần 0 ở hai đầu</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KHOA HỌC DỮ LIỆU VÀ XỬ LÝ ẢNH · PROFILE THEO LÁT</a:t>
            </a:r>
          </a:p>
        </p:txBody>
      </p:sp>
      <p:pic>
        <p:nvPicPr>
          <p:cNvPr id="4" name="figure" descr="Dice 2D trung bình theo vị trí lát chuẩn hoá, theo từng run, kèm tỉ lệ case có ground truth"/>
          <p:cNvPicPr>
            <a:picLocks noChangeAspect="1"/>
          </p:cNvPicPr>
          <p:nvPr/>
        </p:nvPicPr>
        <p:blipFill>
          <a:blip r:embed="rId3"/>
          <a:stretch>
            <a:fillRect/>
          </a:stretch>
        </p:blipFill>
        <p:spPr>
          <a:xfrm>
            <a:off x="548640" y="1600200"/>
            <a:ext cx="7802880" cy="4389120"/>
          </a:xfrm>
          <a:prstGeom prst="rect">
            <a:avLst/>
          </a:prstGeom>
        </p:spPr>
      </p:pic>
      <p:sp>
        <p:nvSpPr>
          <p:cNvPr id="5" name="bullets"/>
          <p:cNvSpPr txBox="1"/>
          <p:nvPr/>
        </p:nvSpPr>
        <p:spPr>
          <a:xfrm>
            <a:off x="8641080" y="1645920"/>
            <a:ext cx="3001975" cy="4297680"/>
          </a:xfrm>
          <a:prstGeom prst="rect">
            <a:avLst/>
          </a:prstGeom>
          <a:noFill/>
        </p:spPr>
        <p:txBody>
          <a:bodyPr wrap="square" lIns="0" rIns="0" tIns="0" bIns="0" anchor="t">
            <a:noAutofit/>
          </a:bodyPr>
          <a:lstStyle/>
          <a:p>
            <a:pPr algn="l" marL="219456" indent="-219456">
              <a:spcBef>
                <a:spcPts val="0"/>
              </a:spcBef>
              <a:spcAft>
                <a:spcPts val="800"/>
              </a:spcAft>
              <a:buClr>
                <a:srgbClr val="2A78D6"/>
              </a:buClr>
              <a:buFont typeface="Arial"/>
              <a:buChar char="•"/>
            </a:pPr>
            <a:r>
              <a:rPr sz="1400" b="0" i="0">
                <a:solidFill>
                  <a:srgbClr val="1B2430"/>
                </a:solidFill>
                <a:latin typeface="Calibri"/>
              </a:rPr>
              <a:t>Giữa stack: Dice lát tới 0,74 (DINOv2 100 %).</a:t>
            </a:r>
          </a:p>
          <a:p>
            <a:pPr algn="l" marL="219456" indent="-219456">
              <a:spcBef>
                <a:spcPts val="0"/>
              </a:spcBef>
              <a:spcAft>
                <a:spcPts val="800"/>
              </a:spcAft>
              <a:buClr>
                <a:srgbClr val="2A78D6"/>
              </a:buClr>
              <a:buFont typeface="Arial"/>
              <a:buChar char="•"/>
            </a:pPr>
            <a:r>
              <a:rPr sz="1400" b="0" i="0">
                <a:solidFill>
                  <a:srgbClr val="1B2430"/>
                </a:solidFill>
                <a:latin typeface="Calibri"/>
              </a:rPr>
              <a:t>Hai đầu: ground truth vắng, dự đoán thừa tính Dice = 0.</a:t>
            </a:r>
          </a:p>
          <a:p>
            <a:pPr algn="l" marL="219456" indent="-219456">
              <a:spcBef>
                <a:spcPts val="0"/>
              </a:spcBef>
              <a:spcAft>
                <a:spcPts val="800"/>
              </a:spcAft>
              <a:buClr>
                <a:srgbClr val="2A78D6"/>
              </a:buClr>
              <a:buFont typeface="Arial"/>
              <a:buChar char="•"/>
            </a:pPr>
            <a:r>
              <a:rPr sz="1400" b="0" i="0">
                <a:solidFill>
                  <a:srgbClr val="1B2430"/>
                </a:solidFill>
                <a:latin typeface="Calibri"/>
              </a:rPr>
              <a:t>PP-4 xoá bớt dự đoán thừa: Dice lát TB 0,426 → 0,482.</a:t>
            </a:r>
          </a:p>
          <a:p>
            <a:pPr algn="l" marL="219456" indent="-219456">
              <a:spcBef>
                <a:spcPts val="0"/>
              </a:spcBef>
              <a:spcAft>
                <a:spcPts val="800"/>
              </a:spcAft>
              <a:buClr>
                <a:srgbClr val="2A78D6"/>
              </a:buClr>
              <a:buFont typeface="Arial"/>
              <a:buChar char="•"/>
            </a:pPr>
            <a:r>
              <a:rPr sz="1400" b="0" i="0">
                <a:solidFill>
                  <a:srgbClr val="1B2430"/>
                </a:solidFill>
                <a:latin typeface="Calibri"/>
              </a:rPr>
              <a:t>Lát cả hai rỗng bị loại khỏi trung bình (spec 07 §6).</a:t>
            </a:r>
          </a:p>
        </p:txBody>
      </p:sp>
      <p:sp>
        <p:nvSpPr>
          <p:cNvPr id="6" name="source"/>
          <p:cNvSpPr txBox="1"/>
          <p:nvPr/>
        </p:nvSpPr>
        <p:spPr>
          <a:xfrm>
            <a:off x="548640" y="6053328"/>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Trung bình theo case trong 20 bin; n = 54 case. Nguồn: results_aggregate.json (slice_profile).</a:t>
            </a:r>
          </a:p>
        </p:txBody>
      </p:sp>
      <p:sp>
        <p:nvSpPr>
          <p:cNvPr id="7"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8"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Bộ nhớ đệm lát có giới hạn: không bao giờ tải cả khối cho mỗi cử chỉ</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PHÁT TRIỂN DI ĐỘNG · HIỆU NĂNG</a:t>
            </a:r>
          </a:p>
        </p:txBody>
      </p:sp>
      <p:sp>
        <p:nvSpPr>
          <p:cNvPr id="4" name="tile"/>
          <p:cNvSpPr/>
          <p:nvPr/>
        </p:nvSpPr>
        <p:spPr>
          <a:xfrm>
            <a:off x="548640" y="1645920"/>
            <a:ext cx="3545738" cy="1874519"/>
          </a:xfrm>
          <a:prstGeom prst="roundRect">
            <a:avLst>
              <a:gd name="adj" fmla="val 6000"/>
            </a:avLst>
          </a:prstGeom>
          <a:solidFill>
            <a:srgbClr val="FFFFFF"/>
          </a:solidFill>
          <a:ln w="12700">
            <a:solidFill>
              <a:srgbClr val="D9DEE6"/>
            </a:solidFill>
          </a:ln>
        </p:spPr>
        <p:txBody>
          <a:bodyPr rtlCol="0" anchor="ctr" wrap="square" lIns="164592" rIns="164592" tIns="131673" bIns="131673">
            <a:noAutofit/>
          </a:bodyPr>
          <a:lstStyle/>
          <a:p>
            <a:pPr algn="l">
              <a:spcBef>
                <a:spcPts val="0"/>
              </a:spcBef>
              <a:spcAft>
                <a:spcPts val="200"/>
              </a:spcAft>
            </a:pPr>
            <a:r>
              <a:rPr sz="4000" b="1" i="0">
                <a:solidFill>
                  <a:srgbClr val="184F95"/>
                </a:solidFill>
                <a:latin typeface="Calibri"/>
              </a:rPr>
              <a:t>≤ 155,1 KB</a:t>
            </a:r>
          </a:p>
          <a:p>
            <a:pPr algn="l">
              <a:spcBef>
                <a:spcPts val="0"/>
              </a:spcBef>
              <a:spcAft>
                <a:spcPts val="200"/>
              </a:spcAft>
            </a:pPr>
            <a:r>
              <a:rPr sz="1400" b="0" i="0">
                <a:solidFill>
                  <a:srgbClr val="1B2430"/>
                </a:solidFill>
                <a:latin typeface="Calibri"/>
              </a:rPr>
              <a:t>mỗi lát mới</a:t>
            </a:r>
          </a:p>
          <a:p>
            <a:pPr algn="l">
              <a:spcBef>
                <a:spcPts val="0"/>
              </a:spcBef>
              <a:spcAft>
                <a:spcPts val="0"/>
              </a:spcAft>
            </a:pPr>
            <a:r>
              <a:rPr sz="1200" b="0" i="0">
                <a:solidFill>
                  <a:srgbClr val="6B7482"/>
                </a:solidFill>
                <a:latin typeface="Calibri"/>
              </a:rPr>
              <a:t>trung vị 153,5 KB · 1,1 % một khối</a:t>
            </a:r>
          </a:p>
        </p:txBody>
      </p:sp>
      <p:sp>
        <p:nvSpPr>
          <p:cNvPr id="5" name="tile"/>
          <p:cNvSpPr/>
          <p:nvPr/>
        </p:nvSpPr>
        <p:spPr>
          <a:xfrm>
            <a:off x="4322978" y="1645920"/>
            <a:ext cx="3545738" cy="1874519"/>
          </a:xfrm>
          <a:prstGeom prst="roundRect">
            <a:avLst>
              <a:gd name="adj" fmla="val 6000"/>
            </a:avLst>
          </a:prstGeom>
          <a:solidFill>
            <a:srgbClr val="FFFFFF"/>
          </a:solidFill>
          <a:ln w="12700">
            <a:solidFill>
              <a:srgbClr val="D9DEE6"/>
            </a:solidFill>
          </a:ln>
        </p:spPr>
        <p:txBody>
          <a:bodyPr rtlCol="0" anchor="ctr" wrap="square" lIns="164592" rIns="164592" tIns="131673" bIns="131673">
            <a:noAutofit/>
          </a:bodyPr>
          <a:lstStyle/>
          <a:p>
            <a:pPr algn="l">
              <a:spcBef>
                <a:spcPts val="0"/>
              </a:spcBef>
              <a:spcAft>
                <a:spcPts val="200"/>
              </a:spcAft>
            </a:pPr>
            <a:r>
              <a:rPr sz="4000" b="1" i="0">
                <a:solidFill>
                  <a:srgbClr val="184F95"/>
                </a:solidFill>
                <a:latin typeface="Calibri"/>
              </a:rPr>
              <a:t>0 byte</a:t>
            </a:r>
          </a:p>
          <a:p>
            <a:pPr algn="l">
              <a:spcBef>
                <a:spcPts val="0"/>
              </a:spcBef>
              <a:spcAft>
                <a:spcPts val="200"/>
              </a:spcAft>
            </a:pPr>
            <a:r>
              <a:rPr sz="1400" b="0" i="0">
                <a:solidFill>
                  <a:srgbClr val="1B2430"/>
                </a:solidFill>
                <a:latin typeface="Calibri"/>
              </a:rPr>
              <a:t>khi quay lại lát đã xem</a:t>
            </a:r>
          </a:p>
          <a:p>
            <a:pPr algn="l">
              <a:spcBef>
                <a:spcPts val="0"/>
              </a:spcBef>
              <a:spcAft>
                <a:spcPts val="0"/>
              </a:spcAft>
            </a:pPr>
            <a:r>
              <a:rPr sz="1200" b="0" i="0">
                <a:solidFill>
                  <a:srgbClr val="6B7482"/>
                </a:solidFill>
                <a:latin typeface="Calibri"/>
              </a:rPr>
              <a:t>15/15 lần quay lại</a:t>
            </a:r>
          </a:p>
        </p:txBody>
      </p:sp>
      <p:sp>
        <p:nvSpPr>
          <p:cNvPr id="6" name="tile"/>
          <p:cNvSpPr/>
          <p:nvPr/>
        </p:nvSpPr>
        <p:spPr>
          <a:xfrm>
            <a:off x="8097316" y="1645920"/>
            <a:ext cx="3545738" cy="1874519"/>
          </a:xfrm>
          <a:prstGeom prst="roundRect">
            <a:avLst>
              <a:gd name="adj" fmla="val 6000"/>
            </a:avLst>
          </a:prstGeom>
          <a:solidFill>
            <a:srgbClr val="FFFFFF"/>
          </a:solidFill>
          <a:ln w="12700">
            <a:solidFill>
              <a:srgbClr val="D9DEE6"/>
            </a:solidFill>
          </a:ln>
        </p:spPr>
        <p:txBody>
          <a:bodyPr rtlCol="0" anchor="ctr" wrap="square" lIns="164592" rIns="164592" tIns="131673" bIns="131673">
            <a:noAutofit/>
          </a:bodyPr>
          <a:lstStyle/>
          <a:p>
            <a:pPr algn="l">
              <a:spcBef>
                <a:spcPts val="0"/>
              </a:spcBef>
              <a:spcAft>
                <a:spcPts val="200"/>
              </a:spcAft>
            </a:pPr>
            <a:r>
              <a:rPr sz="4000" b="1" i="0">
                <a:solidFill>
                  <a:srgbClr val="184F95"/>
                </a:solidFill>
                <a:latin typeface="Calibri"/>
              </a:rPr>
              <a:t>98,72 ms</a:t>
            </a:r>
          </a:p>
          <a:p>
            <a:pPr algn="l">
              <a:spcBef>
                <a:spcPts val="0"/>
              </a:spcBef>
              <a:spcAft>
                <a:spcPts val="200"/>
              </a:spcAft>
            </a:pPr>
            <a:r>
              <a:rPr sz="1400" b="0" i="0">
                <a:solidFill>
                  <a:srgbClr val="1B2430"/>
                </a:solidFill>
                <a:latin typeface="Calibri"/>
              </a:rPr>
              <a:t>p95 chuyển lát đã cache</a:t>
            </a:r>
          </a:p>
          <a:p>
            <a:pPr algn="l">
              <a:spcBef>
                <a:spcPts val="0"/>
              </a:spcBef>
              <a:spcAft>
                <a:spcPts val="0"/>
              </a:spcAft>
            </a:pPr>
            <a:r>
              <a:rPr sz="1200" b="0" i="0">
                <a:solidFill>
                  <a:srgbClr val="6B7482"/>
                </a:solidFill>
                <a:latin typeface="Calibri"/>
              </a:rPr>
              <a:t>ngưỡng 200 ms · 576×576×88</a:t>
            </a:r>
          </a:p>
        </p:txBody>
      </p:sp>
      <p:sp>
        <p:nvSpPr>
          <p:cNvPr id="7" name="bullets"/>
          <p:cNvSpPr txBox="1"/>
          <p:nvPr/>
        </p:nvSpPr>
        <p:spPr>
          <a:xfrm>
            <a:off x="548640" y="3794760"/>
            <a:ext cx="11094415" cy="2194560"/>
          </a:xfrm>
          <a:prstGeom prst="rect">
            <a:avLst/>
          </a:prstGeom>
          <a:noFill/>
        </p:spPr>
        <p:txBody>
          <a:bodyPr wrap="square" lIns="0" rIns="0" tIns="0" bIns="0" anchor="t">
            <a:noAutofit/>
          </a:bodyPr>
          <a:lstStyle/>
          <a:p>
            <a:pPr algn="l" marL="219456" indent="-219456">
              <a:spcBef>
                <a:spcPts val="0"/>
              </a:spcBef>
              <a:spcAft>
                <a:spcPts val="800"/>
              </a:spcAft>
              <a:buClr>
                <a:srgbClr val="2A78D6"/>
              </a:buClr>
              <a:buFont typeface="Arial"/>
              <a:buChar char="•"/>
            </a:pPr>
            <a:r>
              <a:rPr sz="1500" b="0" i="0">
                <a:solidFill>
                  <a:srgbClr val="1B2430"/>
                </a:solidFill>
                <a:latin typeface="Calibri"/>
              </a:rPr>
              <a:t>Cache theo từng lát, không bao giờ cả khối (DR-015); LRU có giới hạn: tối đa 600 mục.</a:t>
            </a:r>
          </a:p>
          <a:p>
            <a:pPr algn="l" marL="219456" indent="-219456">
              <a:spcBef>
                <a:spcPts val="0"/>
              </a:spcBef>
              <a:spcAft>
                <a:spcPts val="800"/>
              </a:spcAft>
              <a:buClr>
                <a:srgbClr val="2A78D6"/>
              </a:buClr>
              <a:buFont typeface="Arial"/>
              <a:buChar char="•"/>
            </a:pPr>
            <a:r>
              <a:rPr sz="1500" b="0" i="0">
                <a:solidFill>
                  <a:srgbClr val="1B2430"/>
                </a:solidFill>
                <a:latin typeface="Calibri"/>
              </a:rPr>
              <a:t>Khoá cache là URL băm nội dung kèm case/run, lát và biến thể: mặt nạ THÔ và ĐÃ XỬ LÝ không dùng chung mục; lỗi không bị lưu.</a:t>
            </a:r>
          </a:p>
          <a:p>
            <a:pPr algn="l" marL="219456" indent="-219456">
              <a:spcBef>
                <a:spcPts val="0"/>
              </a:spcBef>
              <a:spcAft>
                <a:spcPts val="800"/>
              </a:spcAft>
              <a:buClr>
                <a:srgbClr val="2A78D6"/>
              </a:buClr>
              <a:buFont typeface="Arial"/>
              <a:buChar char="•"/>
            </a:pPr>
            <a:r>
              <a:rPr sz="1500" b="0" i="0">
                <a:solidFill>
                  <a:srgbClr val="1B2430"/>
                </a:solidFill>
                <a:latin typeface="Calibri"/>
              </a:rPr>
              <a:t>Đo trên Samsung Galaxy A17 5G (Android 16), app sản phẩm, backend thật: L4 PASS (01/10); byte tải về băm ra đúng checksum.</a:t>
            </a:r>
          </a:p>
          <a:p>
            <a:pPr algn="l" marL="219456" indent="-219456">
              <a:spcBef>
                <a:spcPts val="0"/>
              </a:spcBef>
              <a:spcAft>
                <a:spcPts val="800"/>
              </a:spcAft>
              <a:buClr>
                <a:srgbClr val="2A78D6"/>
              </a:buClr>
              <a:buFont typeface="Arial"/>
              <a:buChar char="•"/>
            </a:pPr>
            <a:r>
              <a:rPr sz="1500" b="0" i="0">
                <a:solidFill>
                  <a:srgbClr val="1B2430"/>
                </a:solidFill>
                <a:latin typeface="Calibri"/>
              </a:rPr>
              <a:t>Giới hạn: bitmap giải mã nằm ngoài heap Java 256 MB nên cửa sổ cache không chặn được bộ nhớ ảnh (sẽ đo trong TC-PERF-001); L4 chỉ gồm MRI và ground truth.</a:t>
            </a:r>
          </a:p>
        </p:txBody>
      </p:sp>
      <p:sp>
        <p:nvSpPr>
          <p:cNvPr id="8" name="source"/>
          <p:cNvSpPr txBox="1"/>
          <p:nvPr/>
        </p:nvSpPr>
        <p:spPr>
          <a:xfrm>
            <a:off x="548640" y="6053328"/>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Nguồn: management/spikes/SPIKE_A_2D/RESULT.md (A9, L4), management/adr/TECH_STACK_ADR.md §3, §7.</a:t>
            </a:r>
          </a:p>
        </p:txBody>
      </p:sp>
      <p:sp>
        <p:nvSpPr>
          <p:cNvPr id="9"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10"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Hợp đồng, trạng thái và tính bất biến đều được kiểm bằng máy</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PHÁT TRIỂN DI ĐỘNG · KIẾN TRÚC VÀ ĐỘ TIN CẬY</a:t>
            </a:r>
          </a:p>
        </p:txBody>
      </p:sp>
      <p:sp>
        <p:nvSpPr>
          <p:cNvPr id="4" name="card"/>
          <p:cNvSpPr/>
          <p:nvPr/>
        </p:nvSpPr>
        <p:spPr>
          <a:xfrm>
            <a:off x="548640" y="1645920"/>
            <a:ext cx="3564026" cy="2057400"/>
          </a:xfrm>
          <a:prstGeom prst="roundRect">
            <a:avLst>
              <a:gd name="adj" fmla="val 6000"/>
            </a:avLst>
          </a:prstGeom>
          <a:solidFill>
            <a:srgbClr val="FFFFFF"/>
          </a:solidFill>
          <a:ln w="12700">
            <a:solidFill>
              <a:srgbClr val="D9DEE6"/>
            </a:solidFill>
          </a:ln>
        </p:spPr>
        <p:txBody>
          <a:bodyPr rtlCol="0" anchor="t" wrap="square" lIns="164592" rIns="164592" tIns="131673" bIns="131673">
            <a:noAutofit/>
          </a:bodyPr>
          <a:lstStyle/>
          <a:p>
            <a:pPr algn="l">
              <a:spcBef>
                <a:spcPts val="0"/>
              </a:spcBef>
              <a:spcAft>
                <a:spcPts val="500"/>
              </a:spcAft>
            </a:pPr>
            <a:r>
              <a:rPr sz="1700" b="1" i="0">
                <a:solidFill>
                  <a:srgbClr val="184F95"/>
                </a:solidFill>
                <a:latin typeface="Calibri"/>
              </a:rPr>
              <a:t>Checksum mọi artifact</a:t>
            </a:r>
          </a:p>
          <a:p>
            <a:pPr algn="l">
              <a:spcBef>
                <a:spcPts val="0"/>
              </a:spcBef>
              <a:spcAft>
                <a:spcPts val="600"/>
              </a:spcAft>
            </a:pPr>
            <a:r>
              <a:rPr sz="1400" b="0" i="0">
                <a:solidFill>
                  <a:srgbClr val="1B2430"/>
                </a:solidFill>
                <a:latin typeface="Calibri"/>
              </a:rPr>
              <a:t>Ảnh, mask, mesh đánh địa chỉ theo sha256; app kiểm checksum của byte tải về, ETag = checksum.</a:t>
            </a:r>
          </a:p>
        </p:txBody>
      </p:sp>
      <p:sp>
        <p:nvSpPr>
          <p:cNvPr id="5" name="card"/>
          <p:cNvSpPr/>
          <p:nvPr/>
        </p:nvSpPr>
        <p:spPr>
          <a:xfrm>
            <a:off x="4313834" y="1645920"/>
            <a:ext cx="3564026" cy="2057400"/>
          </a:xfrm>
          <a:prstGeom prst="roundRect">
            <a:avLst>
              <a:gd name="adj" fmla="val 6000"/>
            </a:avLst>
          </a:prstGeom>
          <a:solidFill>
            <a:srgbClr val="FFFFFF"/>
          </a:solidFill>
          <a:ln w="12700">
            <a:solidFill>
              <a:srgbClr val="D9DEE6"/>
            </a:solidFill>
          </a:ln>
        </p:spPr>
        <p:txBody>
          <a:bodyPr rtlCol="0" anchor="t" wrap="square" lIns="164592" rIns="164592" tIns="131673" bIns="131673">
            <a:noAutofit/>
          </a:bodyPr>
          <a:lstStyle/>
          <a:p>
            <a:pPr algn="l">
              <a:spcBef>
                <a:spcPts val="0"/>
              </a:spcBef>
              <a:spcAft>
                <a:spcPts val="500"/>
              </a:spcAft>
            </a:pPr>
            <a:r>
              <a:rPr sz="1700" b="1" i="0">
                <a:solidFill>
                  <a:srgbClr val="184F95"/>
                </a:solidFill>
                <a:latin typeface="Calibri"/>
              </a:rPr>
              <a:t>7 trạng thái màn hình</a:t>
            </a:r>
          </a:p>
          <a:p>
            <a:pPr algn="l">
              <a:spcBef>
                <a:spcPts val="0"/>
              </a:spcBef>
              <a:spcAft>
                <a:spcPts val="600"/>
              </a:spcAft>
            </a:pPr>
            <a:r>
              <a:rPr sz="1400" b="0" i="0">
                <a:solidFill>
                  <a:srgbClr val="1B2430"/>
                </a:solidFill>
                <a:latin typeface="Calibri"/>
              </a:rPr>
              <a:t>Dùng chung: tải, đang xử lý, thành công, không khả dụng, lỗi thử lại, không hợp lệ, lệch phiên bản. Không bịa tiến độ.</a:t>
            </a:r>
          </a:p>
        </p:txBody>
      </p:sp>
      <p:sp>
        <p:nvSpPr>
          <p:cNvPr id="6" name="card"/>
          <p:cNvSpPr/>
          <p:nvPr/>
        </p:nvSpPr>
        <p:spPr>
          <a:xfrm>
            <a:off x="8079028" y="1645920"/>
            <a:ext cx="3564026" cy="2057400"/>
          </a:xfrm>
          <a:prstGeom prst="roundRect">
            <a:avLst>
              <a:gd name="adj" fmla="val 6000"/>
            </a:avLst>
          </a:prstGeom>
          <a:solidFill>
            <a:srgbClr val="FFFFFF"/>
          </a:solidFill>
          <a:ln w="12700">
            <a:solidFill>
              <a:srgbClr val="D9DEE6"/>
            </a:solidFill>
          </a:ln>
        </p:spPr>
        <p:txBody>
          <a:bodyPr rtlCol="0" anchor="t" wrap="square" lIns="164592" rIns="164592" tIns="131673" bIns="131673">
            <a:noAutofit/>
          </a:bodyPr>
          <a:lstStyle/>
          <a:p>
            <a:pPr algn="l">
              <a:spcBef>
                <a:spcPts val="0"/>
              </a:spcBef>
              <a:spcAft>
                <a:spcPts val="500"/>
              </a:spcAft>
            </a:pPr>
            <a:r>
              <a:rPr sz="1700" b="1" i="0">
                <a:solidFill>
                  <a:srgbClr val="184F95"/>
                </a:solidFill>
                <a:latin typeface="Calibri"/>
              </a:rPr>
              <a:t>3D trong WebView</a:t>
            </a:r>
          </a:p>
          <a:p>
            <a:pPr algn="l">
              <a:spcBef>
                <a:spcPts val="0"/>
              </a:spcBef>
              <a:spcAft>
                <a:spcPts val="600"/>
              </a:spcAft>
            </a:pPr>
            <a:r>
              <a:rPr sz="1400" b="0" i="0">
                <a:solidFill>
                  <a:srgbClr val="1B2430"/>
                </a:solidFill>
                <a:latin typeface="Calibri"/>
              </a:rPr>
              <a:t>WebGL2 trong react-native-webview: 59,88 FPS trung vị, 0 khung quá 500 ms (A17, mức L0).</a:t>
            </a:r>
          </a:p>
        </p:txBody>
      </p:sp>
      <p:sp>
        <p:nvSpPr>
          <p:cNvPr id="7" name="card"/>
          <p:cNvSpPr/>
          <p:nvPr/>
        </p:nvSpPr>
        <p:spPr>
          <a:xfrm>
            <a:off x="548640" y="3904488"/>
            <a:ext cx="3564026" cy="2057400"/>
          </a:xfrm>
          <a:prstGeom prst="roundRect">
            <a:avLst>
              <a:gd name="adj" fmla="val 6000"/>
            </a:avLst>
          </a:prstGeom>
          <a:solidFill>
            <a:srgbClr val="FFFFFF"/>
          </a:solidFill>
          <a:ln w="12700">
            <a:solidFill>
              <a:srgbClr val="D9DEE6"/>
            </a:solidFill>
          </a:ln>
        </p:spPr>
        <p:txBody>
          <a:bodyPr rtlCol="0" anchor="t" wrap="square" lIns="164592" rIns="164592" tIns="131673" bIns="131673">
            <a:noAutofit/>
          </a:bodyPr>
          <a:lstStyle/>
          <a:p>
            <a:pPr algn="l">
              <a:spcBef>
                <a:spcPts val="0"/>
              </a:spcBef>
              <a:spcAft>
                <a:spcPts val="500"/>
              </a:spcAft>
            </a:pPr>
            <a:r>
              <a:rPr sz="1700" b="1" i="0">
                <a:solidFill>
                  <a:srgbClr val="184F95"/>
                </a:solidFill>
                <a:latin typeface="Calibri"/>
              </a:rPr>
              <a:t>Review bất biến</a:t>
            </a:r>
          </a:p>
          <a:p>
            <a:pPr algn="l">
              <a:spcBef>
                <a:spcPts val="0"/>
              </a:spcBef>
              <a:spcAft>
                <a:spcPts val="600"/>
              </a:spcAft>
            </a:pPr>
            <a:r>
              <a:rPr sz="1400" b="0" i="0">
                <a:solidFill>
                  <a:srgbClr val="1B2430"/>
                </a:solidFill>
                <a:latin typeface="Calibri"/>
              </a:rPr>
              <a:t>Commit tạo phiên bản mới; trigger SQLite chặn UPDATE/DELETE; dự đoán gốc không bao giờ bị ghi.</a:t>
            </a:r>
          </a:p>
        </p:txBody>
      </p:sp>
      <p:sp>
        <p:nvSpPr>
          <p:cNvPr id="8" name="card"/>
          <p:cNvSpPr/>
          <p:nvPr/>
        </p:nvSpPr>
        <p:spPr>
          <a:xfrm>
            <a:off x="4313834" y="3904488"/>
            <a:ext cx="3564026" cy="2057400"/>
          </a:xfrm>
          <a:prstGeom prst="roundRect">
            <a:avLst>
              <a:gd name="adj" fmla="val 6000"/>
            </a:avLst>
          </a:prstGeom>
          <a:solidFill>
            <a:srgbClr val="FFFFFF"/>
          </a:solidFill>
          <a:ln w="12700">
            <a:solidFill>
              <a:srgbClr val="D9DEE6"/>
            </a:solidFill>
          </a:ln>
        </p:spPr>
        <p:txBody>
          <a:bodyPr rtlCol="0" anchor="t" wrap="square" lIns="164592" rIns="164592" tIns="131673" bIns="131673">
            <a:noAutofit/>
          </a:bodyPr>
          <a:lstStyle/>
          <a:p>
            <a:pPr algn="l">
              <a:spcBef>
                <a:spcPts val="0"/>
              </a:spcBef>
              <a:spcAft>
                <a:spcPts val="500"/>
              </a:spcAft>
            </a:pPr>
            <a:r>
              <a:rPr sz="1700" b="1" i="0">
                <a:solidFill>
                  <a:srgbClr val="184F95"/>
                </a:solidFill>
                <a:latin typeface="Calibri"/>
              </a:rPr>
              <a:t>CI: 11 job độc lập</a:t>
            </a:r>
          </a:p>
          <a:p>
            <a:pPr algn="l">
              <a:spcBef>
                <a:spcPts val="0"/>
              </a:spcBef>
              <a:spcAft>
                <a:spcPts val="600"/>
              </a:spcAft>
            </a:pPr>
            <a:r>
              <a:rPr sz="1400" b="0" i="0">
                <a:solidFill>
                  <a:srgbClr val="1B2430"/>
                </a:solidFill>
                <a:latin typeface="Calibri"/>
              </a:rPr>
              <a:t>Checksum spec 19/19, quét byte cấm và IPv4, app-core, framework-neutral, mobile-shell, render smoke và bundle.</a:t>
            </a:r>
          </a:p>
        </p:txBody>
      </p:sp>
      <p:sp>
        <p:nvSpPr>
          <p:cNvPr id="9" name="card"/>
          <p:cNvSpPr/>
          <p:nvPr/>
        </p:nvSpPr>
        <p:spPr>
          <a:xfrm>
            <a:off x="8079028" y="3904488"/>
            <a:ext cx="3564026" cy="2057400"/>
          </a:xfrm>
          <a:prstGeom prst="roundRect">
            <a:avLst>
              <a:gd name="adj" fmla="val 6000"/>
            </a:avLst>
          </a:prstGeom>
          <a:solidFill>
            <a:srgbClr val="FFFFFF"/>
          </a:solidFill>
          <a:ln w="12700">
            <a:solidFill>
              <a:srgbClr val="D9DEE6"/>
            </a:solidFill>
          </a:ln>
        </p:spPr>
        <p:txBody>
          <a:bodyPr rtlCol="0" anchor="t" wrap="square" lIns="164592" rIns="164592" tIns="131673" bIns="131673">
            <a:noAutofit/>
          </a:bodyPr>
          <a:lstStyle/>
          <a:p>
            <a:pPr algn="l">
              <a:spcBef>
                <a:spcPts val="0"/>
              </a:spcBef>
              <a:spcAft>
                <a:spcPts val="500"/>
              </a:spcAft>
            </a:pPr>
            <a:r>
              <a:rPr sz="1700" b="1" i="0">
                <a:solidFill>
                  <a:srgbClr val="184F95"/>
                </a:solidFill>
                <a:latin typeface="Calibri"/>
              </a:rPr>
              <a:t>E2E API: 22 / 0 / 1</a:t>
            </a:r>
          </a:p>
          <a:p>
            <a:pPr algn="l">
              <a:spcBef>
                <a:spcPts val="0"/>
              </a:spcBef>
              <a:spcAft>
                <a:spcPts val="600"/>
              </a:spcAft>
            </a:pPr>
            <a:r>
              <a:rPr sz="1400" b="0" i="0">
                <a:solidFill>
                  <a:srgbClr val="1B2430"/>
                </a:solidFill>
                <a:latin typeface="Calibri"/>
              </a:rPr>
              <a:t>PASS / FAIL / SKIP của hero flow H1–H10 trên dữ liệu thật; SKIP là bước UNet. Mức API, chưa phải video thiết bị.</a:t>
            </a:r>
          </a:p>
        </p:txBody>
      </p:sp>
      <p:sp>
        <p:nvSpPr>
          <p:cNvPr id="10" name="source"/>
          <p:cNvSpPr txBox="1"/>
          <p:nvPr/>
        </p:nvSpPr>
        <p:spPr>
          <a:xfrm>
            <a:off x="548640" y="6089904"/>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Nguồn: .github/workflows/guardrails.yml, backend/README.md, mobile/README.md, management/day39/E2E_EVIDENCE.md, management/day40/ACCEPTANCE_TRACE.md (số test ngày 18/10).</a:t>
            </a:r>
          </a:p>
        </p:txBody>
      </p:sp>
      <p:sp>
        <p:nvSpPr>
          <p:cNvPr id="11"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12"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Chất lượng: luật khai báo trước, QA độc lập, spec đóng băng</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CHẤT LƯỢNG VÀ KẾ HOẠCH</a:t>
            </a:r>
          </a:p>
        </p:txBody>
      </p:sp>
      <p:sp>
        <p:nvSpPr>
          <p:cNvPr id="4" name="card"/>
          <p:cNvSpPr/>
          <p:nvPr/>
        </p:nvSpPr>
        <p:spPr>
          <a:xfrm>
            <a:off x="548640" y="1645920"/>
            <a:ext cx="3545738" cy="2834640"/>
          </a:xfrm>
          <a:prstGeom prst="roundRect">
            <a:avLst>
              <a:gd name="adj" fmla="val 6000"/>
            </a:avLst>
          </a:prstGeom>
          <a:solidFill>
            <a:srgbClr val="FFFFFF"/>
          </a:solidFill>
          <a:ln w="12700">
            <a:solidFill>
              <a:srgbClr val="D9DEE6"/>
            </a:solidFill>
          </a:ln>
        </p:spPr>
        <p:txBody>
          <a:bodyPr rtlCol="0" anchor="t" wrap="square" lIns="182880" rIns="182880" tIns="146304" bIns="146304">
            <a:noAutofit/>
          </a:bodyPr>
          <a:lstStyle/>
          <a:p>
            <a:pPr algn="l">
              <a:spcBef>
                <a:spcPts val="0"/>
              </a:spcBef>
              <a:spcAft>
                <a:spcPts val="800"/>
              </a:spcAft>
            </a:pPr>
            <a:r>
              <a:rPr sz="1900" b="1" i="0">
                <a:solidFill>
                  <a:srgbClr val="184F95"/>
                </a:solidFill>
                <a:latin typeface="Calibri"/>
              </a:rPr>
              <a:t>Luật khai báo trước</a:t>
            </a:r>
          </a:p>
          <a:p>
            <a:pPr algn="l" marL="219456" indent="-219456">
              <a:spcBef>
                <a:spcPts val="0"/>
              </a:spcBef>
              <a:spcAft>
                <a:spcPts val="600"/>
              </a:spcAft>
              <a:buClr>
                <a:srgbClr val="2A78D6"/>
              </a:buClr>
              <a:buFont typeface="Arial"/>
              <a:buChar char="•"/>
            </a:pPr>
            <a:r>
              <a:rPr sz="1400" b="0" i="0">
                <a:solidFill>
                  <a:srgbClr val="1B2430"/>
                </a:solidFill>
                <a:latin typeface="Calibri"/>
              </a:rPr>
              <a:t>Luật chọn hậu xử lý merge (#91) trước mọi ứng viên</a:t>
            </a:r>
          </a:p>
          <a:p>
            <a:pPr algn="l" marL="219456" indent="-219456">
              <a:spcBef>
                <a:spcPts val="0"/>
              </a:spcBef>
              <a:spcAft>
                <a:spcPts val="600"/>
              </a:spcAft>
              <a:buClr>
                <a:srgbClr val="2A78D6"/>
              </a:buClr>
              <a:buFont typeface="Arial"/>
              <a:buChar char="•"/>
            </a:pPr>
            <a:r>
              <a:rPr sz="1400" b="0" i="0">
                <a:solidFill>
                  <a:srgbClr val="1B2430"/>
                </a:solidFill>
                <a:latin typeface="Calibri"/>
              </a:rPr>
              <a:t>Holdout mở bằng bản ghi cho phép (sha256), chấm đúng một lần</a:t>
            </a:r>
          </a:p>
          <a:p>
            <a:pPr algn="l" marL="219456" indent="-219456">
              <a:spcBef>
                <a:spcPts val="0"/>
              </a:spcBef>
              <a:spcAft>
                <a:spcPts val="600"/>
              </a:spcAft>
              <a:buClr>
                <a:srgbClr val="2A78D6"/>
              </a:buClr>
              <a:buFont typeface="Arial"/>
              <a:buChar char="•"/>
            </a:pPr>
            <a:r>
              <a:rPr sz="1400" b="0" i="0">
                <a:solidFill>
                  <a:srgbClr val="1B2430"/>
                </a:solidFill>
                <a:latin typeface="Calibri"/>
              </a:rPr>
              <a:t>5/5 cổng đã đóng (DATA, SPLIT, ML, MOB, IMG)</a:t>
            </a:r>
          </a:p>
        </p:txBody>
      </p:sp>
      <p:sp>
        <p:nvSpPr>
          <p:cNvPr id="5" name="card"/>
          <p:cNvSpPr/>
          <p:nvPr/>
        </p:nvSpPr>
        <p:spPr>
          <a:xfrm>
            <a:off x="4322978" y="1645920"/>
            <a:ext cx="3545738" cy="2834640"/>
          </a:xfrm>
          <a:prstGeom prst="roundRect">
            <a:avLst>
              <a:gd name="adj" fmla="val 6000"/>
            </a:avLst>
          </a:prstGeom>
          <a:solidFill>
            <a:srgbClr val="FFFFFF"/>
          </a:solidFill>
          <a:ln w="12700">
            <a:solidFill>
              <a:srgbClr val="D9DEE6"/>
            </a:solidFill>
          </a:ln>
        </p:spPr>
        <p:txBody>
          <a:bodyPr rtlCol="0" anchor="t" wrap="square" lIns="182880" rIns="182880" tIns="146304" bIns="146304">
            <a:noAutofit/>
          </a:bodyPr>
          <a:lstStyle/>
          <a:p>
            <a:pPr algn="l">
              <a:spcBef>
                <a:spcPts val="0"/>
              </a:spcBef>
              <a:spcAft>
                <a:spcPts val="800"/>
              </a:spcAft>
            </a:pPr>
            <a:r>
              <a:rPr sz="1900" b="1" i="0">
                <a:solidFill>
                  <a:srgbClr val="184F95"/>
                </a:solidFill>
                <a:latin typeface="Calibri"/>
              </a:rPr>
              <a:t>Duyệt và QA độc lập</a:t>
            </a:r>
          </a:p>
          <a:p>
            <a:pPr algn="l" marL="219456" indent="-219456">
              <a:spcBef>
                <a:spcPts val="0"/>
              </a:spcBef>
              <a:spcAft>
                <a:spcPts val="600"/>
              </a:spcAft>
              <a:buClr>
                <a:srgbClr val="2A78D6"/>
              </a:buClr>
              <a:buFont typeface="Arial"/>
              <a:buChar char="•"/>
            </a:pPr>
            <a:r>
              <a:rPr sz="1400" b="0" i="0">
                <a:solidFill>
                  <a:srgbClr val="1B2430"/>
                </a:solidFill>
                <a:latin typeface="Calibri"/>
              </a:rPr>
              <a:t>Quy trình thường (CP-07): mỗi PR cần một duyệt hợp lệ đúng SHA + CI xanh</a:t>
            </a:r>
          </a:p>
          <a:p>
            <a:pPr algn="l" marL="219456" indent="-219456">
              <a:spcBef>
                <a:spcPts val="0"/>
              </a:spcBef>
              <a:spcAft>
                <a:spcPts val="600"/>
              </a:spcAft>
              <a:buClr>
                <a:srgbClr val="2A78D6"/>
              </a:buClr>
              <a:buFont typeface="Arial"/>
              <a:buChar char="•"/>
            </a:pPr>
            <a:r>
              <a:rPr sz="1400" b="0" i="0">
                <a:solidFill>
                  <a:srgbClr val="1B2430"/>
                </a:solidFill>
                <a:latin typeface="Calibri"/>
              </a:rPr>
              <a:t>Ngày override: QA LLM độc lập thay duyệt người, ghi rõ là QA LLM, không phải reviewer người</a:t>
            </a:r>
          </a:p>
          <a:p>
            <a:pPr algn="l" marL="219456" indent="-219456">
              <a:spcBef>
                <a:spcPts val="0"/>
              </a:spcBef>
              <a:spcAft>
                <a:spcPts val="600"/>
              </a:spcAft>
              <a:buClr>
                <a:srgbClr val="2A78D6"/>
              </a:buClr>
              <a:buFont typeface="Arial"/>
              <a:buChar char="•"/>
            </a:pPr>
            <a:r>
              <a:rPr sz="1400" b="0" i="0">
                <a:solidFill>
                  <a:srgbClr val="1B2430"/>
                </a:solidFill>
                <a:latin typeface="Calibri"/>
              </a:rPr>
              <a:t>Biên bản QA lưu trong management/day39/qa</a:t>
            </a:r>
          </a:p>
        </p:txBody>
      </p:sp>
      <p:sp>
        <p:nvSpPr>
          <p:cNvPr id="6" name="card"/>
          <p:cNvSpPr/>
          <p:nvPr/>
        </p:nvSpPr>
        <p:spPr>
          <a:xfrm>
            <a:off x="8097316" y="1645920"/>
            <a:ext cx="3545738" cy="2834640"/>
          </a:xfrm>
          <a:prstGeom prst="roundRect">
            <a:avLst>
              <a:gd name="adj" fmla="val 6000"/>
            </a:avLst>
          </a:prstGeom>
          <a:solidFill>
            <a:srgbClr val="FFFFFF"/>
          </a:solidFill>
          <a:ln w="12700">
            <a:solidFill>
              <a:srgbClr val="D9DEE6"/>
            </a:solidFill>
          </a:ln>
        </p:spPr>
        <p:txBody>
          <a:bodyPr rtlCol="0" anchor="t" wrap="square" lIns="182880" rIns="182880" tIns="146304" bIns="146304">
            <a:noAutofit/>
          </a:bodyPr>
          <a:lstStyle/>
          <a:p>
            <a:pPr algn="l">
              <a:spcBef>
                <a:spcPts val="0"/>
              </a:spcBef>
              <a:spcAft>
                <a:spcPts val="800"/>
              </a:spcAft>
            </a:pPr>
            <a:r>
              <a:rPr sz="1900" b="1" i="0">
                <a:solidFill>
                  <a:srgbClr val="184F95"/>
                </a:solidFill>
                <a:latin typeface="Calibri"/>
              </a:rPr>
              <a:t>Spec đóng băng</a:t>
            </a:r>
          </a:p>
          <a:p>
            <a:pPr algn="l" marL="219456" indent="-219456">
              <a:spcBef>
                <a:spcPts val="0"/>
              </a:spcBef>
              <a:spcAft>
                <a:spcPts val="600"/>
              </a:spcAft>
              <a:buClr>
                <a:srgbClr val="2A78D6"/>
              </a:buClr>
              <a:buFont typeface="Arial"/>
              <a:buChar char="•"/>
            </a:pPr>
            <a:r>
              <a:rPr sz="1400" b="0" i="0">
                <a:solidFill>
                  <a:srgbClr val="1B2430"/>
                </a:solidFill>
                <a:latin typeface="Calibri"/>
              </a:rPr>
              <a:t>19 spec v1.0, checksum 19/19 trong CI</a:t>
            </a:r>
          </a:p>
          <a:p>
            <a:pPr algn="l" marL="219456" indent="-219456">
              <a:spcBef>
                <a:spcPts val="0"/>
              </a:spcBef>
              <a:spcAft>
                <a:spcPts val="600"/>
              </a:spcAft>
              <a:buClr>
                <a:srgbClr val="2A78D6"/>
              </a:buClr>
              <a:buFont typeface="Arial"/>
              <a:buChar char="•"/>
            </a:pPr>
            <a:r>
              <a:rPr sz="1400" b="0" i="0">
                <a:solidFill>
                  <a:srgbClr val="1B2430"/>
                </a:solidFill>
                <a:latin typeface="Calibri"/>
              </a:rPr>
              <a:t>Không PR nào được sửa docs/specs/v1.0</a:t>
            </a:r>
          </a:p>
          <a:p>
            <a:pPr algn="l" marL="219456" indent="-219456">
              <a:spcBef>
                <a:spcPts val="0"/>
              </a:spcBef>
              <a:spcAft>
                <a:spcPts val="600"/>
              </a:spcAft>
              <a:buClr>
                <a:srgbClr val="2A78D6"/>
              </a:buClr>
              <a:buFont typeface="Arial"/>
              <a:buChar char="•"/>
            </a:pPr>
            <a:r>
              <a:rPr sz="1400" b="0" i="0">
                <a:solidFill>
                  <a:srgbClr val="1B2430"/>
                </a:solidFill>
                <a:latin typeface="Calibri"/>
              </a:rPr>
              <a:t>Đổi spec chỉ qua Decision Request</a:t>
            </a:r>
          </a:p>
        </p:txBody>
      </p:sp>
      <p:sp>
        <p:nvSpPr>
          <p:cNvPr id="7" name="card:honest"/>
          <p:cNvSpPr/>
          <p:nvPr/>
        </p:nvSpPr>
        <p:spPr>
          <a:xfrm>
            <a:off x="548640" y="4754880"/>
            <a:ext cx="11094415" cy="1051560"/>
          </a:xfrm>
          <a:prstGeom prst="roundRect">
            <a:avLst>
              <a:gd name="adj" fmla="val 6000"/>
            </a:avLst>
          </a:prstGeom>
          <a:solidFill>
            <a:srgbClr val="E8F0FB"/>
          </a:solidFill>
          <a:ln>
            <a:noFill/>
          </a:ln>
        </p:spPr>
        <p:txBody>
          <a:bodyPr rtlCol="0" anchor="ctr" wrap="square" lIns="228600" rIns="228600" tIns="182880" bIns="182880">
            <a:noAutofit/>
          </a:bodyPr>
          <a:lstStyle/>
          <a:p>
            <a:pPr algn="l">
              <a:spcBef>
                <a:spcPts val="0"/>
              </a:spcBef>
              <a:spcAft>
                <a:spcPts val="600"/>
              </a:spcAft>
            </a:pPr>
            <a:r>
              <a:rPr sz="1500" b="1" i="0">
                <a:solidFill>
                  <a:srgbClr val="1B2430"/>
                </a:solidFill>
                <a:latin typeface="Calibri"/>
              </a:rPr>
              <a:t>Trạng thái trung thực:</a:t>
            </a:r>
            <a:r>
              <a:rPr sz="1500" b="0" i="0">
                <a:solidFill>
                  <a:srgbClr val="1B2430"/>
                </a:solidFill>
                <a:latin typeface="Calibri"/>
              </a:rPr>
              <a:t> 0 trên 33 yêu cầu MUST đã ACCEPTED chính thức; chưa có TC nào được ghi PASS trên thiết bị cho màn hình sản phẩm. Chỉ bằng chứng đã commit mới được tính.</a:t>
            </a:r>
          </a:p>
        </p:txBody>
      </p:sp>
      <p:sp>
        <p:nvSpPr>
          <p:cNvPr id="8" name="source"/>
          <p:cNvSpPr txBox="1"/>
          <p:nvPr/>
        </p:nvSpPr>
        <p:spPr>
          <a:xfrm>
            <a:off x="548640" y="6053328"/>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Nguồn: management/day39/GATE_IMG_01_DECISION.md, management/day40/ACCEPTANCE_TRACE.md, .github/workflows/guardrails.yml.</a:t>
            </a:r>
          </a:p>
        </p:txBody>
      </p:sp>
      <p:sp>
        <p:nvSpPr>
          <p:cNvPr id="9"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10"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Giới hạn đã biết, nói thẳng</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CHẤT LƯỢNG VÀ KẾ HOẠCH</a:t>
            </a:r>
          </a:p>
        </p:txBody>
      </p:sp>
      <p:sp>
        <p:nvSpPr>
          <p:cNvPr id="4" name="bullets"/>
          <p:cNvSpPr txBox="1"/>
          <p:nvPr/>
        </p:nvSpPr>
        <p:spPr>
          <a:xfrm>
            <a:off x="548640" y="1645920"/>
            <a:ext cx="4846320" cy="4389120"/>
          </a:xfrm>
          <a:prstGeom prst="rect">
            <a:avLst/>
          </a:prstGeom>
          <a:noFill/>
        </p:spPr>
        <p:txBody>
          <a:bodyPr wrap="square" lIns="0" rIns="0" tIns="0" bIns="0" anchor="t">
            <a:noAutofit/>
          </a:bodyPr>
          <a:lstStyle/>
          <a:p>
            <a:pPr algn="l" marL="219456" indent="-219456">
              <a:spcBef>
                <a:spcPts val="0"/>
              </a:spcBef>
              <a:spcAft>
                <a:spcPts val="900"/>
              </a:spcAft>
              <a:buClr>
                <a:srgbClr val="2A78D6"/>
              </a:buClr>
              <a:buFont typeface="Arial"/>
              <a:buChar char="•"/>
            </a:pPr>
            <a:r>
              <a:rPr sz="1450" b="0" i="0">
                <a:solidFill>
                  <a:srgbClr val="1B2430"/>
                </a:solidFill>
                <a:latin typeface="Calibri"/>
              </a:rPr>
              <a:t>Không augmentation, lr hằng số: Dice validation tụt mạnh rồi hồi phục (hình).</a:t>
            </a:r>
          </a:p>
          <a:p>
            <a:pPr algn="l" marL="219456" indent="-219456">
              <a:spcBef>
                <a:spcPts val="0"/>
              </a:spcBef>
              <a:spcAft>
                <a:spcPts val="900"/>
              </a:spcAft>
              <a:buClr>
                <a:srgbClr val="2A78D6"/>
              </a:buClr>
              <a:buFont typeface="Arial"/>
              <a:buChar char="•"/>
            </a:pPr>
            <a:r>
              <a:rPr sz="1450" b="0" i="0">
                <a:solidFill>
                  <a:srgbClr val="1B2430"/>
                </a:solidFill>
                <a:latin typeface="Calibri"/>
              </a:rPr>
              <a:t>Một seed cho mỗi mức dữ liệu; huấn luyện 2D theo lát.</a:t>
            </a:r>
          </a:p>
          <a:p>
            <a:pPr algn="l" marL="219456" indent="-219456">
              <a:spcBef>
                <a:spcPts val="0"/>
              </a:spcBef>
              <a:spcAft>
                <a:spcPts val="900"/>
              </a:spcAft>
              <a:buClr>
                <a:srgbClr val="2A78D6"/>
              </a:buClr>
              <a:buFont typeface="Arial"/>
              <a:buChar char="•"/>
            </a:pPr>
            <a:r>
              <a:rPr sz="1450" b="0" i="0">
                <a:solidFill>
                  <a:srgbClr val="1B2430"/>
                </a:solidFill>
                <a:latin typeface="Calibri"/>
              </a:rPr>
              <a:t>Spacing là placeholder đơn vị: sai lệch thể tích theo voxel, chưa có mm hay mL.</a:t>
            </a:r>
          </a:p>
          <a:p>
            <a:pPr algn="l" marL="219456" indent="-219456">
              <a:spcBef>
                <a:spcPts val="0"/>
              </a:spcBef>
              <a:spcAft>
                <a:spcPts val="900"/>
              </a:spcAft>
              <a:buClr>
                <a:srgbClr val="2A78D6"/>
              </a:buClr>
              <a:buFont typeface="Arial"/>
              <a:buChar char="•"/>
            </a:pPr>
            <a:r>
              <a:rPr sz="1450" b="0" i="0">
                <a:solidFill>
                  <a:srgbClr val="1B2430"/>
                </a:solidFill>
                <a:latin typeface="Calibri"/>
              </a:rPr>
              <a:t>UNet chưa có: RQ-A chưa trả lời được.</a:t>
            </a:r>
          </a:p>
          <a:p>
            <a:pPr algn="l" marL="219456" indent="-219456">
              <a:spcBef>
                <a:spcPts val="0"/>
              </a:spcBef>
              <a:spcAft>
                <a:spcPts val="900"/>
              </a:spcAft>
              <a:buClr>
                <a:srgbClr val="2A78D6"/>
              </a:buClr>
              <a:buFont typeface="Arial"/>
              <a:buChar char="•"/>
            </a:pPr>
            <a:r>
              <a:rPr sz="1450" b="0" i="0">
                <a:solidFill>
                  <a:srgbClr val="1B2430"/>
                </a:solidFill>
                <a:latin typeface="Calibri"/>
              </a:rPr>
              <a:t>Dice tuyệt đối khiêm tốn (0,56–0,66); kết quả khiêm tốn vẫn hợp lệ (PR-SCI-03).</a:t>
            </a:r>
          </a:p>
          <a:p>
            <a:pPr algn="l" marL="219456" indent="-219456">
              <a:spcBef>
                <a:spcPts val="0"/>
              </a:spcBef>
              <a:spcAft>
                <a:spcPts val="900"/>
              </a:spcAft>
              <a:buClr>
                <a:srgbClr val="2A78D6"/>
              </a:buClr>
              <a:buFont typeface="Arial"/>
              <a:buChar char="•"/>
            </a:pPr>
            <a:r>
              <a:rPr sz="1450" b="0" i="0">
                <a:solidFill>
                  <a:srgbClr val="1B2430"/>
                </a:solidFill>
                <a:latin typeface="Calibri"/>
              </a:rPr>
              <a:t>Bằng chứng thiết bị mới có L4 và S-1; chưa có TC chính thức trên A17.</a:t>
            </a:r>
          </a:p>
        </p:txBody>
      </p:sp>
      <p:pic>
        <p:nvPicPr>
          <p:cNvPr id="5" name="figure" descr="Dice 3D validation theo epoch của các run huấn luyện, chấm tròn là epoch được chọn"/>
          <p:cNvPicPr>
            <a:picLocks noChangeAspect="1"/>
          </p:cNvPicPr>
          <p:nvPr/>
        </p:nvPicPr>
        <p:blipFill>
          <a:blip r:embed="rId3"/>
          <a:stretch>
            <a:fillRect/>
          </a:stretch>
        </p:blipFill>
        <p:spPr>
          <a:xfrm>
            <a:off x="5623559" y="1600200"/>
            <a:ext cx="6019495" cy="3385966"/>
          </a:xfrm>
          <a:prstGeom prst="rect">
            <a:avLst/>
          </a:prstGeom>
        </p:spPr>
      </p:pic>
      <p:sp>
        <p:nvSpPr>
          <p:cNvPr id="6" name="source"/>
          <p:cNvSpPr txBox="1"/>
          <p:nvPr/>
        </p:nvSpPr>
        <p:spPr>
          <a:xfrm>
            <a:off x="548640" y="6053328"/>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Chấm tròn = epoch được chọn làm checkpoint. Nguồn: results_aggregate.json (training), management/day39/RESULTS_HOLDOUT_DINOV2.md §4.</a:t>
            </a:r>
          </a:p>
        </p:txBody>
      </p:sp>
      <p:sp>
        <p:nvSpPr>
          <p:cNvPr id="7"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8"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Từ nay đến 31/10: bốn chặng, đường găng đi qua UNet</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CHẤT LƯỢNG VÀ KẾ HOẠCH</a:t>
            </a:r>
          </a:p>
        </p:txBody>
      </p:sp>
      <p:sp>
        <p:nvSpPr>
          <p:cNvPr id="4" name="card:phase"/>
          <p:cNvSpPr/>
          <p:nvPr/>
        </p:nvSpPr>
        <p:spPr>
          <a:xfrm>
            <a:off x="548640" y="1645920"/>
            <a:ext cx="2636443" cy="868680"/>
          </a:xfrm>
          <a:prstGeom prst="roundRect">
            <a:avLst>
              <a:gd name="adj" fmla="val 5000"/>
            </a:avLst>
          </a:prstGeom>
          <a:solidFill>
            <a:srgbClr val="184F95"/>
          </a:solidFill>
          <a:ln>
            <a:noFill/>
          </a:ln>
        </p:spPr>
        <p:txBody>
          <a:bodyPr rtlCol="0" anchor="ctr" wrap="square" lIns="146304" rIns="146304" tIns="117043" bIns="117043">
            <a:noAutofit/>
          </a:bodyPr>
          <a:lstStyle/>
          <a:p>
            <a:pPr algn="l">
              <a:spcBef>
                <a:spcPts val="0"/>
              </a:spcBef>
              <a:spcAft>
                <a:spcPts val="100"/>
              </a:spcAft>
            </a:pPr>
            <a:r>
              <a:rPr sz="1800" b="1" i="0">
                <a:solidFill>
                  <a:srgbClr val="FFFFFF"/>
                </a:solidFill>
                <a:latin typeface="Calibri"/>
              </a:rPr>
              <a:t>C1 · 19–20/10</a:t>
            </a:r>
          </a:p>
          <a:p>
            <a:pPr algn="l">
              <a:spcBef>
                <a:spcPts val="0"/>
              </a:spcBef>
              <a:spcAft>
                <a:spcPts val="0"/>
              </a:spcAft>
            </a:pPr>
            <a:r>
              <a:rPr sz="1300" b="0" i="0">
                <a:solidFill>
                  <a:srgbClr val="E8F0FB"/>
                </a:solidFill>
                <a:latin typeface="Calibri"/>
              </a:rPr>
              <a:t>Nhận lại, khởi động</a:t>
            </a:r>
          </a:p>
        </p:txBody>
      </p:sp>
      <p:sp>
        <p:nvSpPr>
          <p:cNvPr id="5" name="card"/>
          <p:cNvSpPr/>
          <p:nvPr/>
        </p:nvSpPr>
        <p:spPr>
          <a:xfrm>
            <a:off x="548640" y="2651760"/>
            <a:ext cx="2636443" cy="1417320"/>
          </a:xfrm>
          <a:prstGeom prst="roundRect">
            <a:avLst>
              <a:gd name="adj" fmla="val 6000"/>
            </a:avLst>
          </a:prstGeom>
          <a:solidFill>
            <a:srgbClr val="FFFFFF"/>
          </a:solidFill>
          <a:ln w="12700">
            <a:solidFill>
              <a:srgbClr val="D9DEE6"/>
            </a:solidFill>
          </a:ln>
        </p:spPr>
        <p:txBody>
          <a:bodyPr rtlCol="0" anchor="t" wrap="square" lIns="164592" rIns="164592" tIns="131673" bIns="131673">
            <a:noAutofit/>
          </a:bodyPr>
          <a:lstStyle/>
          <a:p>
            <a:pPr algn="l" marL="219456" indent="-219456">
              <a:spcBef>
                <a:spcPts val="0"/>
              </a:spcBef>
              <a:spcAft>
                <a:spcPts val="600"/>
              </a:spcAft>
              <a:buClr>
                <a:srgbClr val="2A78D6"/>
              </a:buClr>
              <a:buFont typeface="Arial"/>
              <a:buChar char="•"/>
            </a:pPr>
            <a:r>
              <a:rPr sz="1500" b="0" i="0">
                <a:solidFill>
                  <a:srgbClr val="1B2430"/>
                </a:solidFill>
                <a:latin typeface="Calibri"/>
              </a:rPr>
              <a:t>Hàng đợi UNet chạy</a:t>
            </a:r>
          </a:p>
          <a:p>
            <a:pPr algn="l" marL="219456" indent="-219456">
              <a:spcBef>
                <a:spcPts val="0"/>
              </a:spcBef>
              <a:spcAft>
                <a:spcPts val="600"/>
              </a:spcAft>
              <a:buClr>
                <a:srgbClr val="2A78D6"/>
              </a:buClr>
              <a:buFont typeface="Arial"/>
              <a:buChar char="•"/>
            </a:pPr>
            <a:r>
              <a:rPr sz="1500" b="0" i="0">
                <a:solidFill>
                  <a:srgbClr val="1B2430"/>
                </a:solidFill>
                <a:latin typeface="Calibri"/>
              </a:rPr>
              <a:t>Backend thật lên Mac mini</a:t>
            </a:r>
          </a:p>
        </p:txBody>
      </p:sp>
      <p:sp>
        <p:nvSpPr>
          <p:cNvPr id="6" name="card:phase"/>
          <p:cNvSpPr/>
          <p:nvPr/>
        </p:nvSpPr>
        <p:spPr>
          <a:xfrm>
            <a:off x="3367963" y="1645920"/>
            <a:ext cx="2636443" cy="868680"/>
          </a:xfrm>
          <a:prstGeom prst="roundRect">
            <a:avLst>
              <a:gd name="adj" fmla="val 5000"/>
            </a:avLst>
          </a:prstGeom>
          <a:solidFill>
            <a:srgbClr val="184F95"/>
          </a:solidFill>
          <a:ln>
            <a:noFill/>
          </a:ln>
        </p:spPr>
        <p:txBody>
          <a:bodyPr rtlCol="0" anchor="ctr" wrap="square" lIns="146304" rIns="146304" tIns="117043" bIns="117043">
            <a:noAutofit/>
          </a:bodyPr>
          <a:lstStyle/>
          <a:p>
            <a:pPr algn="l">
              <a:spcBef>
                <a:spcPts val="0"/>
              </a:spcBef>
              <a:spcAft>
                <a:spcPts val="100"/>
              </a:spcAft>
            </a:pPr>
            <a:r>
              <a:rPr sz="1800" b="1" i="0">
                <a:solidFill>
                  <a:srgbClr val="FFFFFF"/>
                </a:solidFill>
                <a:latin typeface="Calibri"/>
              </a:rPr>
              <a:t>C2 · 21–24/10</a:t>
            </a:r>
          </a:p>
          <a:p>
            <a:pPr algn="l">
              <a:spcBef>
                <a:spcPts val="0"/>
              </a:spcBef>
              <a:spcAft>
                <a:spcPts val="0"/>
              </a:spcAft>
            </a:pPr>
            <a:r>
              <a:rPr sz="1300" b="0" i="0">
                <a:solidFill>
                  <a:srgbClr val="E8F0FB"/>
                </a:solidFill>
                <a:latin typeface="Calibri"/>
              </a:rPr>
              <a:t>Hoàn thiện vertical + UNet</a:t>
            </a:r>
          </a:p>
        </p:txBody>
      </p:sp>
      <p:sp>
        <p:nvSpPr>
          <p:cNvPr id="7" name="card"/>
          <p:cNvSpPr/>
          <p:nvPr/>
        </p:nvSpPr>
        <p:spPr>
          <a:xfrm>
            <a:off x="3367963" y="2651760"/>
            <a:ext cx="2636443" cy="1417320"/>
          </a:xfrm>
          <a:prstGeom prst="roundRect">
            <a:avLst>
              <a:gd name="adj" fmla="val 6000"/>
            </a:avLst>
          </a:prstGeom>
          <a:solidFill>
            <a:srgbClr val="FFFFFF"/>
          </a:solidFill>
          <a:ln w="12700">
            <a:solidFill>
              <a:srgbClr val="D9DEE6"/>
            </a:solidFill>
          </a:ln>
        </p:spPr>
        <p:txBody>
          <a:bodyPr rtlCol="0" anchor="t" wrap="square" lIns="164592" rIns="164592" tIns="131673" bIns="131673">
            <a:noAutofit/>
          </a:bodyPr>
          <a:lstStyle/>
          <a:p>
            <a:pPr algn="l" marL="219456" indent="-219456">
              <a:spcBef>
                <a:spcPts val="0"/>
              </a:spcBef>
              <a:spcAft>
                <a:spcPts val="600"/>
              </a:spcAft>
              <a:buClr>
                <a:srgbClr val="2A78D6"/>
              </a:buClr>
              <a:buFont typeface="Arial"/>
              <a:buChar char="•"/>
            </a:pPr>
            <a:r>
              <a:rPr sz="1500" b="0" i="0">
                <a:solidFill>
                  <a:srgbClr val="1B2430"/>
                </a:solidFill>
                <a:latin typeface="Calibri"/>
              </a:rPr>
              <a:t>SCR-05, 06, 08 trên app</a:t>
            </a:r>
          </a:p>
          <a:p>
            <a:pPr algn="l" marL="219456" indent="-219456">
              <a:spcBef>
                <a:spcPts val="0"/>
              </a:spcBef>
              <a:spcAft>
                <a:spcPts val="600"/>
              </a:spcAft>
              <a:buClr>
                <a:srgbClr val="2A78D6"/>
              </a:buClr>
              <a:buFont typeface="Arial"/>
              <a:buChar char="•"/>
            </a:pPr>
            <a:r>
              <a:rPr sz="1500" b="0" i="0">
                <a:solidFill>
                  <a:srgbClr val="1B2430"/>
                </a:solidFill>
                <a:latin typeface="Calibri"/>
              </a:rPr>
              <a:t>Đánh giá holdout UNet: RQ-A</a:t>
            </a:r>
          </a:p>
        </p:txBody>
      </p:sp>
      <p:sp>
        <p:nvSpPr>
          <p:cNvPr id="8" name="card:phase"/>
          <p:cNvSpPr/>
          <p:nvPr/>
        </p:nvSpPr>
        <p:spPr>
          <a:xfrm>
            <a:off x="6187287" y="1645920"/>
            <a:ext cx="2636443" cy="868680"/>
          </a:xfrm>
          <a:prstGeom prst="roundRect">
            <a:avLst>
              <a:gd name="adj" fmla="val 5000"/>
            </a:avLst>
          </a:prstGeom>
          <a:solidFill>
            <a:srgbClr val="184F95"/>
          </a:solidFill>
          <a:ln>
            <a:noFill/>
          </a:ln>
        </p:spPr>
        <p:txBody>
          <a:bodyPr rtlCol="0" anchor="ctr" wrap="square" lIns="146304" rIns="146304" tIns="117043" bIns="117043">
            <a:noAutofit/>
          </a:bodyPr>
          <a:lstStyle/>
          <a:p>
            <a:pPr algn="l">
              <a:spcBef>
                <a:spcPts val="0"/>
              </a:spcBef>
              <a:spcAft>
                <a:spcPts val="100"/>
              </a:spcAft>
            </a:pPr>
            <a:r>
              <a:rPr sz="1800" b="1" i="0">
                <a:solidFill>
                  <a:srgbClr val="FFFFFF"/>
                </a:solidFill>
                <a:latin typeface="Calibri"/>
              </a:rPr>
              <a:t>C3 · 25–27/10</a:t>
            </a:r>
          </a:p>
          <a:p>
            <a:pPr algn="l">
              <a:spcBef>
                <a:spcPts val="0"/>
              </a:spcBef>
              <a:spcAft>
                <a:spcPts val="0"/>
              </a:spcAft>
            </a:pPr>
            <a:r>
              <a:rPr sz="1300" b="0" i="0">
                <a:solidFill>
                  <a:srgbClr val="E8F0FB"/>
                </a:solidFill>
                <a:latin typeface="Calibri"/>
              </a:rPr>
              <a:t>Hội tụ, nghiệm thu nội bộ</a:t>
            </a:r>
          </a:p>
        </p:txBody>
      </p:sp>
      <p:sp>
        <p:nvSpPr>
          <p:cNvPr id="9" name="card"/>
          <p:cNvSpPr/>
          <p:nvPr/>
        </p:nvSpPr>
        <p:spPr>
          <a:xfrm>
            <a:off x="6187287" y="2651760"/>
            <a:ext cx="2636443" cy="1417320"/>
          </a:xfrm>
          <a:prstGeom prst="roundRect">
            <a:avLst>
              <a:gd name="adj" fmla="val 6000"/>
            </a:avLst>
          </a:prstGeom>
          <a:solidFill>
            <a:srgbClr val="FFFFFF"/>
          </a:solidFill>
          <a:ln w="12700">
            <a:solidFill>
              <a:srgbClr val="D9DEE6"/>
            </a:solidFill>
          </a:ln>
        </p:spPr>
        <p:txBody>
          <a:bodyPr rtlCol="0" anchor="t" wrap="square" lIns="164592" rIns="164592" tIns="131673" bIns="131673">
            <a:noAutofit/>
          </a:bodyPr>
          <a:lstStyle/>
          <a:p>
            <a:pPr algn="l" marL="219456" indent="-219456">
              <a:spcBef>
                <a:spcPts val="0"/>
              </a:spcBef>
              <a:spcAft>
                <a:spcPts val="600"/>
              </a:spcAft>
              <a:buClr>
                <a:srgbClr val="2A78D6"/>
              </a:buClr>
              <a:buFont typeface="Arial"/>
              <a:buChar char="•"/>
            </a:pPr>
            <a:r>
              <a:rPr sz="1500" b="0" i="0">
                <a:solidFill>
                  <a:srgbClr val="1B2430"/>
                </a:solidFill>
                <a:latin typeface="Calibri"/>
              </a:rPr>
              <a:t>TC-E2E-001 trên A17</a:t>
            </a:r>
          </a:p>
          <a:p>
            <a:pPr algn="l" marL="219456" indent="-219456">
              <a:spcBef>
                <a:spcPts val="0"/>
              </a:spcBef>
              <a:spcAft>
                <a:spcPts val="600"/>
              </a:spcAft>
              <a:buClr>
                <a:srgbClr val="2A78D6"/>
              </a:buClr>
              <a:buFont typeface="Arial"/>
              <a:buChar char="•"/>
            </a:pPr>
            <a:r>
              <a:rPr sz="1500" b="0" i="0">
                <a:solidFill>
                  <a:srgbClr val="1B2430"/>
                </a:solidFill>
                <a:latin typeface="Calibri"/>
              </a:rPr>
              <a:t>Rà 33 MUST, 0 lỗi P0/P1</a:t>
            </a:r>
          </a:p>
        </p:txBody>
      </p:sp>
      <p:sp>
        <p:nvSpPr>
          <p:cNvPr id="10" name="card:phase"/>
          <p:cNvSpPr/>
          <p:nvPr/>
        </p:nvSpPr>
        <p:spPr>
          <a:xfrm>
            <a:off x="9006611" y="1645920"/>
            <a:ext cx="2636443" cy="868680"/>
          </a:xfrm>
          <a:prstGeom prst="roundRect">
            <a:avLst>
              <a:gd name="adj" fmla="val 5000"/>
            </a:avLst>
          </a:prstGeom>
          <a:solidFill>
            <a:srgbClr val="184F95"/>
          </a:solidFill>
          <a:ln>
            <a:noFill/>
          </a:ln>
        </p:spPr>
        <p:txBody>
          <a:bodyPr rtlCol="0" anchor="ctr" wrap="square" lIns="146304" rIns="146304" tIns="117043" bIns="117043">
            <a:noAutofit/>
          </a:bodyPr>
          <a:lstStyle/>
          <a:p>
            <a:pPr algn="l">
              <a:spcBef>
                <a:spcPts val="0"/>
              </a:spcBef>
              <a:spcAft>
                <a:spcPts val="100"/>
              </a:spcAft>
            </a:pPr>
            <a:r>
              <a:rPr sz="1800" b="1" i="0">
                <a:solidFill>
                  <a:srgbClr val="FFFFFF"/>
                </a:solidFill>
                <a:latin typeface="Calibri"/>
              </a:rPr>
              <a:t>C4 · 28–30/10</a:t>
            </a:r>
          </a:p>
          <a:p>
            <a:pPr algn="l">
              <a:spcBef>
                <a:spcPts val="0"/>
              </a:spcBef>
              <a:spcAft>
                <a:spcPts val="0"/>
              </a:spcAft>
            </a:pPr>
            <a:r>
              <a:rPr sz="1300" b="0" i="0">
                <a:solidFill>
                  <a:srgbClr val="E8F0FB"/>
                </a:solidFill>
                <a:latin typeface="Calibri"/>
              </a:rPr>
              <a:t>Báo cáo, slide, tổng duyệt</a:t>
            </a:r>
          </a:p>
        </p:txBody>
      </p:sp>
      <p:sp>
        <p:nvSpPr>
          <p:cNvPr id="11" name="card"/>
          <p:cNvSpPr/>
          <p:nvPr/>
        </p:nvSpPr>
        <p:spPr>
          <a:xfrm>
            <a:off x="9006611" y="2651760"/>
            <a:ext cx="2636443" cy="1417320"/>
          </a:xfrm>
          <a:prstGeom prst="roundRect">
            <a:avLst>
              <a:gd name="adj" fmla="val 6000"/>
            </a:avLst>
          </a:prstGeom>
          <a:solidFill>
            <a:srgbClr val="FFFFFF"/>
          </a:solidFill>
          <a:ln w="12700">
            <a:solidFill>
              <a:srgbClr val="D9DEE6"/>
            </a:solidFill>
          </a:ln>
        </p:spPr>
        <p:txBody>
          <a:bodyPr rtlCol="0" anchor="t" wrap="square" lIns="164592" rIns="164592" tIns="131673" bIns="131673">
            <a:noAutofit/>
          </a:bodyPr>
          <a:lstStyle/>
          <a:p>
            <a:pPr algn="l" marL="219456" indent="-219456">
              <a:spcBef>
                <a:spcPts val="0"/>
              </a:spcBef>
              <a:spcAft>
                <a:spcPts val="600"/>
              </a:spcAft>
              <a:buClr>
                <a:srgbClr val="2A78D6"/>
              </a:buClr>
              <a:buFont typeface="Arial"/>
              <a:buChar char="•"/>
            </a:pPr>
            <a:r>
              <a:rPr sz="1500" b="0" i="0">
                <a:solidFill>
                  <a:srgbClr val="1B2430"/>
                </a:solidFill>
                <a:latin typeface="Calibri"/>
              </a:rPr>
              <a:t>Slide theo từng môn</a:t>
            </a:r>
          </a:p>
          <a:p>
            <a:pPr algn="l" marL="219456" indent="-219456">
              <a:spcBef>
                <a:spcPts val="0"/>
              </a:spcBef>
              <a:spcAft>
                <a:spcPts val="600"/>
              </a:spcAft>
              <a:buClr>
                <a:srgbClr val="2A78D6"/>
              </a:buClr>
              <a:buFont typeface="Arial"/>
              <a:buChar char="•"/>
            </a:pPr>
            <a:r>
              <a:rPr sz="1500" b="0" i="0">
                <a:solidFill>
                  <a:srgbClr val="1B2430"/>
                </a:solidFill>
                <a:latin typeface="Calibri"/>
              </a:rPr>
              <a:t>2 lần tổng duyệt có bấm giờ</a:t>
            </a:r>
          </a:p>
        </p:txBody>
      </p:sp>
      <p:sp>
        <p:nvSpPr>
          <p:cNvPr id="12" name="card:critical"/>
          <p:cNvSpPr/>
          <p:nvPr/>
        </p:nvSpPr>
        <p:spPr>
          <a:xfrm>
            <a:off x="548640" y="4343400"/>
            <a:ext cx="11094415" cy="1097280"/>
          </a:xfrm>
          <a:prstGeom prst="roundRect">
            <a:avLst>
              <a:gd name="adj" fmla="val 6000"/>
            </a:avLst>
          </a:prstGeom>
          <a:solidFill>
            <a:srgbClr val="E8F0FB"/>
          </a:solidFill>
          <a:ln>
            <a:noFill/>
          </a:ln>
        </p:spPr>
        <p:txBody>
          <a:bodyPr rtlCol="0" anchor="ctr" wrap="square" lIns="228600" rIns="228600" tIns="182880" bIns="182880">
            <a:noAutofit/>
          </a:bodyPr>
          <a:lstStyle/>
          <a:p>
            <a:pPr algn="l">
              <a:spcBef>
                <a:spcPts val="0"/>
              </a:spcBef>
              <a:spcAft>
                <a:spcPts val="500"/>
              </a:spcAft>
            </a:pPr>
            <a:r>
              <a:rPr sz="1600" b="1" i="0">
                <a:solidFill>
                  <a:srgbClr val="1B2430"/>
                </a:solidFill>
                <a:latin typeface="Calibri"/>
              </a:rPr>
              <a:t>Đường găng:</a:t>
            </a:r>
            <a:r>
              <a:rPr sz="1600" b="0" i="0">
                <a:solidFill>
                  <a:srgbClr val="1B2430"/>
                </a:solidFill>
                <a:latin typeface="Calibri"/>
              </a:rPr>
              <a:t> UNet trên RTX 4050 (Khánh) → đánh giá holdout UNet → H10 đủ → TC-E2E-001 → báo cáo</a:t>
            </a:r>
          </a:p>
          <a:p>
            <a:pPr algn="l">
              <a:spcBef>
                <a:spcPts val="0"/>
              </a:spcBef>
              <a:spcAft>
                <a:spcPts val="0"/>
              </a:spcAft>
            </a:pPr>
            <a:r>
              <a:rPr sz="1600" b="1" i="0">
                <a:solidFill>
                  <a:srgbClr val="184F95"/>
                </a:solidFill>
                <a:latin typeface="Calibri"/>
              </a:rPr>
              <a:t>31/10/2026</a:t>
            </a:r>
            <a:r>
              <a:rPr sz="1600" b="0" i="0">
                <a:solidFill>
                  <a:srgbClr val="184F95"/>
                </a:solidFill>
                <a:latin typeface="Calibri"/>
              </a:rPr>
              <a:t>: nghiệm thu và bảo vệ bốn môn.</a:t>
            </a:r>
          </a:p>
        </p:txBody>
      </p:sp>
      <p:sp>
        <p:nvSpPr>
          <p:cNvPr id="13" name="source"/>
          <p:cNvSpPr txBox="1"/>
          <p:nvPr/>
        </p:nvSpPr>
        <p:spPr>
          <a:xfrm>
            <a:off x="548640" y="6053328"/>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Nguồn: management/day40/REPLAN_TO_2026-10-31.md.</a:t>
            </a:r>
          </a:p>
        </p:txBody>
      </p:sp>
      <p:sp>
        <p:nvSpPr>
          <p:cNvPr id="14"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15"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Chuẩn bị Q&amp;A (1/2): Học máy và Xử lý ảnh</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CHUẨN BỊ Q&amp;A</a:t>
            </a:r>
          </a:p>
        </p:txBody>
      </p:sp>
      <p:sp>
        <p:nvSpPr>
          <p:cNvPr id="4" name="card"/>
          <p:cNvSpPr/>
          <p:nvPr/>
        </p:nvSpPr>
        <p:spPr>
          <a:xfrm>
            <a:off x="548640" y="1600200"/>
            <a:ext cx="5410047" cy="4389120"/>
          </a:xfrm>
          <a:prstGeom prst="roundRect">
            <a:avLst>
              <a:gd name="adj" fmla="val 6000"/>
            </a:avLst>
          </a:prstGeom>
          <a:solidFill>
            <a:srgbClr val="FFFFFF"/>
          </a:solidFill>
          <a:ln w="12700">
            <a:solidFill>
              <a:srgbClr val="D9DEE6"/>
            </a:solidFill>
          </a:ln>
        </p:spPr>
        <p:txBody>
          <a:bodyPr rtlCol="0" anchor="t" wrap="square" lIns="201168" rIns="201168" tIns="160934" bIns="160934">
            <a:noAutofit/>
          </a:bodyPr>
          <a:lstStyle/>
          <a:p>
            <a:pPr algn="l">
              <a:spcBef>
                <a:spcPts val="0"/>
              </a:spcBef>
              <a:spcAft>
                <a:spcPts val="800"/>
              </a:spcAft>
            </a:pPr>
            <a:r>
              <a:rPr sz="1800" b="1" i="0">
                <a:solidFill>
                  <a:srgbClr val="184F95"/>
                </a:solidFill>
                <a:latin typeface="Calibri"/>
              </a:rPr>
              <a:t>Học máy</a:t>
            </a:r>
          </a:p>
          <a:p>
            <a:pPr algn="l">
              <a:spcBef>
                <a:spcPts val="0"/>
              </a:spcBef>
              <a:spcAft>
                <a:spcPts val="300"/>
              </a:spcAft>
            </a:pPr>
            <a:r>
              <a:rPr sz="1550" b="1" i="0">
                <a:solidFill>
                  <a:srgbClr val="1B2430"/>
                </a:solidFill>
                <a:latin typeface="Calibri"/>
              </a:rPr>
              <a:t>UNet hay DINOv2 tốt hơn?</a:t>
            </a:r>
          </a:p>
          <a:p>
            <a:pPr algn="l">
              <a:spcBef>
                <a:spcPts val="0"/>
              </a:spcBef>
              <a:spcAft>
                <a:spcPts val="1100"/>
              </a:spcAft>
            </a:pPr>
            <a:r>
              <a:rPr sz="1450" b="0" i="0">
                <a:solidFill>
                  <a:srgbClr val="4A5565"/>
                </a:solidFill>
                <a:latin typeface="Calibri"/>
              </a:rPr>
              <a:t>Chưa trả lời được: họ UNet chưa huấn luyện xong (Khánh, dự kiến 24/10 tối). Chúng tôi không đoán trước kết quả.</a:t>
            </a:r>
          </a:p>
          <a:p>
            <a:pPr algn="l">
              <a:spcBef>
                <a:spcPts val="0"/>
              </a:spcBef>
              <a:spcAft>
                <a:spcPts val="300"/>
              </a:spcAft>
            </a:pPr>
            <a:r>
              <a:rPr sz="1550" b="1" i="0">
                <a:solidFill>
                  <a:srgbClr val="1B2430"/>
                </a:solidFill>
                <a:latin typeface="Calibri"/>
              </a:rPr>
              <a:t>Sao Dice chỉ khoảng 0,56–0,66?</a:t>
            </a:r>
          </a:p>
          <a:p>
            <a:pPr algn="l">
              <a:spcBef>
                <a:spcPts val="0"/>
              </a:spcBef>
              <a:spcAft>
                <a:spcPts val="1100"/>
              </a:spcAft>
            </a:pPr>
            <a:r>
              <a:rPr sz="1450" b="0" i="0">
                <a:solidFill>
                  <a:srgbClr val="4A5565"/>
                </a:solidFill>
                <a:latin typeface="Calibri"/>
              </a:rPr>
              <a:t>Không augmentation, lr hằng số, huấn luyện 2D, một seed; kết quả khiêm tốn vẫn hợp lệ (PR-SCI-03) và được đo trung thực trên holdout khoá.</a:t>
            </a:r>
          </a:p>
          <a:p>
            <a:pPr algn="l">
              <a:spcBef>
                <a:spcPts val="0"/>
              </a:spcBef>
              <a:spcAft>
                <a:spcPts val="300"/>
              </a:spcAft>
            </a:pPr>
            <a:r>
              <a:rPr sz="1550" b="1" i="0">
                <a:solidFill>
                  <a:srgbClr val="1B2430"/>
                </a:solidFill>
                <a:latin typeface="Calibri"/>
              </a:rPr>
              <a:t>Nhiều dữ liệu hơn có chắc tốt hơn?</a:t>
            </a:r>
          </a:p>
          <a:p>
            <a:pPr algn="l">
              <a:spcBef>
                <a:spcPts val="0"/>
              </a:spcBef>
              <a:spcAft>
                <a:spcPts val="1100"/>
              </a:spcAft>
            </a:pPr>
            <a:r>
              <a:rPr sz="1450" b="0" i="0">
                <a:solidFill>
                  <a:srgbClr val="4A5565"/>
                </a:solidFill>
                <a:latin typeface="Calibri"/>
              </a:rPr>
              <a:t>20 → 78 case: +0,081 [+0,047; +0,118]; bước 50 % → 100 % có CI chạm 0, chưa khẳng định được. Mỗi mức một seed.</a:t>
            </a:r>
          </a:p>
        </p:txBody>
      </p:sp>
      <p:sp>
        <p:nvSpPr>
          <p:cNvPr id="5" name="card"/>
          <p:cNvSpPr/>
          <p:nvPr/>
        </p:nvSpPr>
        <p:spPr>
          <a:xfrm>
            <a:off x="6233007" y="1600200"/>
            <a:ext cx="5410047" cy="4389120"/>
          </a:xfrm>
          <a:prstGeom prst="roundRect">
            <a:avLst>
              <a:gd name="adj" fmla="val 6000"/>
            </a:avLst>
          </a:prstGeom>
          <a:solidFill>
            <a:srgbClr val="FFFFFF"/>
          </a:solidFill>
          <a:ln w="12700">
            <a:solidFill>
              <a:srgbClr val="D9DEE6"/>
            </a:solidFill>
          </a:ln>
        </p:spPr>
        <p:txBody>
          <a:bodyPr rtlCol="0" anchor="t" wrap="square" lIns="201168" rIns="201168" tIns="160934" bIns="160934">
            <a:noAutofit/>
          </a:bodyPr>
          <a:lstStyle/>
          <a:p>
            <a:pPr algn="l">
              <a:spcBef>
                <a:spcPts val="0"/>
              </a:spcBef>
              <a:spcAft>
                <a:spcPts val="800"/>
              </a:spcAft>
            </a:pPr>
            <a:r>
              <a:rPr sz="1800" b="1" i="0">
                <a:solidFill>
                  <a:srgbClr val="184F95"/>
                </a:solidFill>
                <a:latin typeface="Calibri"/>
              </a:rPr>
              <a:t>Xử lý ảnh</a:t>
            </a:r>
          </a:p>
          <a:p>
            <a:pPr algn="l">
              <a:spcBef>
                <a:spcPts val="0"/>
              </a:spcBef>
              <a:spcAft>
                <a:spcPts val="300"/>
              </a:spcAft>
            </a:pPr>
            <a:r>
              <a:rPr sz="1550" b="1" i="0">
                <a:solidFill>
                  <a:srgbClr val="1B2430"/>
                </a:solidFill>
                <a:latin typeface="Calibri"/>
              </a:rPr>
              <a:t>Hậu xử lý có tune trên test không?</a:t>
            </a:r>
          </a:p>
          <a:p>
            <a:pPr algn="l">
              <a:spcBef>
                <a:spcPts val="0"/>
              </a:spcBef>
              <a:spcAft>
                <a:spcPts val="1100"/>
              </a:spcAft>
            </a:pPr>
            <a:r>
              <a:rPr sz="1450" b="0" i="0">
                <a:solidFill>
                  <a:srgbClr val="4A5565"/>
                </a:solidFill>
                <a:latin typeface="Calibri"/>
              </a:rPr>
              <a:t>Không. PP-4 chọn trên validation từ danh sách khai báo trước; holdout chỉ xác nhận: +0,020 [+0,015; +0,026], 45/54 case tốt hơn.</a:t>
            </a:r>
          </a:p>
          <a:p>
            <a:pPr algn="l">
              <a:spcBef>
                <a:spcPts val="0"/>
              </a:spcBef>
              <a:spcAft>
                <a:spcPts val="300"/>
              </a:spcAft>
            </a:pPr>
            <a:r>
              <a:rPr sz="1550" b="1" i="0">
                <a:solidFill>
                  <a:srgbClr val="1B2430"/>
                </a:solidFill>
                <a:latin typeface="Calibri"/>
              </a:rPr>
              <a:t>Chuẩn hoá và resize thế nào?</a:t>
            </a:r>
          </a:p>
          <a:p>
            <a:pPr algn="l">
              <a:spcBef>
                <a:spcPts val="0"/>
              </a:spcBef>
              <a:spcAft>
                <a:spcPts val="1100"/>
              </a:spcAft>
            </a:pPr>
            <a:r>
              <a:rPr sz="1450" b="0" i="0">
                <a:solidFill>
                  <a:srgbClr val="4A5565"/>
                </a:solidFill>
                <a:latin typeface="Calibri"/>
              </a:rPr>
              <a:t>Cắt theo phân vị 0,5–99,5 của từng volume rồi đưa về [0, 1], không dùng thống kê cohort (DR-011); ảnh bilinear, mask nearest-exact để giữ nhãn.</a:t>
            </a:r>
          </a:p>
          <a:p>
            <a:pPr algn="l">
              <a:spcBef>
                <a:spcPts val="0"/>
              </a:spcBef>
              <a:spcAft>
                <a:spcPts val="300"/>
              </a:spcAft>
            </a:pPr>
            <a:r>
              <a:rPr sz="1550" b="1" i="0">
                <a:solidFill>
                  <a:srgbClr val="1B2430"/>
                </a:solidFill>
                <a:latin typeface="Calibri"/>
              </a:rPr>
              <a:t>Sao dùng mesh L0, không giảm tam giác?</a:t>
            </a:r>
          </a:p>
          <a:p>
            <a:pPr algn="l">
              <a:spcBef>
                <a:spcPts val="0"/>
              </a:spcBef>
              <a:spcAft>
                <a:spcPts val="1100"/>
              </a:spcAft>
            </a:pPr>
            <a:r>
              <a:rPr sz="1450" b="0" i="0">
                <a:solidFill>
                  <a:srgbClr val="4A5565"/>
                </a:solidFill>
                <a:latin typeface="Calibri"/>
              </a:rPr>
              <a:t>Chỉ L0 giữ chọn lát trong ±1; các mức giảm tam giác sai tới 29–40 lát và trượt B6 trên thiết bị (Spike B).</a:t>
            </a:r>
          </a:p>
        </p:txBody>
      </p:sp>
      <p:sp>
        <p:nvSpPr>
          <p:cNvPr id="6" name="source"/>
          <p:cNvSpPr txBox="1"/>
          <p:nvPr/>
        </p:nvSpPr>
        <p:spPr>
          <a:xfrm>
            <a:off x="548640" y="6108192"/>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Câu trả lời lấy số từ results_aggregate.json và deck_facts.json; cập nhật khi chạy lại bộ dựng.</a:t>
            </a:r>
          </a:p>
        </p:txBody>
      </p:sp>
      <p:sp>
        <p:nvSpPr>
          <p:cNvPr id="7"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8"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itle"/>
          <p:cNvSpPr>
            <a:spLocks noGrp="1"/>
          </p:cNvSpPr>
          <p:nvPr>
            <p:ph type="title"/>
          </p:nvPr>
        </p:nvSpPr>
        <p:spPr>
          <a:xfrm>
            <a:off x="548640" y="566928"/>
            <a:ext cx="11094415" cy="960120"/>
          </a:xfrm>
        </p:spPr>
        <p:txBody>
          <a:bodyPr wrap="square" lIns="0" rIns="0" tIns="0" bIns="0" anchor="t">
            <a:noAutofit/>
          </a:bodyPr>
          <a:lstStyle/>
          <a:p>
            <a:pPr algn="l">
              <a:lnSpc>
                <a:spcPct val="95000"/>
              </a:lnSpc>
              <a:spcBef>
                <a:spcPts val="0"/>
              </a:spcBef>
              <a:spcAft>
                <a:spcPts val="0"/>
              </a:spcAft>
            </a:pPr>
            <a:r>
              <a:rPr sz="3000" b="1" i="0">
                <a:solidFill>
                  <a:srgbClr val="1B2430"/>
                </a:solidFill>
                <a:latin typeface="Calibri"/>
              </a:rPr>
              <a:t>Chuẩn bị Q&amp;A (2/2): Khoa học dữ liệu và Di động</a:t>
            </a:r>
          </a:p>
        </p:txBody>
      </p:sp>
      <p:sp>
        <p:nvSpPr>
          <p:cNvPr id="3" name="kicker"/>
          <p:cNvSpPr txBox="1"/>
          <p:nvPr/>
        </p:nvSpPr>
        <p:spPr>
          <a:xfrm>
            <a:off x="548640" y="274320"/>
            <a:ext cx="11094415" cy="274320"/>
          </a:xfrm>
          <a:prstGeom prst="rect">
            <a:avLst/>
          </a:prstGeom>
          <a:noFill/>
        </p:spPr>
        <p:txBody>
          <a:bodyPr wrap="square" lIns="0" rIns="0" tIns="0" bIns="0" anchor="t">
            <a:noAutofit/>
          </a:bodyPr>
          <a:lstStyle/>
          <a:p>
            <a:pPr algn="l">
              <a:spcBef>
                <a:spcPts val="0"/>
              </a:spcBef>
              <a:spcAft>
                <a:spcPts val="600"/>
              </a:spcAft>
            </a:pPr>
            <a:r>
              <a:rPr sz="1200" b="1" i="0">
                <a:solidFill>
                  <a:srgbClr val="184F95"/>
                </a:solidFill>
                <a:latin typeface="Calibri"/>
              </a:rPr>
              <a:t>CHUẨN BỊ Q&amp;A</a:t>
            </a:r>
          </a:p>
        </p:txBody>
      </p:sp>
      <p:sp>
        <p:nvSpPr>
          <p:cNvPr id="4" name="card"/>
          <p:cNvSpPr/>
          <p:nvPr/>
        </p:nvSpPr>
        <p:spPr>
          <a:xfrm>
            <a:off x="548640" y="1600200"/>
            <a:ext cx="5410047" cy="4389120"/>
          </a:xfrm>
          <a:prstGeom prst="roundRect">
            <a:avLst>
              <a:gd name="adj" fmla="val 6000"/>
            </a:avLst>
          </a:prstGeom>
          <a:solidFill>
            <a:srgbClr val="FFFFFF"/>
          </a:solidFill>
          <a:ln w="12700">
            <a:solidFill>
              <a:srgbClr val="D9DEE6"/>
            </a:solidFill>
          </a:ln>
        </p:spPr>
        <p:txBody>
          <a:bodyPr rtlCol="0" anchor="t" wrap="square" lIns="201168" rIns="201168" tIns="160934" bIns="160934">
            <a:noAutofit/>
          </a:bodyPr>
          <a:lstStyle/>
          <a:p>
            <a:pPr algn="l">
              <a:spcBef>
                <a:spcPts val="0"/>
              </a:spcBef>
              <a:spcAft>
                <a:spcPts val="800"/>
              </a:spcAft>
            </a:pPr>
            <a:r>
              <a:rPr sz="1800" b="1" i="0">
                <a:solidFill>
                  <a:srgbClr val="184F95"/>
                </a:solidFill>
                <a:latin typeface="Calibri"/>
              </a:rPr>
              <a:t>Khoa học dữ liệu</a:t>
            </a:r>
          </a:p>
          <a:p>
            <a:pPr algn="l">
              <a:spcBef>
                <a:spcPts val="0"/>
              </a:spcBef>
              <a:spcAft>
                <a:spcPts val="300"/>
              </a:spcAft>
            </a:pPr>
            <a:r>
              <a:rPr sz="1550" b="1" i="0">
                <a:solidFill>
                  <a:srgbClr val="1B2430"/>
                </a:solidFill>
                <a:latin typeface="Calibri"/>
              </a:rPr>
              <a:t>Số trung bình có che ngoại lệ không?</a:t>
            </a:r>
          </a:p>
          <a:p>
            <a:pPr algn="l">
              <a:spcBef>
                <a:spcPts val="0"/>
              </a:spcBef>
              <a:spcAft>
                <a:spcPts val="1100"/>
              </a:spcAft>
            </a:pPr>
            <a:r>
              <a:rPr sz="1450" b="0" i="0">
                <a:solidFill>
                  <a:srgbClr val="4A5565"/>
                </a:solidFill>
                <a:latin typeface="Calibri"/>
              </a:rPr>
              <a:t>Có thể, nên chúng tôi báo thêm trung vị, Q1–Q3 và SD. Ngoại lệ theo luật DR-010 (ba case Dice thấp nhất) mở thẳng trong app; không công bố giá trị theo case.</a:t>
            </a:r>
          </a:p>
          <a:p>
            <a:pPr algn="l">
              <a:spcBef>
                <a:spcPts val="0"/>
              </a:spcBef>
              <a:spcAft>
                <a:spcPts val="300"/>
              </a:spcAft>
            </a:pPr>
            <a:r>
              <a:rPr sz="1550" b="1" i="0">
                <a:solidFill>
                  <a:srgbClr val="1B2430"/>
                </a:solidFill>
                <a:latin typeface="Calibri"/>
              </a:rPr>
              <a:t>Kết quả có nhạy với một case nghi trùng bệnh nhân?</a:t>
            </a:r>
          </a:p>
          <a:p>
            <a:pPr algn="l">
              <a:spcBef>
                <a:spcPts val="0"/>
              </a:spcBef>
              <a:spcAft>
                <a:spcPts val="1100"/>
              </a:spcAft>
            </a:pPr>
            <a:r>
              <a:rPr sz="1450" b="0" i="0">
                <a:solidFill>
                  <a:srgbClr val="4A5565"/>
                </a:solidFill>
                <a:latin typeface="Calibri"/>
              </a:rPr>
              <a:t>Không đáng kể: bỏ case đó (n = 53) Dice TB đổi tối đa 0,0036 và kết luận giữ nguyên.</a:t>
            </a:r>
          </a:p>
          <a:p>
            <a:pPr algn="l">
              <a:spcBef>
                <a:spcPts val="0"/>
              </a:spcBef>
              <a:spcAft>
                <a:spcPts val="300"/>
              </a:spcAft>
            </a:pPr>
            <a:r>
              <a:rPr sz="1550" b="1" i="0">
                <a:solidFill>
                  <a:srgbClr val="1B2430"/>
                </a:solidFill>
                <a:latin typeface="Calibri"/>
              </a:rPr>
              <a:t>CI tính thế nào, có hiệu chỉnh đa so sánh?</a:t>
            </a:r>
          </a:p>
          <a:p>
            <a:pPr algn="l">
              <a:spcBef>
                <a:spcPts val="0"/>
              </a:spcBef>
              <a:spcAft>
                <a:spcPts val="1100"/>
              </a:spcAft>
            </a:pPr>
            <a:r>
              <a:rPr sz="1450" b="0" i="0">
                <a:solidFill>
                  <a:srgbClr val="4A5565"/>
                </a:solidFill>
                <a:latin typeface="Calibri"/>
              </a:rPr>
              <a:t>Bootstrap phân vị của trung bình theo case, 10 000 lần, seed 2024. Không hiệu chỉnh đa so sánh, và chúng tôi nói rõ điều đó.</a:t>
            </a:r>
          </a:p>
        </p:txBody>
      </p:sp>
      <p:sp>
        <p:nvSpPr>
          <p:cNvPr id="5" name="card"/>
          <p:cNvSpPr/>
          <p:nvPr/>
        </p:nvSpPr>
        <p:spPr>
          <a:xfrm>
            <a:off x="6233007" y="1600200"/>
            <a:ext cx="5410047" cy="4389120"/>
          </a:xfrm>
          <a:prstGeom prst="roundRect">
            <a:avLst>
              <a:gd name="adj" fmla="val 6000"/>
            </a:avLst>
          </a:prstGeom>
          <a:solidFill>
            <a:srgbClr val="FFFFFF"/>
          </a:solidFill>
          <a:ln w="12700">
            <a:solidFill>
              <a:srgbClr val="D9DEE6"/>
            </a:solidFill>
          </a:ln>
        </p:spPr>
        <p:txBody>
          <a:bodyPr rtlCol="0" anchor="t" wrap="square" lIns="201168" rIns="201168" tIns="160934" bIns="160934">
            <a:noAutofit/>
          </a:bodyPr>
          <a:lstStyle/>
          <a:p>
            <a:pPr algn="l">
              <a:spcBef>
                <a:spcPts val="0"/>
              </a:spcBef>
              <a:spcAft>
                <a:spcPts val="800"/>
              </a:spcAft>
            </a:pPr>
            <a:r>
              <a:rPr sz="1800" b="1" i="0">
                <a:solidFill>
                  <a:srgbClr val="184F95"/>
                </a:solidFill>
                <a:latin typeface="Calibri"/>
              </a:rPr>
              <a:t>Phát triển di động</a:t>
            </a:r>
          </a:p>
          <a:p>
            <a:pPr algn="l">
              <a:spcBef>
                <a:spcPts val="0"/>
              </a:spcBef>
              <a:spcAft>
                <a:spcPts val="300"/>
              </a:spcAft>
            </a:pPr>
            <a:r>
              <a:rPr sz="1550" b="1" i="0">
                <a:solidFill>
                  <a:srgbClr val="1B2430"/>
                </a:solidFill>
                <a:latin typeface="Calibri"/>
              </a:rPr>
              <a:t>Sao React Native và WebView, không native?</a:t>
            </a:r>
          </a:p>
          <a:p>
            <a:pPr algn="l">
              <a:spcBef>
                <a:spcPts val="0"/>
              </a:spcBef>
              <a:spcAft>
                <a:spcPts val="1100"/>
              </a:spcAft>
            </a:pPr>
            <a:r>
              <a:rPr sz="1450" b="0" i="0">
                <a:solidFill>
                  <a:srgbClr val="4A5565"/>
                </a:solidFill>
                <a:latin typeface="Calibri"/>
              </a:rPr>
              <a:t>Chọn theo bằng chứng spike trên A17; Kotlin và PWA bị loại vì chưa có bằng chứng. 3D là mô-đun có điều kiện (59,88 FPS trung vị ở L0).</a:t>
            </a:r>
          </a:p>
          <a:p>
            <a:pPr algn="l">
              <a:spcBef>
                <a:spcPts val="0"/>
              </a:spcBef>
              <a:spcAft>
                <a:spcPts val="300"/>
              </a:spcAft>
            </a:pPr>
            <a:r>
              <a:rPr sz="1550" b="1" i="0">
                <a:solidFill>
                  <a:srgbClr val="1B2430"/>
                </a:solidFill>
                <a:latin typeface="Calibri"/>
              </a:rPr>
              <a:t>Hiệu năng chuyển lát?</a:t>
            </a:r>
          </a:p>
          <a:p>
            <a:pPr algn="l">
              <a:spcBef>
                <a:spcPts val="0"/>
              </a:spcBef>
              <a:spcAft>
                <a:spcPts val="1100"/>
              </a:spcAft>
            </a:pPr>
            <a:r>
              <a:rPr sz="1450" b="0" i="0">
                <a:solidFill>
                  <a:srgbClr val="4A5565"/>
                </a:solidFill>
                <a:latin typeface="Calibri"/>
              </a:rPr>
              <a:t>p95 98,72 ms (ngưỡng 200 ms); lát mới ≤ 155,1 KB, quay lại 0 byte (L4).</a:t>
            </a:r>
          </a:p>
          <a:p>
            <a:pPr algn="l">
              <a:spcBef>
                <a:spcPts val="0"/>
              </a:spcBef>
              <a:spcAft>
                <a:spcPts val="300"/>
              </a:spcAft>
            </a:pPr>
            <a:r>
              <a:rPr sz="1550" b="1" i="0">
                <a:solidFill>
                  <a:srgbClr val="1B2430"/>
                </a:solidFill>
                <a:latin typeface="Calibri"/>
              </a:rPr>
              <a:t>Brush có đúng pixel sau zoom? Quyền riêng tư?</a:t>
            </a:r>
          </a:p>
          <a:p>
            <a:pPr algn="l">
              <a:spcBef>
                <a:spcPts val="0"/>
              </a:spcBef>
              <a:spcAft>
                <a:spcPts val="1100"/>
              </a:spcAft>
            </a:pPr>
            <a:r>
              <a:rPr sz="1450" b="0" i="0">
                <a:solidFill>
                  <a:srgbClr val="4A5565"/>
                </a:solidFill>
                <a:latin typeface="Calibri"/>
              </a:rPr>
              <a:t>Spike A: 60/60 ca, lệch 0 pixel nguồn (fixture nhỏ, giới hạn L5). Case ẩn danh, kho công khai chỉ có số tổng hợp, CI quét IPv4 và byte cấm.</a:t>
            </a:r>
          </a:p>
        </p:txBody>
      </p:sp>
      <p:sp>
        <p:nvSpPr>
          <p:cNvPr id="6" name="source"/>
          <p:cNvSpPr txBox="1"/>
          <p:nvPr/>
        </p:nvSpPr>
        <p:spPr>
          <a:xfrm>
            <a:off x="548640" y="6108192"/>
            <a:ext cx="11094415" cy="256032"/>
          </a:xfrm>
          <a:prstGeom prst="rect">
            <a:avLst/>
          </a:prstGeom>
          <a:noFill/>
        </p:spPr>
        <p:txBody>
          <a:bodyPr wrap="square" lIns="0" rIns="0" tIns="0" bIns="0" anchor="t">
            <a:noAutofit/>
          </a:bodyPr>
          <a:lstStyle/>
          <a:p>
            <a:pPr algn="l">
              <a:spcBef>
                <a:spcPts val="0"/>
              </a:spcBef>
              <a:spcAft>
                <a:spcPts val="600"/>
              </a:spcAft>
            </a:pPr>
            <a:r>
              <a:rPr sz="1050" b="0" i="0">
                <a:solidFill>
                  <a:srgbClr val="6B7482"/>
                </a:solidFill>
                <a:latin typeface="Calibri"/>
              </a:rPr>
              <a:t>Câu trả lời lấy số từ results_aggregate.json và deck_facts.json; cập nhật khi chạy lại bộ dựng.</a:t>
            </a:r>
          </a:p>
        </p:txBody>
      </p:sp>
      <p:sp>
        <p:nvSpPr>
          <p:cNvPr id="7" name="footer"/>
          <p:cNvSpPr txBox="1"/>
          <p:nvPr/>
        </p:nvSpPr>
        <p:spPr>
          <a:xfrm>
            <a:off x="548640" y="6455664"/>
            <a:ext cx="8686800" cy="237744"/>
          </a:xfrm>
          <a:prstGeom prst="rect">
            <a:avLst/>
          </a:prstGeom>
          <a:noFill/>
        </p:spPr>
        <p:txBody>
          <a:bodyPr wrap="square" lIns="0" rIns="0" tIns="0" bIns="0" anchor="t">
            <a:noAutofit/>
          </a:bodyPr>
          <a:lstStyle/>
          <a:p>
            <a:pPr algn="l">
              <a:spcBef>
                <a:spcPts val="0"/>
              </a:spcBef>
              <a:spcAft>
                <a:spcPts val="600"/>
              </a:spcAft>
            </a:pPr>
            <a:r>
              <a:rPr sz="1000" b="0" i="0">
                <a:solidFill>
                  <a:srgbClr val="6B7482"/>
                </a:solidFill>
                <a:latin typeface="Calibri"/>
              </a:rPr>
              <a:t>Cardiac MRI Workspace · bản nháp tự sinh · dữ liệu bf8f7892</a:t>
            </a:r>
          </a:p>
        </p:txBody>
      </p:sp>
      <p:sp>
        <p:nvSpPr>
          <p:cNvPr id="8" name="slide-number"/>
          <p:cNvSpPr txBox="1"/>
          <p:nvPr/>
        </p:nvSpPr>
        <p:spPr>
          <a:xfrm>
            <a:off x="10271455" y="6455664"/>
            <a:ext cx="1371600" cy="237744"/>
          </a:xfrm>
          <a:prstGeom prst="rect">
            <a:avLst/>
          </a:prstGeom>
          <a:noFill/>
        </p:spPr>
        <p:txBody>
          <a:bodyPr wrap="square" lIns="0" rIns="0" tIns="0" bIns="0" anchor="t">
            <a:noAutofit/>
          </a:bodyPr>
          <a:lstStyle/>
          <a:p>
            <a:pPr algn="r">
              <a:spcBef>
                <a:spcPts val="0"/>
              </a:spcBef>
              <a:spcAft>
                <a:spcPts val="600"/>
              </a:spcAft>
            </a:pPr>
            <a:r>
              <a:rPr sz="1000" b="0" i="0">
                <a:solidFill>
                  <a:srgbClr val="6B7482"/>
                </a:solidFill>
                <a:latin typeface="Calibri"/>
              </a:rPr>
              <a:t>24 / 24</a:t>
            </a:r>
          </a:p>
        </p:txBody>
      </p:sp>
    </p:spTree>
  </p:cSld>
  <p:clrMapOvr>
    <a:masterClrMapping/>
  </p:clrMapOvr>
</p:sld>
</file>

<file path=ppt/theme/theme1.xml><?xml version="1.0" encoding="utf-8"?>
<a:theme xmlns:a="http://schemas.openxmlformats.org/drawingml/2006/main" name="Office Theme">
  <a:themeElements>
    <a:clrScheme name="Cardiac MRI Draft">
      <a:dk1>
        <a:srgbClr val="1B2430"/>
      </a:dk1>
      <a:lt1>
        <a:srgbClr val="FFFFFF"/>
      </a:lt1>
      <a:dk2>
        <a:srgbClr val="0D366B"/>
      </a:dk2>
      <a:lt2>
        <a:srgbClr val="F2F5F9"/>
      </a:lt2>
      <a:accent1>
        <a:srgbClr val="184F95"/>
      </a:accent1>
      <a:accent2>
        <a:srgbClr val="2A78D6"/>
      </a:accent2>
      <a:accent3>
        <a:srgbClr val="eb6834"/>
      </a:accent3>
      <a:accent4>
        <a:srgbClr val="1baf7a"/>
      </a:accent4>
      <a:accent5>
        <a:srgbClr val="4A5565"/>
      </a:accent5>
      <a:accent6>
        <a:srgbClr val="6B7482"/>
      </a:accent6>
      <a:hlink>
        <a:srgbClr val="2A78D6"/>
      </a:hlink>
      <a:folHlink>
        <a:srgbClr val="4A5565"/>
      </a:folHlink>
    </a:clrScheme>
    <a:fontScheme name="Calibri">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Cardiac MRI Workspace — bản nháp bộ slide nghiệm thu</dc:title>
  <dc:subject>Bản nháp tự sinh từ results_aggregate.json</dc:subject>
  <dc:creator>Nhóm Cardiac MRI Workspace</dc:creator>
  <cp:keywords>cardiac MRI, DINOv2, UNet, mobile</cp:keywords>
  <dc:description>generated using python-pptx</dc:description>
  <cp:lastModifiedBy>tools/report/build_deck.py</cp:lastModifiedBy>
  <cp:revision>1</cp:revision>
  <dcterms:created xsi:type="dcterms:W3CDTF">2026-10-18T05:59:14Z</dcterms:created>
  <dcterms:modified xsi:type="dcterms:W3CDTF">2026-10-18T05:59:14Z</dcterms:modified>
  <cp:category/>
</cp:coreProperties>
</file>